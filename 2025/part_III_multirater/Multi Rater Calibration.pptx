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72" r:id="rId3"/>
    <p:sldId id="303" r:id="rId4"/>
    <p:sldId id="274" r:id="rId5"/>
    <p:sldId id="280" r:id="rId6"/>
    <p:sldId id="281" r:id="rId7"/>
    <p:sldId id="295" r:id="rId8"/>
    <p:sldId id="275" r:id="rId9"/>
    <p:sldId id="297" r:id="rId10"/>
    <p:sldId id="305" r:id="rId11"/>
    <p:sldId id="273" r:id="rId12"/>
    <p:sldId id="265" r:id="rId13"/>
    <p:sldId id="258" r:id="rId14"/>
    <p:sldId id="278" r:id="rId15"/>
    <p:sldId id="267" r:id="rId16"/>
    <p:sldId id="283" r:id="rId17"/>
    <p:sldId id="284" r:id="rId18"/>
    <p:sldId id="285" r:id="rId19"/>
    <p:sldId id="266" r:id="rId20"/>
    <p:sldId id="286" r:id="rId21"/>
    <p:sldId id="306" r:id="rId22"/>
    <p:sldId id="279" r:id="rId23"/>
    <p:sldId id="307" r:id="rId24"/>
    <p:sldId id="287" r:id="rId25"/>
    <p:sldId id="308" r:id="rId26"/>
    <p:sldId id="270" r:id="rId27"/>
    <p:sldId id="300" r:id="rId28"/>
    <p:sldId id="309" r:id="rId29"/>
    <p:sldId id="301" r:id="rId30"/>
    <p:sldId id="294" r:id="rId31"/>
    <p:sldId id="302" r:id="rId3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71242" autoAdjust="0"/>
  </p:normalViewPr>
  <p:slideViewPr>
    <p:cSldViewPr snapToGrid="0">
      <p:cViewPr varScale="1">
        <p:scale>
          <a:sx n="58" d="100"/>
          <a:sy n="58" d="100"/>
        </p:scale>
        <p:origin x="16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D1D15C-7C86-4580-BE55-F34C97793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1BCD4A-6979-4229-94BE-4B6B4992D354}">
      <dgm:prSet/>
      <dgm:spPr/>
      <dgm:t>
        <a:bodyPr/>
        <a:lstStyle/>
        <a:p>
          <a:r>
            <a:rPr lang="ca-ES"/>
            <a:t>Motivation</a:t>
          </a:r>
          <a:endParaRPr lang="en-US"/>
        </a:p>
      </dgm:t>
    </dgm:pt>
    <dgm:pt modelId="{56B993F5-BBDA-491D-A7F6-7D72E5D0E6F4}" type="parTrans" cxnId="{DD9FCE2B-88AA-405A-A8ED-53EAA605B08F}">
      <dgm:prSet/>
      <dgm:spPr/>
      <dgm:t>
        <a:bodyPr/>
        <a:lstStyle/>
        <a:p>
          <a:endParaRPr lang="en-US"/>
        </a:p>
      </dgm:t>
    </dgm:pt>
    <dgm:pt modelId="{539C0DCE-ED64-4D83-B3AF-B166DEDCA224}" type="sibTrans" cxnId="{DD9FCE2B-88AA-405A-A8ED-53EAA605B08F}">
      <dgm:prSet/>
      <dgm:spPr/>
      <dgm:t>
        <a:bodyPr/>
        <a:lstStyle/>
        <a:p>
          <a:endParaRPr lang="en-US"/>
        </a:p>
      </dgm:t>
    </dgm:pt>
    <dgm:pt modelId="{18DABCDA-1BDF-4CDF-8B12-073AE47FBCC6}">
      <dgm:prSet/>
      <dgm:spPr/>
      <dgm:t>
        <a:bodyPr/>
        <a:lstStyle/>
        <a:p>
          <a:r>
            <a:rPr lang="ca-ES"/>
            <a:t>Label fusion techniques</a:t>
          </a:r>
          <a:endParaRPr lang="en-US"/>
        </a:p>
      </dgm:t>
    </dgm:pt>
    <dgm:pt modelId="{9FBD3C46-2D8A-44CB-AF87-4ACFF4247902}" type="parTrans" cxnId="{E943D15A-9DD0-44BF-82D3-B048A007292F}">
      <dgm:prSet/>
      <dgm:spPr/>
      <dgm:t>
        <a:bodyPr/>
        <a:lstStyle/>
        <a:p>
          <a:endParaRPr lang="en-US"/>
        </a:p>
      </dgm:t>
    </dgm:pt>
    <dgm:pt modelId="{74D4D251-75A7-49C1-B824-0E8BE89F5687}" type="sibTrans" cxnId="{E943D15A-9DD0-44BF-82D3-B048A007292F}">
      <dgm:prSet/>
      <dgm:spPr/>
      <dgm:t>
        <a:bodyPr/>
        <a:lstStyle/>
        <a:p>
          <a:endParaRPr lang="en-US"/>
        </a:p>
      </dgm:t>
    </dgm:pt>
    <dgm:pt modelId="{09B64724-6A59-479B-851F-7E52B99ED0A3}">
      <dgm:prSet/>
      <dgm:spPr/>
      <dgm:t>
        <a:bodyPr/>
        <a:lstStyle/>
        <a:p>
          <a:r>
            <a:rPr lang="ca-ES" dirty="0"/>
            <a:t>Method wrt Disagreement</a:t>
          </a:r>
          <a:endParaRPr lang="en-US" dirty="0"/>
        </a:p>
      </dgm:t>
    </dgm:pt>
    <dgm:pt modelId="{C5983C37-ADF9-4E8B-AB52-06854D6F083B}" type="parTrans" cxnId="{FC0F5297-2106-43A3-B80D-E36820598AA4}">
      <dgm:prSet/>
      <dgm:spPr/>
      <dgm:t>
        <a:bodyPr/>
        <a:lstStyle/>
        <a:p>
          <a:endParaRPr lang="en-US"/>
        </a:p>
      </dgm:t>
    </dgm:pt>
    <dgm:pt modelId="{7F92F5D2-8DCD-43D2-9399-D7E956C14EF4}" type="sibTrans" cxnId="{FC0F5297-2106-43A3-B80D-E36820598AA4}">
      <dgm:prSet/>
      <dgm:spPr/>
      <dgm:t>
        <a:bodyPr/>
        <a:lstStyle/>
        <a:p>
          <a:endParaRPr lang="en-US"/>
        </a:p>
      </dgm:t>
    </dgm:pt>
    <dgm:pt modelId="{69D7E378-B811-4868-A366-91218D0A75D1}">
      <dgm:prSet/>
      <dgm:spPr/>
      <dgm:t>
        <a:bodyPr/>
        <a:lstStyle/>
        <a:p>
          <a:r>
            <a:rPr lang="ca-ES" dirty="0"/>
            <a:t>Soft vs Hard on Training/Validation</a:t>
          </a:r>
          <a:endParaRPr lang="en-US" dirty="0"/>
        </a:p>
      </dgm:t>
    </dgm:pt>
    <dgm:pt modelId="{39F07D6E-4939-4917-81AB-B0F62723ADB8}" type="parTrans" cxnId="{8197D698-8C56-4E6D-9C72-AD392BD7EF16}">
      <dgm:prSet/>
      <dgm:spPr/>
      <dgm:t>
        <a:bodyPr/>
        <a:lstStyle/>
        <a:p>
          <a:endParaRPr lang="en-US"/>
        </a:p>
      </dgm:t>
    </dgm:pt>
    <dgm:pt modelId="{C5DB7FFA-DA48-4021-9EC9-37DAEEA2172C}" type="sibTrans" cxnId="{8197D698-8C56-4E6D-9C72-AD392BD7EF16}">
      <dgm:prSet/>
      <dgm:spPr/>
      <dgm:t>
        <a:bodyPr/>
        <a:lstStyle/>
        <a:p>
          <a:endParaRPr lang="en-US"/>
        </a:p>
      </dgm:t>
    </dgm:pt>
    <dgm:pt modelId="{44B8CD07-6E14-4666-9E16-4F27CC2BCA63}">
      <dgm:prSet/>
      <dgm:spPr/>
      <dgm:t>
        <a:bodyPr/>
        <a:lstStyle/>
        <a:p>
          <a:r>
            <a:rPr lang="ca-ES"/>
            <a:t>Impact on Calibration</a:t>
          </a:r>
          <a:endParaRPr lang="en-US"/>
        </a:p>
      </dgm:t>
    </dgm:pt>
    <dgm:pt modelId="{9FF95AEA-BDFB-46AE-85D5-2FB13CC2C51A}" type="parTrans" cxnId="{5DF1B15A-3B5D-4B0B-8B10-93027AEBF98C}">
      <dgm:prSet/>
      <dgm:spPr/>
      <dgm:t>
        <a:bodyPr/>
        <a:lstStyle/>
        <a:p>
          <a:endParaRPr lang="en-US"/>
        </a:p>
      </dgm:t>
    </dgm:pt>
    <dgm:pt modelId="{3E43EDF1-41C3-4DDD-98C4-408205A58F9B}" type="sibTrans" cxnId="{5DF1B15A-3B5D-4B0B-8B10-93027AEBF98C}">
      <dgm:prSet/>
      <dgm:spPr/>
      <dgm:t>
        <a:bodyPr/>
        <a:lstStyle/>
        <a:p>
          <a:endParaRPr lang="en-US"/>
        </a:p>
      </dgm:t>
    </dgm:pt>
    <dgm:pt modelId="{31B7C95E-B11F-47D5-9A30-8CD7DE763605}">
      <dgm:prSet/>
      <dgm:spPr/>
      <dgm:t>
        <a:bodyPr/>
        <a:lstStyle/>
        <a:p>
          <a:r>
            <a:rPr lang="ca-ES" dirty="0"/>
            <a:t>Label Fusion Choice &amp; Takeaways</a:t>
          </a:r>
          <a:endParaRPr lang="en-US" dirty="0"/>
        </a:p>
      </dgm:t>
    </dgm:pt>
    <dgm:pt modelId="{372A03DB-F2E5-4B71-8182-87C63879A56B}" type="parTrans" cxnId="{D81E3564-242A-4791-8B77-C237311D5BB1}">
      <dgm:prSet/>
      <dgm:spPr/>
      <dgm:t>
        <a:bodyPr/>
        <a:lstStyle/>
        <a:p>
          <a:endParaRPr lang="es-ES"/>
        </a:p>
      </dgm:t>
    </dgm:pt>
    <dgm:pt modelId="{49D9151B-5AD5-4E37-A087-B887AE08C4B4}" type="sibTrans" cxnId="{D81E3564-242A-4791-8B77-C237311D5BB1}">
      <dgm:prSet/>
      <dgm:spPr/>
      <dgm:t>
        <a:bodyPr/>
        <a:lstStyle/>
        <a:p>
          <a:endParaRPr lang="es-ES"/>
        </a:p>
      </dgm:t>
    </dgm:pt>
    <dgm:pt modelId="{937DEBA7-EBC8-402F-B26A-DD1946D9BB48}" type="pres">
      <dgm:prSet presAssocID="{4BD1D15C-7C86-4580-BE55-F34C977933AE}" presName="linear" presStyleCnt="0">
        <dgm:presLayoutVars>
          <dgm:animLvl val="lvl"/>
          <dgm:resizeHandles val="exact"/>
        </dgm:presLayoutVars>
      </dgm:prSet>
      <dgm:spPr/>
    </dgm:pt>
    <dgm:pt modelId="{5FE1771A-A8B1-4E81-97F5-AD2DA7E344EE}" type="pres">
      <dgm:prSet presAssocID="{361BCD4A-6979-4229-94BE-4B6B4992D3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B9C6D0F-DFED-416E-99B2-E71ED5BB2898}" type="pres">
      <dgm:prSet presAssocID="{539C0DCE-ED64-4D83-B3AF-B166DEDCA224}" presName="spacer" presStyleCnt="0"/>
      <dgm:spPr/>
    </dgm:pt>
    <dgm:pt modelId="{FEB7A37C-CD4A-436B-A851-C563DCDB4B3E}" type="pres">
      <dgm:prSet presAssocID="{18DABCDA-1BDF-4CDF-8B12-073AE47FBC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6B78E1F-9D1F-4884-AA0C-6DF308649E4E}" type="pres">
      <dgm:prSet presAssocID="{74D4D251-75A7-49C1-B824-0E8BE89F5687}" presName="spacer" presStyleCnt="0"/>
      <dgm:spPr/>
    </dgm:pt>
    <dgm:pt modelId="{27A98A9A-3401-440A-8CC6-546DF0FA2CB4}" type="pres">
      <dgm:prSet presAssocID="{09B64724-6A59-479B-851F-7E52B99ED0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AC2AE5B-0CA0-44CC-9052-EDE7533663B9}" type="pres">
      <dgm:prSet presAssocID="{7F92F5D2-8DCD-43D2-9399-D7E956C14EF4}" presName="spacer" presStyleCnt="0"/>
      <dgm:spPr/>
    </dgm:pt>
    <dgm:pt modelId="{02FD74D9-5F4E-4431-88B8-3F6FEEAC005D}" type="pres">
      <dgm:prSet presAssocID="{69D7E378-B811-4868-A366-91218D0A75D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69B6736-421F-42AC-81B0-F26817581498}" type="pres">
      <dgm:prSet presAssocID="{C5DB7FFA-DA48-4021-9EC9-37DAEEA2172C}" presName="spacer" presStyleCnt="0"/>
      <dgm:spPr/>
    </dgm:pt>
    <dgm:pt modelId="{533D1F71-0B5D-4591-BC71-6DC872878E67}" type="pres">
      <dgm:prSet presAssocID="{44B8CD07-6E14-4666-9E16-4F27CC2BCA6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D8ED29-8783-4BFB-86BB-49CBBE17F5E8}" type="pres">
      <dgm:prSet presAssocID="{3E43EDF1-41C3-4DDD-98C4-408205A58F9B}" presName="spacer" presStyleCnt="0"/>
      <dgm:spPr/>
    </dgm:pt>
    <dgm:pt modelId="{308A0D4D-CDF5-460F-BD1C-4FD7F78A0699}" type="pres">
      <dgm:prSet presAssocID="{31B7C95E-B11F-47D5-9A30-8CD7DE7636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9FCE2B-88AA-405A-A8ED-53EAA605B08F}" srcId="{4BD1D15C-7C86-4580-BE55-F34C977933AE}" destId="{361BCD4A-6979-4229-94BE-4B6B4992D354}" srcOrd="0" destOrd="0" parTransId="{56B993F5-BBDA-491D-A7F6-7D72E5D0E6F4}" sibTransId="{539C0DCE-ED64-4D83-B3AF-B166DEDCA224}"/>
    <dgm:cxn modelId="{D81E3564-242A-4791-8B77-C237311D5BB1}" srcId="{4BD1D15C-7C86-4580-BE55-F34C977933AE}" destId="{31B7C95E-B11F-47D5-9A30-8CD7DE763605}" srcOrd="5" destOrd="0" parTransId="{372A03DB-F2E5-4B71-8182-87C63879A56B}" sibTransId="{49D9151B-5AD5-4E37-A087-B887AE08C4B4}"/>
    <dgm:cxn modelId="{5DF1B15A-3B5D-4B0B-8B10-93027AEBF98C}" srcId="{4BD1D15C-7C86-4580-BE55-F34C977933AE}" destId="{44B8CD07-6E14-4666-9E16-4F27CC2BCA63}" srcOrd="4" destOrd="0" parTransId="{9FF95AEA-BDFB-46AE-85D5-2FB13CC2C51A}" sibTransId="{3E43EDF1-41C3-4DDD-98C4-408205A58F9B}"/>
    <dgm:cxn modelId="{E943D15A-9DD0-44BF-82D3-B048A007292F}" srcId="{4BD1D15C-7C86-4580-BE55-F34C977933AE}" destId="{18DABCDA-1BDF-4CDF-8B12-073AE47FBCC6}" srcOrd="1" destOrd="0" parTransId="{9FBD3C46-2D8A-44CB-AF87-4ACFF4247902}" sibTransId="{74D4D251-75A7-49C1-B824-0E8BE89F5687}"/>
    <dgm:cxn modelId="{CFF23788-C490-4C13-90B2-BD7FEDDC5B93}" type="presOf" srcId="{361BCD4A-6979-4229-94BE-4B6B4992D354}" destId="{5FE1771A-A8B1-4E81-97F5-AD2DA7E344EE}" srcOrd="0" destOrd="0" presId="urn:microsoft.com/office/officeart/2005/8/layout/vList2"/>
    <dgm:cxn modelId="{39634E8B-E88B-4AC0-B4E5-12E39DF15BF8}" type="presOf" srcId="{4BD1D15C-7C86-4580-BE55-F34C977933AE}" destId="{937DEBA7-EBC8-402F-B26A-DD1946D9BB48}" srcOrd="0" destOrd="0" presId="urn:microsoft.com/office/officeart/2005/8/layout/vList2"/>
    <dgm:cxn modelId="{FC0F5297-2106-43A3-B80D-E36820598AA4}" srcId="{4BD1D15C-7C86-4580-BE55-F34C977933AE}" destId="{09B64724-6A59-479B-851F-7E52B99ED0A3}" srcOrd="2" destOrd="0" parTransId="{C5983C37-ADF9-4E8B-AB52-06854D6F083B}" sibTransId="{7F92F5D2-8DCD-43D2-9399-D7E956C14EF4}"/>
    <dgm:cxn modelId="{8197D698-8C56-4E6D-9C72-AD392BD7EF16}" srcId="{4BD1D15C-7C86-4580-BE55-F34C977933AE}" destId="{69D7E378-B811-4868-A366-91218D0A75D1}" srcOrd="3" destOrd="0" parTransId="{39F07D6E-4939-4917-81AB-B0F62723ADB8}" sibTransId="{C5DB7FFA-DA48-4021-9EC9-37DAEEA2172C}"/>
    <dgm:cxn modelId="{0EF3A8A0-10A5-43AA-ADE3-53A55D7717E0}" type="presOf" srcId="{18DABCDA-1BDF-4CDF-8B12-073AE47FBCC6}" destId="{FEB7A37C-CD4A-436B-A851-C563DCDB4B3E}" srcOrd="0" destOrd="0" presId="urn:microsoft.com/office/officeart/2005/8/layout/vList2"/>
    <dgm:cxn modelId="{9EBD01B0-D6B9-401E-8B15-8132A0970696}" type="presOf" srcId="{69D7E378-B811-4868-A366-91218D0A75D1}" destId="{02FD74D9-5F4E-4431-88B8-3F6FEEAC005D}" srcOrd="0" destOrd="0" presId="urn:microsoft.com/office/officeart/2005/8/layout/vList2"/>
    <dgm:cxn modelId="{7CFFCDC7-15F2-483A-ADE4-B71B495825C4}" type="presOf" srcId="{44B8CD07-6E14-4666-9E16-4F27CC2BCA63}" destId="{533D1F71-0B5D-4591-BC71-6DC872878E67}" srcOrd="0" destOrd="0" presId="urn:microsoft.com/office/officeart/2005/8/layout/vList2"/>
    <dgm:cxn modelId="{7A69BFDB-97CF-4FBC-BACD-DE3DB4B3A40E}" type="presOf" srcId="{09B64724-6A59-479B-851F-7E52B99ED0A3}" destId="{27A98A9A-3401-440A-8CC6-546DF0FA2CB4}" srcOrd="0" destOrd="0" presId="urn:microsoft.com/office/officeart/2005/8/layout/vList2"/>
    <dgm:cxn modelId="{FF7E3BEC-D7C9-4009-B2AB-08B0F46121D3}" type="presOf" srcId="{31B7C95E-B11F-47D5-9A30-8CD7DE763605}" destId="{308A0D4D-CDF5-460F-BD1C-4FD7F78A0699}" srcOrd="0" destOrd="0" presId="urn:microsoft.com/office/officeart/2005/8/layout/vList2"/>
    <dgm:cxn modelId="{70F95A0F-C3C8-4571-8716-9FA84E30E18E}" type="presParOf" srcId="{937DEBA7-EBC8-402F-B26A-DD1946D9BB48}" destId="{5FE1771A-A8B1-4E81-97F5-AD2DA7E344EE}" srcOrd="0" destOrd="0" presId="urn:microsoft.com/office/officeart/2005/8/layout/vList2"/>
    <dgm:cxn modelId="{6CF6A04A-0586-415C-9E2A-E989FFEF5C82}" type="presParOf" srcId="{937DEBA7-EBC8-402F-B26A-DD1946D9BB48}" destId="{8B9C6D0F-DFED-416E-99B2-E71ED5BB2898}" srcOrd="1" destOrd="0" presId="urn:microsoft.com/office/officeart/2005/8/layout/vList2"/>
    <dgm:cxn modelId="{D662176C-A3CA-465A-A34E-962D7F0A8CF0}" type="presParOf" srcId="{937DEBA7-EBC8-402F-B26A-DD1946D9BB48}" destId="{FEB7A37C-CD4A-436B-A851-C563DCDB4B3E}" srcOrd="2" destOrd="0" presId="urn:microsoft.com/office/officeart/2005/8/layout/vList2"/>
    <dgm:cxn modelId="{98A99F7E-837F-4689-B315-62C8C5CDE7AA}" type="presParOf" srcId="{937DEBA7-EBC8-402F-B26A-DD1946D9BB48}" destId="{36B78E1F-9D1F-4884-AA0C-6DF308649E4E}" srcOrd="3" destOrd="0" presId="urn:microsoft.com/office/officeart/2005/8/layout/vList2"/>
    <dgm:cxn modelId="{84C3C3BA-1C46-45F6-A877-F9EE572DB7E6}" type="presParOf" srcId="{937DEBA7-EBC8-402F-B26A-DD1946D9BB48}" destId="{27A98A9A-3401-440A-8CC6-546DF0FA2CB4}" srcOrd="4" destOrd="0" presId="urn:microsoft.com/office/officeart/2005/8/layout/vList2"/>
    <dgm:cxn modelId="{0F5C1FD7-C90C-4707-88AF-C53E8FC18111}" type="presParOf" srcId="{937DEBA7-EBC8-402F-B26A-DD1946D9BB48}" destId="{FAC2AE5B-0CA0-44CC-9052-EDE7533663B9}" srcOrd="5" destOrd="0" presId="urn:microsoft.com/office/officeart/2005/8/layout/vList2"/>
    <dgm:cxn modelId="{43936C4D-66AB-4CE7-B45A-34A454A36F8E}" type="presParOf" srcId="{937DEBA7-EBC8-402F-B26A-DD1946D9BB48}" destId="{02FD74D9-5F4E-4431-88B8-3F6FEEAC005D}" srcOrd="6" destOrd="0" presId="urn:microsoft.com/office/officeart/2005/8/layout/vList2"/>
    <dgm:cxn modelId="{33B12415-E084-435C-8B25-0451C7B849F7}" type="presParOf" srcId="{937DEBA7-EBC8-402F-B26A-DD1946D9BB48}" destId="{B69B6736-421F-42AC-81B0-F26817581498}" srcOrd="7" destOrd="0" presId="urn:microsoft.com/office/officeart/2005/8/layout/vList2"/>
    <dgm:cxn modelId="{EAD47E7F-B545-4712-A4FF-4706EABC13DB}" type="presParOf" srcId="{937DEBA7-EBC8-402F-B26A-DD1946D9BB48}" destId="{533D1F71-0B5D-4591-BC71-6DC872878E67}" srcOrd="8" destOrd="0" presId="urn:microsoft.com/office/officeart/2005/8/layout/vList2"/>
    <dgm:cxn modelId="{67BF9DA5-436C-4F9B-8568-A3428B8A13A1}" type="presParOf" srcId="{937DEBA7-EBC8-402F-B26A-DD1946D9BB48}" destId="{EAD8ED29-8783-4BFB-86BB-49CBBE17F5E8}" srcOrd="9" destOrd="0" presId="urn:microsoft.com/office/officeart/2005/8/layout/vList2"/>
    <dgm:cxn modelId="{0279E5E1-C478-4F9D-A923-E05D25EA35D4}" type="presParOf" srcId="{937DEBA7-EBC8-402F-B26A-DD1946D9BB48}" destId="{308A0D4D-CDF5-460F-BD1C-4FD7F78A069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D1D15C-7C86-4580-BE55-F34C97793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1BCD4A-6979-4229-94BE-4B6B4992D354}">
      <dgm:prSet/>
      <dgm:spPr/>
      <dgm:t>
        <a:bodyPr/>
        <a:lstStyle/>
        <a:p>
          <a:r>
            <a:rPr lang="ca-ES"/>
            <a:t>Motivation</a:t>
          </a:r>
          <a:endParaRPr lang="en-US"/>
        </a:p>
      </dgm:t>
    </dgm:pt>
    <dgm:pt modelId="{56B993F5-BBDA-491D-A7F6-7D72E5D0E6F4}" type="parTrans" cxnId="{DD9FCE2B-88AA-405A-A8ED-53EAA605B08F}">
      <dgm:prSet/>
      <dgm:spPr/>
      <dgm:t>
        <a:bodyPr/>
        <a:lstStyle/>
        <a:p>
          <a:endParaRPr lang="en-US"/>
        </a:p>
      </dgm:t>
    </dgm:pt>
    <dgm:pt modelId="{539C0DCE-ED64-4D83-B3AF-B166DEDCA224}" type="sibTrans" cxnId="{DD9FCE2B-88AA-405A-A8ED-53EAA605B08F}">
      <dgm:prSet/>
      <dgm:spPr/>
      <dgm:t>
        <a:bodyPr/>
        <a:lstStyle/>
        <a:p>
          <a:endParaRPr lang="en-US"/>
        </a:p>
      </dgm:t>
    </dgm:pt>
    <dgm:pt modelId="{18DABCDA-1BDF-4CDF-8B12-073AE47FBCC6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>
              <a:solidFill>
                <a:schemeClr val="bg1"/>
              </a:solidFill>
            </a:rPr>
            <a:t>Label fusion techniques</a:t>
          </a:r>
          <a:endParaRPr lang="en-US" dirty="0">
            <a:solidFill>
              <a:schemeClr val="bg1"/>
            </a:solidFill>
          </a:endParaRPr>
        </a:p>
      </dgm:t>
    </dgm:pt>
    <dgm:pt modelId="{9FBD3C46-2D8A-44CB-AF87-4ACFF4247902}" type="parTrans" cxnId="{E943D15A-9DD0-44BF-82D3-B048A007292F}">
      <dgm:prSet/>
      <dgm:spPr/>
      <dgm:t>
        <a:bodyPr/>
        <a:lstStyle/>
        <a:p>
          <a:endParaRPr lang="en-US"/>
        </a:p>
      </dgm:t>
    </dgm:pt>
    <dgm:pt modelId="{74D4D251-75A7-49C1-B824-0E8BE89F5687}" type="sibTrans" cxnId="{E943D15A-9DD0-44BF-82D3-B048A007292F}">
      <dgm:prSet/>
      <dgm:spPr/>
      <dgm:t>
        <a:bodyPr/>
        <a:lstStyle/>
        <a:p>
          <a:endParaRPr lang="en-US"/>
        </a:p>
      </dgm:t>
    </dgm:pt>
    <dgm:pt modelId="{09B64724-6A59-479B-851F-7E52B99ED0A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Method wrt Disagreement</a:t>
          </a:r>
          <a:endParaRPr lang="en-US" dirty="0">
            <a:solidFill>
              <a:schemeClr val="bg1"/>
            </a:solidFill>
          </a:endParaRPr>
        </a:p>
      </dgm:t>
    </dgm:pt>
    <dgm:pt modelId="{C5983C37-ADF9-4E8B-AB52-06854D6F083B}" type="parTrans" cxnId="{FC0F5297-2106-43A3-B80D-E36820598AA4}">
      <dgm:prSet/>
      <dgm:spPr/>
      <dgm:t>
        <a:bodyPr/>
        <a:lstStyle/>
        <a:p>
          <a:endParaRPr lang="en-US"/>
        </a:p>
      </dgm:t>
    </dgm:pt>
    <dgm:pt modelId="{7F92F5D2-8DCD-43D2-9399-D7E956C14EF4}" type="sibTrans" cxnId="{FC0F5297-2106-43A3-B80D-E36820598AA4}">
      <dgm:prSet/>
      <dgm:spPr/>
      <dgm:t>
        <a:bodyPr/>
        <a:lstStyle/>
        <a:p>
          <a:endParaRPr lang="en-US"/>
        </a:p>
      </dgm:t>
    </dgm:pt>
    <dgm:pt modelId="{69D7E378-B811-4868-A366-91218D0A75D1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Soft vs Hard on Training/Validation</a:t>
          </a:r>
          <a:endParaRPr lang="en-US" dirty="0">
            <a:solidFill>
              <a:schemeClr val="bg1"/>
            </a:solidFill>
          </a:endParaRPr>
        </a:p>
      </dgm:t>
    </dgm:pt>
    <dgm:pt modelId="{39F07D6E-4939-4917-81AB-B0F62723ADB8}" type="parTrans" cxnId="{8197D698-8C56-4E6D-9C72-AD392BD7EF16}">
      <dgm:prSet/>
      <dgm:spPr/>
      <dgm:t>
        <a:bodyPr/>
        <a:lstStyle/>
        <a:p>
          <a:endParaRPr lang="en-US"/>
        </a:p>
      </dgm:t>
    </dgm:pt>
    <dgm:pt modelId="{C5DB7FFA-DA48-4021-9EC9-37DAEEA2172C}" type="sibTrans" cxnId="{8197D698-8C56-4E6D-9C72-AD392BD7EF16}">
      <dgm:prSet/>
      <dgm:spPr/>
      <dgm:t>
        <a:bodyPr/>
        <a:lstStyle/>
        <a:p>
          <a:endParaRPr lang="en-US"/>
        </a:p>
      </dgm:t>
    </dgm:pt>
    <dgm:pt modelId="{44B8CD07-6E14-4666-9E16-4F27CC2BCA6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>
              <a:solidFill>
                <a:schemeClr val="bg1"/>
              </a:solidFill>
            </a:rPr>
            <a:t>Impact on Calibration</a:t>
          </a:r>
          <a:endParaRPr lang="en-US">
            <a:solidFill>
              <a:schemeClr val="bg1"/>
            </a:solidFill>
          </a:endParaRPr>
        </a:p>
      </dgm:t>
    </dgm:pt>
    <dgm:pt modelId="{9FF95AEA-BDFB-46AE-85D5-2FB13CC2C51A}" type="parTrans" cxnId="{5DF1B15A-3B5D-4B0B-8B10-93027AEBF98C}">
      <dgm:prSet/>
      <dgm:spPr/>
      <dgm:t>
        <a:bodyPr/>
        <a:lstStyle/>
        <a:p>
          <a:endParaRPr lang="en-US"/>
        </a:p>
      </dgm:t>
    </dgm:pt>
    <dgm:pt modelId="{3E43EDF1-41C3-4DDD-98C4-408205A58F9B}" type="sibTrans" cxnId="{5DF1B15A-3B5D-4B0B-8B10-93027AEBF98C}">
      <dgm:prSet/>
      <dgm:spPr/>
      <dgm:t>
        <a:bodyPr/>
        <a:lstStyle/>
        <a:p>
          <a:endParaRPr lang="en-US"/>
        </a:p>
      </dgm:t>
    </dgm:pt>
    <dgm:pt modelId="{31B7C95E-B11F-47D5-9A30-8CD7DE763605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Label Fusion Choice &amp; Takeaways</a:t>
          </a:r>
          <a:endParaRPr lang="en-US" dirty="0">
            <a:solidFill>
              <a:schemeClr val="bg1"/>
            </a:solidFill>
          </a:endParaRPr>
        </a:p>
      </dgm:t>
    </dgm:pt>
    <dgm:pt modelId="{372A03DB-F2E5-4B71-8182-87C63879A56B}" type="parTrans" cxnId="{D81E3564-242A-4791-8B77-C237311D5BB1}">
      <dgm:prSet/>
      <dgm:spPr/>
      <dgm:t>
        <a:bodyPr/>
        <a:lstStyle/>
        <a:p>
          <a:endParaRPr lang="es-ES"/>
        </a:p>
      </dgm:t>
    </dgm:pt>
    <dgm:pt modelId="{49D9151B-5AD5-4E37-A087-B887AE08C4B4}" type="sibTrans" cxnId="{D81E3564-242A-4791-8B77-C237311D5BB1}">
      <dgm:prSet/>
      <dgm:spPr/>
      <dgm:t>
        <a:bodyPr/>
        <a:lstStyle/>
        <a:p>
          <a:endParaRPr lang="es-ES"/>
        </a:p>
      </dgm:t>
    </dgm:pt>
    <dgm:pt modelId="{937DEBA7-EBC8-402F-B26A-DD1946D9BB48}" type="pres">
      <dgm:prSet presAssocID="{4BD1D15C-7C86-4580-BE55-F34C977933AE}" presName="linear" presStyleCnt="0">
        <dgm:presLayoutVars>
          <dgm:animLvl val="lvl"/>
          <dgm:resizeHandles val="exact"/>
        </dgm:presLayoutVars>
      </dgm:prSet>
      <dgm:spPr/>
    </dgm:pt>
    <dgm:pt modelId="{5FE1771A-A8B1-4E81-97F5-AD2DA7E344EE}" type="pres">
      <dgm:prSet presAssocID="{361BCD4A-6979-4229-94BE-4B6B4992D3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B9C6D0F-DFED-416E-99B2-E71ED5BB2898}" type="pres">
      <dgm:prSet presAssocID="{539C0DCE-ED64-4D83-B3AF-B166DEDCA224}" presName="spacer" presStyleCnt="0"/>
      <dgm:spPr/>
    </dgm:pt>
    <dgm:pt modelId="{FEB7A37C-CD4A-436B-A851-C563DCDB4B3E}" type="pres">
      <dgm:prSet presAssocID="{18DABCDA-1BDF-4CDF-8B12-073AE47FBC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6B78E1F-9D1F-4884-AA0C-6DF308649E4E}" type="pres">
      <dgm:prSet presAssocID="{74D4D251-75A7-49C1-B824-0E8BE89F5687}" presName="spacer" presStyleCnt="0"/>
      <dgm:spPr/>
    </dgm:pt>
    <dgm:pt modelId="{27A98A9A-3401-440A-8CC6-546DF0FA2CB4}" type="pres">
      <dgm:prSet presAssocID="{09B64724-6A59-479B-851F-7E52B99ED0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AC2AE5B-0CA0-44CC-9052-EDE7533663B9}" type="pres">
      <dgm:prSet presAssocID="{7F92F5D2-8DCD-43D2-9399-D7E956C14EF4}" presName="spacer" presStyleCnt="0"/>
      <dgm:spPr/>
    </dgm:pt>
    <dgm:pt modelId="{02FD74D9-5F4E-4431-88B8-3F6FEEAC005D}" type="pres">
      <dgm:prSet presAssocID="{69D7E378-B811-4868-A366-91218D0A75D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69B6736-421F-42AC-81B0-F26817581498}" type="pres">
      <dgm:prSet presAssocID="{C5DB7FFA-DA48-4021-9EC9-37DAEEA2172C}" presName="spacer" presStyleCnt="0"/>
      <dgm:spPr/>
    </dgm:pt>
    <dgm:pt modelId="{533D1F71-0B5D-4591-BC71-6DC872878E67}" type="pres">
      <dgm:prSet presAssocID="{44B8CD07-6E14-4666-9E16-4F27CC2BCA6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D8ED29-8783-4BFB-86BB-49CBBE17F5E8}" type="pres">
      <dgm:prSet presAssocID="{3E43EDF1-41C3-4DDD-98C4-408205A58F9B}" presName="spacer" presStyleCnt="0"/>
      <dgm:spPr/>
    </dgm:pt>
    <dgm:pt modelId="{308A0D4D-CDF5-460F-BD1C-4FD7F78A0699}" type="pres">
      <dgm:prSet presAssocID="{31B7C95E-B11F-47D5-9A30-8CD7DE7636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9FCE2B-88AA-405A-A8ED-53EAA605B08F}" srcId="{4BD1D15C-7C86-4580-BE55-F34C977933AE}" destId="{361BCD4A-6979-4229-94BE-4B6B4992D354}" srcOrd="0" destOrd="0" parTransId="{56B993F5-BBDA-491D-A7F6-7D72E5D0E6F4}" sibTransId="{539C0DCE-ED64-4D83-B3AF-B166DEDCA224}"/>
    <dgm:cxn modelId="{D81E3564-242A-4791-8B77-C237311D5BB1}" srcId="{4BD1D15C-7C86-4580-BE55-F34C977933AE}" destId="{31B7C95E-B11F-47D5-9A30-8CD7DE763605}" srcOrd="5" destOrd="0" parTransId="{372A03DB-F2E5-4B71-8182-87C63879A56B}" sibTransId="{49D9151B-5AD5-4E37-A087-B887AE08C4B4}"/>
    <dgm:cxn modelId="{5DF1B15A-3B5D-4B0B-8B10-93027AEBF98C}" srcId="{4BD1D15C-7C86-4580-BE55-F34C977933AE}" destId="{44B8CD07-6E14-4666-9E16-4F27CC2BCA63}" srcOrd="4" destOrd="0" parTransId="{9FF95AEA-BDFB-46AE-85D5-2FB13CC2C51A}" sibTransId="{3E43EDF1-41C3-4DDD-98C4-408205A58F9B}"/>
    <dgm:cxn modelId="{E943D15A-9DD0-44BF-82D3-B048A007292F}" srcId="{4BD1D15C-7C86-4580-BE55-F34C977933AE}" destId="{18DABCDA-1BDF-4CDF-8B12-073AE47FBCC6}" srcOrd="1" destOrd="0" parTransId="{9FBD3C46-2D8A-44CB-AF87-4ACFF4247902}" sibTransId="{74D4D251-75A7-49C1-B824-0E8BE89F5687}"/>
    <dgm:cxn modelId="{CFF23788-C490-4C13-90B2-BD7FEDDC5B93}" type="presOf" srcId="{361BCD4A-6979-4229-94BE-4B6B4992D354}" destId="{5FE1771A-A8B1-4E81-97F5-AD2DA7E344EE}" srcOrd="0" destOrd="0" presId="urn:microsoft.com/office/officeart/2005/8/layout/vList2"/>
    <dgm:cxn modelId="{39634E8B-E88B-4AC0-B4E5-12E39DF15BF8}" type="presOf" srcId="{4BD1D15C-7C86-4580-BE55-F34C977933AE}" destId="{937DEBA7-EBC8-402F-B26A-DD1946D9BB48}" srcOrd="0" destOrd="0" presId="urn:microsoft.com/office/officeart/2005/8/layout/vList2"/>
    <dgm:cxn modelId="{FC0F5297-2106-43A3-B80D-E36820598AA4}" srcId="{4BD1D15C-7C86-4580-BE55-F34C977933AE}" destId="{09B64724-6A59-479B-851F-7E52B99ED0A3}" srcOrd="2" destOrd="0" parTransId="{C5983C37-ADF9-4E8B-AB52-06854D6F083B}" sibTransId="{7F92F5D2-8DCD-43D2-9399-D7E956C14EF4}"/>
    <dgm:cxn modelId="{8197D698-8C56-4E6D-9C72-AD392BD7EF16}" srcId="{4BD1D15C-7C86-4580-BE55-F34C977933AE}" destId="{69D7E378-B811-4868-A366-91218D0A75D1}" srcOrd="3" destOrd="0" parTransId="{39F07D6E-4939-4917-81AB-B0F62723ADB8}" sibTransId="{C5DB7FFA-DA48-4021-9EC9-37DAEEA2172C}"/>
    <dgm:cxn modelId="{0EF3A8A0-10A5-43AA-ADE3-53A55D7717E0}" type="presOf" srcId="{18DABCDA-1BDF-4CDF-8B12-073AE47FBCC6}" destId="{FEB7A37C-CD4A-436B-A851-C563DCDB4B3E}" srcOrd="0" destOrd="0" presId="urn:microsoft.com/office/officeart/2005/8/layout/vList2"/>
    <dgm:cxn modelId="{9EBD01B0-D6B9-401E-8B15-8132A0970696}" type="presOf" srcId="{69D7E378-B811-4868-A366-91218D0A75D1}" destId="{02FD74D9-5F4E-4431-88B8-3F6FEEAC005D}" srcOrd="0" destOrd="0" presId="urn:microsoft.com/office/officeart/2005/8/layout/vList2"/>
    <dgm:cxn modelId="{7CFFCDC7-15F2-483A-ADE4-B71B495825C4}" type="presOf" srcId="{44B8CD07-6E14-4666-9E16-4F27CC2BCA63}" destId="{533D1F71-0B5D-4591-BC71-6DC872878E67}" srcOrd="0" destOrd="0" presId="urn:microsoft.com/office/officeart/2005/8/layout/vList2"/>
    <dgm:cxn modelId="{7A69BFDB-97CF-4FBC-BACD-DE3DB4B3A40E}" type="presOf" srcId="{09B64724-6A59-479B-851F-7E52B99ED0A3}" destId="{27A98A9A-3401-440A-8CC6-546DF0FA2CB4}" srcOrd="0" destOrd="0" presId="urn:microsoft.com/office/officeart/2005/8/layout/vList2"/>
    <dgm:cxn modelId="{FF7E3BEC-D7C9-4009-B2AB-08B0F46121D3}" type="presOf" srcId="{31B7C95E-B11F-47D5-9A30-8CD7DE763605}" destId="{308A0D4D-CDF5-460F-BD1C-4FD7F78A0699}" srcOrd="0" destOrd="0" presId="urn:microsoft.com/office/officeart/2005/8/layout/vList2"/>
    <dgm:cxn modelId="{70F95A0F-C3C8-4571-8716-9FA84E30E18E}" type="presParOf" srcId="{937DEBA7-EBC8-402F-B26A-DD1946D9BB48}" destId="{5FE1771A-A8B1-4E81-97F5-AD2DA7E344EE}" srcOrd="0" destOrd="0" presId="urn:microsoft.com/office/officeart/2005/8/layout/vList2"/>
    <dgm:cxn modelId="{6CF6A04A-0586-415C-9E2A-E989FFEF5C82}" type="presParOf" srcId="{937DEBA7-EBC8-402F-B26A-DD1946D9BB48}" destId="{8B9C6D0F-DFED-416E-99B2-E71ED5BB2898}" srcOrd="1" destOrd="0" presId="urn:microsoft.com/office/officeart/2005/8/layout/vList2"/>
    <dgm:cxn modelId="{D662176C-A3CA-465A-A34E-962D7F0A8CF0}" type="presParOf" srcId="{937DEBA7-EBC8-402F-B26A-DD1946D9BB48}" destId="{FEB7A37C-CD4A-436B-A851-C563DCDB4B3E}" srcOrd="2" destOrd="0" presId="urn:microsoft.com/office/officeart/2005/8/layout/vList2"/>
    <dgm:cxn modelId="{98A99F7E-837F-4689-B315-62C8C5CDE7AA}" type="presParOf" srcId="{937DEBA7-EBC8-402F-B26A-DD1946D9BB48}" destId="{36B78E1F-9D1F-4884-AA0C-6DF308649E4E}" srcOrd="3" destOrd="0" presId="urn:microsoft.com/office/officeart/2005/8/layout/vList2"/>
    <dgm:cxn modelId="{84C3C3BA-1C46-45F6-A877-F9EE572DB7E6}" type="presParOf" srcId="{937DEBA7-EBC8-402F-B26A-DD1946D9BB48}" destId="{27A98A9A-3401-440A-8CC6-546DF0FA2CB4}" srcOrd="4" destOrd="0" presId="urn:microsoft.com/office/officeart/2005/8/layout/vList2"/>
    <dgm:cxn modelId="{0F5C1FD7-C90C-4707-88AF-C53E8FC18111}" type="presParOf" srcId="{937DEBA7-EBC8-402F-B26A-DD1946D9BB48}" destId="{FAC2AE5B-0CA0-44CC-9052-EDE7533663B9}" srcOrd="5" destOrd="0" presId="urn:microsoft.com/office/officeart/2005/8/layout/vList2"/>
    <dgm:cxn modelId="{43936C4D-66AB-4CE7-B45A-34A454A36F8E}" type="presParOf" srcId="{937DEBA7-EBC8-402F-B26A-DD1946D9BB48}" destId="{02FD74D9-5F4E-4431-88B8-3F6FEEAC005D}" srcOrd="6" destOrd="0" presId="urn:microsoft.com/office/officeart/2005/8/layout/vList2"/>
    <dgm:cxn modelId="{33B12415-E084-435C-8B25-0451C7B849F7}" type="presParOf" srcId="{937DEBA7-EBC8-402F-B26A-DD1946D9BB48}" destId="{B69B6736-421F-42AC-81B0-F26817581498}" srcOrd="7" destOrd="0" presId="urn:microsoft.com/office/officeart/2005/8/layout/vList2"/>
    <dgm:cxn modelId="{EAD47E7F-B545-4712-A4FF-4706EABC13DB}" type="presParOf" srcId="{937DEBA7-EBC8-402F-B26A-DD1946D9BB48}" destId="{533D1F71-0B5D-4591-BC71-6DC872878E67}" srcOrd="8" destOrd="0" presId="urn:microsoft.com/office/officeart/2005/8/layout/vList2"/>
    <dgm:cxn modelId="{67BF9DA5-436C-4F9B-8568-A3428B8A13A1}" type="presParOf" srcId="{937DEBA7-EBC8-402F-B26A-DD1946D9BB48}" destId="{EAD8ED29-8783-4BFB-86BB-49CBBE17F5E8}" srcOrd="9" destOrd="0" presId="urn:microsoft.com/office/officeart/2005/8/layout/vList2"/>
    <dgm:cxn modelId="{0279E5E1-C478-4F9D-A923-E05D25EA35D4}" type="presParOf" srcId="{937DEBA7-EBC8-402F-B26A-DD1946D9BB48}" destId="{308A0D4D-CDF5-460F-BD1C-4FD7F78A069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6110CC-7E90-4A16-B536-8A2488DA6AC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0A4C3B-C0A0-4C05-AF27-1EE2E5FEB526}">
      <dgm:prSet/>
      <dgm:spPr/>
      <dgm:t>
        <a:bodyPr/>
        <a:lstStyle/>
        <a:p>
          <a:r>
            <a:rPr lang="ca-ES"/>
            <a:t>How do we merge, model or exploit multiple labels?</a:t>
          </a:r>
          <a:endParaRPr lang="en-US"/>
        </a:p>
      </dgm:t>
    </dgm:pt>
    <dgm:pt modelId="{3DE27E90-21B9-493C-8AB9-AAA2A5BDA0D7}" type="parTrans" cxnId="{39A7FF11-FE0F-424D-81A5-6A9D8D6467F0}">
      <dgm:prSet/>
      <dgm:spPr/>
      <dgm:t>
        <a:bodyPr/>
        <a:lstStyle/>
        <a:p>
          <a:endParaRPr lang="en-US"/>
        </a:p>
      </dgm:t>
    </dgm:pt>
    <dgm:pt modelId="{DE39FB3D-1652-432F-A1E1-2D490447BE47}" type="sibTrans" cxnId="{39A7FF11-FE0F-424D-81A5-6A9D8D6467F0}">
      <dgm:prSet/>
      <dgm:spPr/>
      <dgm:t>
        <a:bodyPr/>
        <a:lstStyle/>
        <a:p>
          <a:endParaRPr lang="en-US"/>
        </a:p>
      </dgm:t>
    </dgm:pt>
    <dgm:pt modelId="{03C0EE2B-9A4A-46A0-BA66-D92CA9FA3717}">
      <dgm:prSet/>
      <dgm:spPr/>
      <dgm:t>
        <a:bodyPr/>
        <a:lstStyle/>
        <a:p>
          <a:r>
            <a:rPr lang="ca-ES"/>
            <a:t>What is the impact on training and validation?</a:t>
          </a:r>
          <a:endParaRPr lang="en-US"/>
        </a:p>
      </dgm:t>
    </dgm:pt>
    <dgm:pt modelId="{B232FEDC-693D-4693-B152-0412D393053C}" type="parTrans" cxnId="{C2979F05-ED01-472A-A915-234176D83110}">
      <dgm:prSet/>
      <dgm:spPr/>
      <dgm:t>
        <a:bodyPr/>
        <a:lstStyle/>
        <a:p>
          <a:endParaRPr lang="en-US"/>
        </a:p>
      </dgm:t>
    </dgm:pt>
    <dgm:pt modelId="{4EFD505D-DFD3-4EDA-805C-E13C8B2E165A}" type="sibTrans" cxnId="{C2979F05-ED01-472A-A915-234176D83110}">
      <dgm:prSet/>
      <dgm:spPr/>
      <dgm:t>
        <a:bodyPr/>
        <a:lstStyle/>
        <a:p>
          <a:endParaRPr lang="en-US"/>
        </a:p>
      </dgm:t>
    </dgm:pt>
    <dgm:pt modelId="{5537FBA2-0CDB-4717-A4DA-C831D0439B15}">
      <dgm:prSet/>
      <dgm:spPr/>
      <dgm:t>
        <a:bodyPr/>
        <a:lstStyle/>
        <a:p>
          <a:r>
            <a:rPr lang="ca-ES"/>
            <a:t>How does this affect calibration and reliability?</a:t>
          </a:r>
          <a:endParaRPr lang="en-US"/>
        </a:p>
      </dgm:t>
    </dgm:pt>
    <dgm:pt modelId="{7447D041-124B-4020-AD68-9C3609DB1E9E}" type="parTrans" cxnId="{19FF3047-1B1A-4AE1-8251-632A94FAE03B}">
      <dgm:prSet/>
      <dgm:spPr/>
      <dgm:t>
        <a:bodyPr/>
        <a:lstStyle/>
        <a:p>
          <a:endParaRPr lang="en-US"/>
        </a:p>
      </dgm:t>
    </dgm:pt>
    <dgm:pt modelId="{9F932C09-EE6C-4ACF-9C5A-1A83F6252FEC}" type="sibTrans" cxnId="{19FF3047-1B1A-4AE1-8251-632A94FAE03B}">
      <dgm:prSet/>
      <dgm:spPr/>
      <dgm:t>
        <a:bodyPr/>
        <a:lstStyle/>
        <a:p>
          <a:endParaRPr lang="en-US"/>
        </a:p>
      </dgm:t>
    </dgm:pt>
    <dgm:pt modelId="{D601707C-9E56-4914-870C-563893031D05}" type="pres">
      <dgm:prSet presAssocID="{B76110CC-7E90-4A16-B536-8A2488DA6AC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E9C4071-A8CB-4834-8A9B-2CFCBE66631E}" type="pres">
      <dgm:prSet presAssocID="{170A4C3B-C0A0-4C05-AF27-1EE2E5FEB526}" presName="hierRoot1" presStyleCnt="0"/>
      <dgm:spPr/>
    </dgm:pt>
    <dgm:pt modelId="{D3858D3F-7D5B-436E-9A7E-EB56A46A4E41}" type="pres">
      <dgm:prSet presAssocID="{170A4C3B-C0A0-4C05-AF27-1EE2E5FEB526}" presName="composite" presStyleCnt="0"/>
      <dgm:spPr/>
    </dgm:pt>
    <dgm:pt modelId="{E2960E65-C887-4628-A6B8-7D1A1EC19CA1}" type="pres">
      <dgm:prSet presAssocID="{170A4C3B-C0A0-4C05-AF27-1EE2E5FEB526}" presName="background" presStyleLbl="node0" presStyleIdx="0" presStyleCnt="3"/>
      <dgm:spPr/>
    </dgm:pt>
    <dgm:pt modelId="{8C45DBF2-EAC2-4C6E-B4BB-256F15795DA9}" type="pres">
      <dgm:prSet presAssocID="{170A4C3B-C0A0-4C05-AF27-1EE2E5FEB526}" presName="text" presStyleLbl="fgAcc0" presStyleIdx="0" presStyleCnt="3">
        <dgm:presLayoutVars>
          <dgm:chPref val="3"/>
        </dgm:presLayoutVars>
      </dgm:prSet>
      <dgm:spPr/>
    </dgm:pt>
    <dgm:pt modelId="{D18BED2A-81B7-4511-AFC5-D562FD355725}" type="pres">
      <dgm:prSet presAssocID="{170A4C3B-C0A0-4C05-AF27-1EE2E5FEB526}" presName="hierChild2" presStyleCnt="0"/>
      <dgm:spPr/>
    </dgm:pt>
    <dgm:pt modelId="{6DC9AC3C-F108-444C-AF64-30F76419025A}" type="pres">
      <dgm:prSet presAssocID="{03C0EE2B-9A4A-46A0-BA66-D92CA9FA3717}" presName="hierRoot1" presStyleCnt="0"/>
      <dgm:spPr/>
    </dgm:pt>
    <dgm:pt modelId="{A641A6D1-E590-458B-B7FE-E340B9A5CD88}" type="pres">
      <dgm:prSet presAssocID="{03C0EE2B-9A4A-46A0-BA66-D92CA9FA3717}" presName="composite" presStyleCnt="0"/>
      <dgm:spPr/>
    </dgm:pt>
    <dgm:pt modelId="{DCA4F210-AC7B-47EA-AC24-70452CF36335}" type="pres">
      <dgm:prSet presAssocID="{03C0EE2B-9A4A-46A0-BA66-D92CA9FA3717}" presName="background" presStyleLbl="node0" presStyleIdx="1" presStyleCnt="3"/>
      <dgm:spPr/>
    </dgm:pt>
    <dgm:pt modelId="{3E4067B7-6602-4CE9-9B5F-B5248165EC1B}" type="pres">
      <dgm:prSet presAssocID="{03C0EE2B-9A4A-46A0-BA66-D92CA9FA3717}" presName="text" presStyleLbl="fgAcc0" presStyleIdx="1" presStyleCnt="3">
        <dgm:presLayoutVars>
          <dgm:chPref val="3"/>
        </dgm:presLayoutVars>
      </dgm:prSet>
      <dgm:spPr/>
    </dgm:pt>
    <dgm:pt modelId="{3C8AA0E6-2DD1-4A4F-AAE5-EB5B3F71E4FF}" type="pres">
      <dgm:prSet presAssocID="{03C0EE2B-9A4A-46A0-BA66-D92CA9FA3717}" presName="hierChild2" presStyleCnt="0"/>
      <dgm:spPr/>
    </dgm:pt>
    <dgm:pt modelId="{4ED04500-B830-4EC8-8D48-7DCD61D6FD23}" type="pres">
      <dgm:prSet presAssocID="{5537FBA2-0CDB-4717-A4DA-C831D0439B15}" presName="hierRoot1" presStyleCnt="0"/>
      <dgm:spPr/>
    </dgm:pt>
    <dgm:pt modelId="{925E3005-8B3B-4B70-9AF2-A8AF183E18CE}" type="pres">
      <dgm:prSet presAssocID="{5537FBA2-0CDB-4717-A4DA-C831D0439B15}" presName="composite" presStyleCnt="0"/>
      <dgm:spPr/>
    </dgm:pt>
    <dgm:pt modelId="{1F5720F7-B4F5-4608-9836-1F4271C819D7}" type="pres">
      <dgm:prSet presAssocID="{5537FBA2-0CDB-4717-A4DA-C831D0439B15}" presName="background" presStyleLbl="node0" presStyleIdx="2" presStyleCnt="3"/>
      <dgm:spPr/>
    </dgm:pt>
    <dgm:pt modelId="{3A6AB41D-0DA0-4296-AF84-A24C85E8737B}" type="pres">
      <dgm:prSet presAssocID="{5537FBA2-0CDB-4717-A4DA-C831D0439B15}" presName="text" presStyleLbl="fgAcc0" presStyleIdx="2" presStyleCnt="3">
        <dgm:presLayoutVars>
          <dgm:chPref val="3"/>
        </dgm:presLayoutVars>
      </dgm:prSet>
      <dgm:spPr/>
    </dgm:pt>
    <dgm:pt modelId="{04C7F17C-B186-4D0C-AF39-CBEBA119CD63}" type="pres">
      <dgm:prSet presAssocID="{5537FBA2-0CDB-4717-A4DA-C831D0439B15}" presName="hierChild2" presStyleCnt="0"/>
      <dgm:spPr/>
    </dgm:pt>
  </dgm:ptLst>
  <dgm:cxnLst>
    <dgm:cxn modelId="{59233F01-5588-47DE-9793-5C6F87A6DFEC}" type="presOf" srcId="{170A4C3B-C0A0-4C05-AF27-1EE2E5FEB526}" destId="{8C45DBF2-EAC2-4C6E-B4BB-256F15795DA9}" srcOrd="0" destOrd="0" presId="urn:microsoft.com/office/officeart/2005/8/layout/hierarchy1"/>
    <dgm:cxn modelId="{9BFE9502-EF84-4441-A465-56E36CFCE57C}" type="presOf" srcId="{03C0EE2B-9A4A-46A0-BA66-D92CA9FA3717}" destId="{3E4067B7-6602-4CE9-9B5F-B5248165EC1B}" srcOrd="0" destOrd="0" presId="urn:microsoft.com/office/officeart/2005/8/layout/hierarchy1"/>
    <dgm:cxn modelId="{C2979F05-ED01-472A-A915-234176D83110}" srcId="{B76110CC-7E90-4A16-B536-8A2488DA6AC6}" destId="{03C0EE2B-9A4A-46A0-BA66-D92CA9FA3717}" srcOrd="1" destOrd="0" parTransId="{B232FEDC-693D-4693-B152-0412D393053C}" sibTransId="{4EFD505D-DFD3-4EDA-805C-E13C8B2E165A}"/>
    <dgm:cxn modelId="{39A7FF11-FE0F-424D-81A5-6A9D8D6467F0}" srcId="{B76110CC-7E90-4A16-B536-8A2488DA6AC6}" destId="{170A4C3B-C0A0-4C05-AF27-1EE2E5FEB526}" srcOrd="0" destOrd="0" parTransId="{3DE27E90-21B9-493C-8AB9-AAA2A5BDA0D7}" sibTransId="{DE39FB3D-1652-432F-A1E1-2D490447BE47}"/>
    <dgm:cxn modelId="{2C23A12D-093B-4D48-8374-3E22CC4F341D}" type="presOf" srcId="{B76110CC-7E90-4A16-B536-8A2488DA6AC6}" destId="{D601707C-9E56-4914-870C-563893031D05}" srcOrd="0" destOrd="0" presId="urn:microsoft.com/office/officeart/2005/8/layout/hierarchy1"/>
    <dgm:cxn modelId="{19FF3047-1B1A-4AE1-8251-632A94FAE03B}" srcId="{B76110CC-7E90-4A16-B536-8A2488DA6AC6}" destId="{5537FBA2-0CDB-4717-A4DA-C831D0439B15}" srcOrd="2" destOrd="0" parTransId="{7447D041-124B-4020-AD68-9C3609DB1E9E}" sibTransId="{9F932C09-EE6C-4ACF-9C5A-1A83F6252FEC}"/>
    <dgm:cxn modelId="{F0EAA570-6311-4018-98B3-648D07D97B28}" type="presOf" srcId="{5537FBA2-0CDB-4717-A4DA-C831D0439B15}" destId="{3A6AB41D-0DA0-4296-AF84-A24C85E8737B}" srcOrd="0" destOrd="0" presId="urn:microsoft.com/office/officeart/2005/8/layout/hierarchy1"/>
    <dgm:cxn modelId="{9B046758-C15C-40DF-875F-EA638C5CC724}" type="presParOf" srcId="{D601707C-9E56-4914-870C-563893031D05}" destId="{CE9C4071-A8CB-4834-8A9B-2CFCBE66631E}" srcOrd="0" destOrd="0" presId="urn:microsoft.com/office/officeart/2005/8/layout/hierarchy1"/>
    <dgm:cxn modelId="{85CB4201-68CB-4717-A54D-90E2BC2EABBD}" type="presParOf" srcId="{CE9C4071-A8CB-4834-8A9B-2CFCBE66631E}" destId="{D3858D3F-7D5B-436E-9A7E-EB56A46A4E41}" srcOrd="0" destOrd="0" presId="urn:microsoft.com/office/officeart/2005/8/layout/hierarchy1"/>
    <dgm:cxn modelId="{871BFEA2-406F-4EC8-87EB-64B09DF6083C}" type="presParOf" srcId="{D3858D3F-7D5B-436E-9A7E-EB56A46A4E41}" destId="{E2960E65-C887-4628-A6B8-7D1A1EC19CA1}" srcOrd="0" destOrd="0" presId="urn:microsoft.com/office/officeart/2005/8/layout/hierarchy1"/>
    <dgm:cxn modelId="{026D9461-0F28-400D-84AF-52EF4DAEEF07}" type="presParOf" srcId="{D3858D3F-7D5B-436E-9A7E-EB56A46A4E41}" destId="{8C45DBF2-EAC2-4C6E-B4BB-256F15795DA9}" srcOrd="1" destOrd="0" presId="urn:microsoft.com/office/officeart/2005/8/layout/hierarchy1"/>
    <dgm:cxn modelId="{D88EA55A-51EE-4DBC-8E70-8284DD2CF30B}" type="presParOf" srcId="{CE9C4071-A8CB-4834-8A9B-2CFCBE66631E}" destId="{D18BED2A-81B7-4511-AFC5-D562FD355725}" srcOrd="1" destOrd="0" presId="urn:microsoft.com/office/officeart/2005/8/layout/hierarchy1"/>
    <dgm:cxn modelId="{D7854532-3E89-4CB5-B2D2-E3F881C5FB27}" type="presParOf" srcId="{D601707C-9E56-4914-870C-563893031D05}" destId="{6DC9AC3C-F108-444C-AF64-30F76419025A}" srcOrd="1" destOrd="0" presId="urn:microsoft.com/office/officeart/2005/8/layout/hierarchy1"/>
    <dgm:cxn modelId="{F1D27291-0F23-4D06-9BAB-C3926BD8EC7F}" type="presParOf" srcId="{6DC9AC3C-F108-444C-AF64-30F76419025A}" destId="{A641A6D1-E590-458B-B7FE-E340B9A5CD88}" srcOrd="0" destOrd="0" presId="urn:microsoft.com/office/officeart/2005/8/layout/hierarchy1"/>
    <dgm:cxn modelId="{65D9A3FB-CC97-4D09-BF45-3267E2E8EA0C}" type="presParOf" srcId="{A641A6D1-E590-458B-B7FE-E340B9A5CD88}" destId="{DCA4F210-AC7B-47EA-AC24-70452CF36335}" srcOrd="0" destOrd="0" presId="urn:microsoft.com/office/officeart/2005/8/layout/hierarchy1"/>
    <dgm:cxn modelId="{B30A50A3-BD79-402B-A32D-CC8050C584FC}" type="presParOf" srcId="{A641A6D1-E590-458B-B7FE-E340B9A5CD88}" destId="{3E4067B7-6602-4CE9-9B5F-B5248165EC1B}" srcOrd="1" destOrd="0" presId="urn:microsoft.com/office/officeart/2005/8/layout/hierarchy1"/>
    <dgm:cxn modelId="{9A83DDD3-D00A-43CE-B09F-E4018B1FE3E0}" type="presParOf" srcId="{6DC9AC3C-F108-444C-AF64-30F76419025A}" destId="{3C8AA0E6-2DD1-4A4F-AAE5-EB5B3F71E4FF}" srcOrd="1" destOrd="0" presId="urn:microsoft.com/office/officeart/2005/8/layout/hierarchy1"/>
    <dgm:cxn modelId="{B92A10F3-F3A0-41FE-B426-63836ADBC0C3}" type="presParOf" srcId="{D601707C-9E56-4914-870C-563893031D05}" destId="{4ED04500-B830-4EC8-8D48-7DCD61D6FD23}" srcOrd="2" destOrd="0" presId="urn:microsoft.com/office/officeart/2005/8/layout/hierarchy1"/>
    <dgm:cxn modelId="{ABB5B76C-B35E-4091-90CD-E3DABEC6687C}" type="presParOf" srcId="{4ED04500-B830-4EC8-8D48-7DCD61D6FD23}" destId="{925E3005-8B3B-4B70-9AF2-A8AF183E18CE}" srcOrd="0" destOrd="0" presId="urn:microsoft.com/office/officeart/2005/8/layout/hierarchy1"/>
    <dgm:cxn modelId="{AFC4225E-7497-4FCF-8C2E-8A13AA792AF7}" type="presParOf" srcId="{925E3005-8B3B-4B70-9AF2-A8AF183E18CE}" destId="{1F5720F7-B4F5-4608-9836-1F4271C819D7}" srcOrd="0" destOrd="0" presId="urn:microsoft.com/office/officeart/2005/8/layout/hierarchy1"/>
    <dgm:cxn modelId="{B60D0E0B-A4E8-4EAF-A2BB-2CFA2ED61B86}" type="presParOf" srcId="{925E3005-8B3B-4B70-9AF2-A8AF183E18CE}" destId="{3A6AB41D-0DA0-4296-AF84-A24C85E8737B}" srcOrd="1" destOrd="0" presId="urn:microsoft.com/office/officeart/2005/8/layout/hierarchy1"/>
    <dgm:cxn modelId="{4133CC04-B6FF-4420-A7E6-275E6E377A57}" type="presParOf" srcId="{4ED04500-B830-4EC8-8D48-7DCD61D6FD23}" destId="{04C7F17C-B186-4D0C-AF39-CBEBA119CD6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D1D15C-7C86-4580-BE55-F34C97793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1BCD4A-6979-4229-94BE-4B6B4992D354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Motivation</a:t>
          </a:r>
          <a:endParaRPr lang="en-US"/>
        </a:p>
      </dgm:t>
    </dgm:pt>
    <dgm:pt modelId="{56B993F5-BBDA-491D-A7F6-7D72E5D0E6F4}" type="parTrans" cxnId="{DD9FCE2B-88AA-405A-A8ED-53EAA605B08F}">
      <dgm:prSet/>
      <dgm:spPr/>
      <dgm:t>
        <a:bodyPr/>
        <a:lstStyle/>
        <a:p>
          <a:endParaRPr lang="en-US"/>
        </a:p>
      </dgm:t>
    </dgm:pt>
    <dgm:pt modelId="{539C0DCE-ED64-4D83-B3AF-B166DEDCA224}" type="sibTrans" cxnId="{DD9FCE2B-88AA-405A-A8ED-53EAA605B08F}">
      <dgm:prSet/>
      <dgm:spPr/>
      <dgm:t>
        <a:bodyPr/>
        <a:lstStyle/>
        <a:p>
          <a:endParaRPr lang="en-US"/>
        </a:p>
      </dgm:t>
    </dgm:pt>
    <dgm:pt modelId="{18DABCDA-1BDF-4CDF-8B12-073AE47FBCC6}">
      <dgm:prSet/>
      <dgm:spPr/>
      <dgm:t>
        <a:bodyPr/>
        <a:lstStyle/>
        <a:p>
          <a:r>
            <a:rPr lang="ca-ES"/>
            <a:t>Label fusion techniques</a:t>
          </a:r>
          <a:endParaRPr lang="en-US"/>
        </a:p>
      </dgm:t>
    </dgm:pt>
    <dgm:pt modelId="{9FBD3C46-2D8A-44CB-AF87-4ACFF4247902}" type="parTrans" cxnId="{E943D15A-9DD0-44BF-82D3-B048A007292F}">
      <dgm:prSet/>
      <dgm:spPr/>
      <dgm:t>
        <a:bodyPr/>
        <a:lstStyle/>
        <a:p>
          <a:endParaRPr lang="en-US"/>
        </a:p>
      </dgm:t>
    </dgm:pt>
    <dgm:pt modelId="{74D4D251-75A7-49C1-B824-0E8BE89F5687}" type="sibTrans" cxnId="{E943D15A-9DD0-44BF-82D3-B048A007292F}">
      <dgm:prSet/>
      <dgm:spPr/>
      <dgm:t>
        <a:bodyPr/>
        <a:lstStyle/>
        <a:p>
          <a:endParaRPr lang="en-US"/>
        </a:p>
      </dgm:t>
    </dgm:pt>
    <dgm:pt modelId="{09B64724-6A59-479B-851F-7E52B99ED0A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Method wrt Disagreement</a:t>
          </a:r>
          <a:endParaRPr lang="en-US" dirty="0"/>
        </a:p>
      </dgm:t>
    </dgm:pt>
    <dgm:pt modelId="{C5983C37-ADF9-4E8B-AB52-06854D6F083B}" type="parTrans" cxnId="{FC0F5297-2106-43A3-B80D-E36820598AA4}">
      <dgm:prSet/>
      <dgm:spPr/>
      <dgm:t>
        <a:bodyPr/>
        <a:lstStyle/>
        <a:p>
          <a:endParaRPr lang="en-US"/>
        </a:p>
      </dgm:t>
    </dgm:pt>
    <dgm:pt modelId="{7F92F5D2-8DCD-43D2-9399-D7E956C14EF4}" type="sibTrans" cxnId="{FC0F5297-2106-43A3-B80D-E36820598AA4}">
      <dgm:prSet/>
      <dgm:spPr/>
      <dgm:t>
        <a:bodyPr/>
        <a:lstStyle/>
        <a:p>
          <a:endParaRPr lang="en-US"/>
        </a:p>
      </dgm:t>
    </dgm:pt>
    <dgm:pt modelId="{69D7E378-B811-4868-A366-91218D0A75D1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Soft vs Hard on Training/Validation</a:t>
          </a:r>
          <a:endParaRPr lang="en-US" dirty="0"/>
        </a:p>
      </dgm:t>
    </dgm:pt>
    <dgm:pt modelId="{39F07D6E-4939-4917-81AB-B0F62723ADB8}" type="parTrans" cxnId="{8197D698-8C56-4E6D-9C72-AD392BD7EF16}">
      <dgm:prSet/>
      <dgm:spPr/>
      <dgm:t>
        <a:bodyPr/>
        <a:lstStyle/>
        <a:p>
          <a:endParaRPr lang="en-US"/>
        </a:p>
      </dgm:t>
    </dgm:pt>
    <dgm:pt modelId="{C5DB7FFA-DA48-4021-9EC9-37DAEEA2172C}" type="sibTrans" cxnId="{8197D698-8C56-4E6D-9C72-AD392BD7EF16}">
      <dgm:prSet/>
      <dgm:spPr/>
      <dgm:t>
        <a:bodyPr/>
        <a:lstStyle/>
        <a:p>
          <a:endParaRPr lang="en-US"/>
        </a:p>
      </dgm:t>
    </dgm:pt>
    <dgm:pt modelId="{44B8CD07-6E14-4666-9E16-4F27CC2BCA6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Impact on Calibration</a:t>
          </a:r>
          <a:endParaRPr lang="en-US"/>
        </a:p>
      </dgm:t>
    </dgm:pt>
    <dgm:pt modelId="{9FF95AEA-BDFB-46AE-85D5-2FB13CC2C51A}" type="parTrans" cxnId="{5DF1B15A-3B5D-4B0B-8B10-93027AEBF98C}">
      <dgm:prSet/>
      <dgm:spPr/>
      <dgm:t>
        <a:bodyPr/>
        <a:lstStyle/>
        <a:p>
          <a:endParaRPr lang="en-US"/>
        </a:p>
      </dgm:t>
    </dgm:pt>
    <dgm:pt modelId="{3E43EDF1-41C3-4DDD-98C4-408205A58F9B}" type="sibTrans" cxnId="{5DF1B15A-3B5D-4B0B-8B10-93027AEBF98C}">
      <dgm:prSet/>
      <dgm:spPr/>
      <dgm:t>
        <a:bodyPr/>
        <a:lstStyle/>
        <a:p>
          <a:endParaRPr lang="en-US"/>
        </a:p>
      </dgm:t>
    </dgm:pt>
    <dgm:pt modelId="{31B7C95E-B11F-47D5-9A30-8CD7DE763605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Label Fusion Choice &amp; Takeaways</a:t>
          </a:r>
          <a:endParaRPr lang="en-US" dirty="0"/>
        </a:p>
      </dgm:t>
    </dgm:pt>
    <dgm:pt modelId="{372A03DB-F2E5-4B71-8182-87C63879A56B}" type="parTrans" cxnId="{D81E3564-242A-4791-8B77-C237311D5BB1}">
      <dgm:prSet/>
      <dgm:spPr/>
      <dgm:t>
        <a:bodyPr/>
        <a:lstStyle/>
        <a:p>
          <a:endParaRPr lang="es-ES"/>
        </a:p>
      </dgm:t>
    </dgm:pt>
    <dgm:pt modelId="{49D9151B-5AD5-4E37-A087-B887AE08C4B4}" type="sibTrans" cxnId="{D81E3564-242A-4791-8B77-C237311D5BB1}">
      <dgm:prSet/>
      <dgm:spPr/>
      <dgm:t>
        <a:bodyPr/>
        <a:lstStyle/>
        <a:p>
          <a:endParaRPr lang="es-ES"/>
        </a:p>
      </dgm:t>
    </dgm:pt>
    <dgm:pt modelId="{937DEBA7-EBC8-402F-B26A-DD1946D9BB48}" type="pres">
      <dgm:prSet presAssocID="{4BD1D15C-7C86-4580-BE55-F34C977933AE}" presName="linear" presStyleCnt="0">
        <dgm:presLayoutVars>
          <dgm:animLvl val="lvl"/>
          <dgm:resizeHandles val="exact"/>
        </dgm:presLayoutVars>
      </dgm:prSet>
      <dgm:spPr/>
    </dgm:pt>
    <dgm:pt modelId="{5FE1771A-A8B1-4E81-97F5-AD2DA7E344EE}" type="pres">
      <dgm:prSet presAssocID="{361BCD4A-6979-4229-94BE-4B6B4992D3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B9C6D0F-DFED-416E-99B2-E71ED5BB2898}" type="pres">
      <dgm:prSet presAssocID="{539C0DCE-ED64-4D83-B3AF-B166DEDCA224}" presName="spacer" presStyleCnt="0"/>
      <dgm:spPr/>
    </dgm:pt>
    <dgm:pt modelId="{FEB7A37C-CD4A-436B-A851-C563DCDB4B3E}" type="pres">
      <dgm:prSet presAssocID="{18DABCDA-1BDF-4CDF-8B12-073AE47FBC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6B78E1F-9D1F-4884-AA0C-6DF308649E4E}" type="pres">
      <dgm:prSet presAssocID="{74D4D251-75A7-49C1-B824-0E8BE89F5687}" presName="spacer" presStyleCnt="0"/>
      <dgm:spPr/>
    </dgm:pt>
    <dgm:pt modelId="{27A98A9A-3401-440A-8CC6-546DF0FA2CB4}" type="pres">
      <dgm:prSet presAssocID="{09B64724-6A59-479B-851F-7E52B99ED0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AC2AE5B-0CA0-44CC-9052-EDE7533663B9}" type="pres">
      <dgm:prSet presAssocID="{7F92F5D2-8DCD-43D2-9399-D7E956C14EF4}" presName="spacer" presStyleCnt="0"/>
      <dgm:spPr/>
    </dgm:pt>
    <dgm:pt modelId="{02FD74D9-5F4E-4431-88B8-3F6FEEAC005D}" type="pres">
      <dgm:prSet presAssocID="{69D7E378-B811-4868-A366-91218D0A75D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69B6736-421F-42AC-81B0-F26817581498}" type="pres">
      <dgm:prSet presAssocID="{C5DB7FFA-DA48-4021-9EC9-37DAEEA2172C}" presName="spacer" presStyleCnt="0"/>
      <dgm:spPr/>
    </dgm:pt>
    <dgm:pt modelId="{533D1F71-0B5D-4591-BC71-6DC872878E67}" type="pres">
      <dgm:prSet presAssocID="{44B8CD07-6E14-4666-9E16-4F27CC2BCA6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D8ED29-8783-4BFB-86BB-49CBBE17F5E8}" type="pres">
      <dgm:prSet presAssocID="{3E43EDF1-41C3-4DDD-98C4-408205A58F9B}" presName="spacer" presStyleCnt="0"/>
      <dgm:spPr/>
    </dgm:pt>
    <dgm:pt modelId="{308A0D4D-CDF5-460F-BD1C-4FD7F78A0699}" type="pres">
      <dgm:prSet presAssocID="{31B7C95E-B11F-47D5-9A30-8CD7DE7636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9FCE2B-88AA-405A-A8ED-53EAA605B08F}" srcId="{4BD1D15C-7C86-4580-BE55-F34C977933AE}" destId="{361BCD4A-6979-4229-94BE-4B6B4992D354}" srcOrd="0" destOrd="0" parTransId="{56B993F5-BBDA-491D-A7F6-7D72E5D0E6F4}" sibTransId="{539C0DCE-ED64-4D83-B3AF-B166DEDCA224}"/>
    <dgm:cxn modelId="{D81E3564-242A-4791-8B77-C237311D5BB1}" srcId="{4BD1D15C-7C86-4580-BE55-F34C977933AE}" destId="{31B7C95E-B11F-47D5-9A30-8CD7DE763605}" srcOrd="5" destOrd="0" parTransId="{372A03DB-F2E5-4B71-8182-87C63879A56B}" sibTransId="{49D9151B-5AD5-4E37-A087-B887AE08C4B4}"/>
    <dgm:cxn modelId="{5DF1B15A-3B5D-4B0B-8B10-93027AEBF98C}" srcId="{4BD1D15C-7C86-4580-BE55-F34C977933AE}" destId="{44B8CD07-6E14-4666-9E16-4F27CC2BCA63}" srcOrd="4" destOrd="0" parTransId="{9FF95AEA-BDFB-46AE-85D5-2FB13CC2C51A}" sibTransId="{3E43EDF1-41C3-4DDD-98C4-408205A58F9B}"/>
    <dgm:cxn modelId="{E943D15A-9DD0-44BF-82D3-B048A007292F}" srcId="{4BD1D15C-7C86-4580-BE55-F34C977933AE}" destId="{18DABCDA-1BDF-4CDF-8B12-073AE47FBCC6}" srcOrd="1" destOrd="0" parTransId="{9FBD3C46-2D8A-44CB-AF87-4ACFF4247902}" sibTransId="{74D4D251-75A7-49C1-B824-0E8BE89F5687}"/>
    <dgm:cxn modelId="{CFF23788-C490-4C13-90B2-BD7FEDDC5B93}" type="presOf" srcId="{361BCD4A-6979-4229-94BE-4B6B4992D354}" destId="{5FE1771A-A8B1-4E81-97F5-AD2DA7E344EE}" srcOrd="0" destOrd="0" presId="urn:microsoft.com/office/officeart/2005/8/layout/vList2"/>
    <dgm:cxn modelId="{39634E8B-E88B-4AC0-B4E5-12E39DF15BF8}" type="presOf" srcId="{4BD1D15C-7C86-4580-BE55-F34C977933AE}" destId="{937DEBA7-EBC8-402F-B26A-DD1946D9BB48}" srcOrd="0" destOrd="0" presId="urn:microsoft.com/office/officeart/2005/8/layout/vList2"/>
    <dgm:cxn modelId="{FC0F5297-2106-43A3-B80D-E36820598AA4}" srcId="{4BD1D15C-7C86-4580-BE55-F34C977933AE}" destId="{09B64724-6A59-479B-851F-7E52B99ED0A3}" srcOrd="2" destOrd="0" parTransId="{C5983C37-ADF9-4E8B-AB52-06854D6F083B}" sibTransId="{7F92F5D2-8DCD-43D2-9399-D7E956C14EF4}"/>
    <dgm:cxn modelId="{8197D698-8C56-4E6D-9C72-AD392BD7EF16}" srcId="{4BD1D15C-7C86-4580-BE55-F34C977933AE}" destId="{69D7E378-B811-4868-A366-91218D0A75D1}" srcOrd="3" destOrd="0" parTransId="{39F07D6E-4939-4917-81AB-B0F62723ADB8}" sibTransId="{C5DB7FFA-DA48-4021-9EC9-37DAEEA2172C}"/>
    <dgm:cxn modelId="{0EF3A8A0-10A5-43AA-ADE3-53A55D7717E0}" type="presOf" srcId="{18DABCDA-1BDF-4CDF-8B12-073AE47FBCC6}" destId="{FEB7A37C-CD4A-436B-A851-C563DCDB4B3E}" srcOrd="0" destOrd="0" presId="urn:microsoft.com/office/officeart/2005/8/layout/vList2"/>
    <dgm:cxn modelId="{9EBD01B0-D6B9-401E-8B15-8132A0970696}" type="presOf" srcId="{69D7E378-B811-4868-A366-91218D0A75D1}" destId="{02FD74D9-5F4E-4431-88B8-3F6FEEAC005D}" srcOrd="0" destOrd="0" presId="urn:microsoft.com/office/officeart/2005/8/layout/vList2"/>
    <dgm:cxn modelId="{7CFFCDC7-15F2-483A-ADE4-B71B495825C4}" type="presOf" srcId="{44B8CD07-6E14-4666-9E16-4F27CC2BCA63}" destId="{533D1F71-0B5D-4591-BC71-6DC872878E67}" srcOrd="0" destOrd="0" presId="urn:microsoft.com/office/officeart/2005/8/layout/vList2"/>
    <dgm:cxn modelId="{7A69BFDB-97CF-4FBC-BACD-DE3DB4B3A40E}" type="presOf" srcId="{09B64724-6A59-479B-851F-7E52B99ED0A3}" destId="{27A98A9A-3401-440A-8CC6-546DF0FA2CB4}" srcOrd="0" destOrd="0" presId="urn:microsoft.com/office/officeart/2005/8/layout/vList2"/>
    <dgm:cxn modelId="{FF7E3BEC-D7C9-4009-B2AB-08B0F46121D3}" type="presOf" srcId="{31B7C95E-B11F-47D5-9A30-8CD7DE763605}" destId="{308A0D4D-CDF5-460F-BD1C-4FD7F78A0699}" srcOrd="0" destOrd="0" presId="urn:microsoft.com/office/officeart/2005/8/layout/vList2"/>
    <dgm:cxn modelId="{70F95A0F-C3C8-4571-8716-9FA84E30E18E}" type="presParOf" srcId="{937DEBA7-EBC8-402F-B26A-DD1946D9BB48}" destId="{5FE1771A-A8B1-4E81-97F5-AD2DA7E344EE}" srcOrd="0" destOrd="0" presId="urn:microsoft.com/office/officeart/2005/8/layout/vList2"/>
    <dgm:cxn modelId="{6CF6A04A-0586-415C-9E2A-E989FFEF5C82}" type="presParOf" srcId="{937DEBA7-EBC8-402F-B26A-DD1946D9BB48}" destId="{8B9C6D0F-DFED-416E-99B2-E71ED5BB2898}" srcOrd="1" destOrd="0" presId="urn:microsoft.com/office/officeart/2005/8/layout/vList2"/>
    <dgm:cxn modelId="{D662176C-A3CA-465A-A34E-962D7F0A8CF0}" type="presParOf" srcId="{937DEBA7-EBC8-402F-B26A-DD1946D9BB48}" destId="{FEB7A37C-CD4A-436B-A851-C563DCDB4B3E}" srcOrd="2" destOrd="0" presId="urn:microsoft.com/office/officeart/2005/8/layout/vList2"/>
    <dgm:cxn modelId="{98A99F7E-837F-4689-B315-62C8C5CDE7AA}" type="presParOf" srcId="{937DEBA7-EBC8-402F-B26A-DD1946D9BB48}" destId="{36B78E1F-9D1F-4884-AA0C-6DF308649E4E}" srcOrd="3" destOrd="0" presId="urn:microsoft.com/office/officeart/2005/8/layout/vList2"/>
    <dgm:cxn modelId="{84C3C3BA-1C46-45F6-A877-F9EE572DB7E6}" type="presParOf" srcId="{937DEBA7-EBC8-402F-B26A-DD1946D9BB48}" destId="{27A98A9A-3401-440A-8CC6-546DF0FA2CB4}" srcOrd="4" destOrd="0" presId="urn:microsoft.com/office/officeart/2005/8/layout/vList2"/>
    <dgm:cxn modelId="{0F5C1FD7-C90C-4707-88AF-C53E8FC18111}" type="presParOf" srcId="{937DEBA7-EBC8-402F-B26A-DD1946D9BB48}" destId="{FAC2AE5B-0CA0-44CC-9052-EDE7533663B9}" srcOrd="5" destOrd="0" presId="urn:microsoft.com/office/officeart/2005/8/layout/vList2"/>
    <dgm:cxn modelId="{43936C4D-66AB-4CE7-B45A-34A454A36F8E}" type="presParOf" srcId="{937DEBA7-EBC8-402F-B26A-DD1946D9BB48}" destId="{02FD74D9-5F4E-4431-88B8-3F6FEEAC005D}" srcOrd="6" destOrd="0" presId="urn:microsoft.com/office/officeart/2005/8/layout/vList2"/>
    <dgm:cxn modelId="{33B12415-E084-435C-8B25-0451C7B849F7}" type="presParOf" srcId="{937DEBA7-EBC8-402F-B26A-DD1946D9BB48}" destId="{B69B6736-421F-42AC-81B0-F26817581498}" srcOrd="7" destOrd="0" presId="urn:microsoft.com/office/officeart/2005/8/layout/vList2"/>
    <dgm:cxn modelId="{EAD47E7F-B545-4712-A4FF-4706EABC13DB}" type="presParOf" srcId="{937DEBA7-EBC8-402F-B26A-DD1946D9BB48}" destId="{533D1F71-0B5D-4591-BC71-6DC872878E67}" srcOrd="8" destOrd="0" presId="urn:microsoft.com/office/officeart/2005/8/layout/vList2"/>
    <dgm:cxn modelId="{67BF9DA5-436C-4F9B-8568-A3428B8A13A1}" type="presParOf" srcId="{937DEBA7-EBC8-402F-B26A-DD1946D9BB48}" destId="{EAD8ED29-8783-4BFB-86BB-49CBBE17F5E8}" srcOrd="9" destOrd="0" presId="urn:microsoft.com/office/officeart/2005/8/layout/vList2"/>
    <dgm:cxn modelId="{0279E5E1-C478-4F9D-A923-E05D25EA35D4}" type="presParOf" srcId="{937DEBA7-EBC8-402F-B26A-DD1946D9BB48}" destId="{308A0D4D-CDF5-460F-BD1C-4FD7F78A069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461A4F-92B1-43E1-BEC1-A4FFB826F37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453488-296B-40AD-9172-CC4897A628C8}">
      <dgm:prSet/>
      <dgm:spPr/>
      <dgm:t>
        <a:bodyPr/>
        <a:lstStyle/>
        <a:p>
          <a:r>
            <a:rPr lang="ca-ES"/>
            <a:t>Naive Extremes</a:t>
          </a:r>
          <a:endParaRPr lang="en-US"/>
        </a:p>
      </dgm:t>
    </dgm:pt>
    <dgm:pt modelId="{1A2AB4A6-60FE-4BC6-9E51-A2A3B181ADE2}" type="parTrans" cxnId="{D8F8B6DB-9402-4529-904A-DAD68A399FF7}">
      <dgm:prSet/>
      <dgm:spPr/>
      <dgm:t>
        <a:bodyPr/>
        <a:lstStyle/>
        <a:p>
          <a:endParaRPr lang="en-US"/>
        </a:p>
      </dgm:t>
    </dgm:pt>
    <dgm:pt modelId="{CAD1B61F-D67E-4337-93D4-58D4EBA32A7D}" type="sibTrans" cxnId="{D8F8B6DB-9402-4529-904A-DAD68A399FF7}">
      <dgm:prSet/>
      <dgm:spPr/>
      <dgm:t>
        <a:bodyPr/>
        <a:lstStyle/>
        <a:p>
          <a:endParaRPr lang="en-US"/>
        </a:p>
      </dgm:t>
    </dgm:pt>
    <dgm:pt modelId="{65AF1A4D-7A39-4A5F-A6E4-B57CE4D33A1F}">
      <dgm:prSet/>
      <dgm:spPr/>
      <dgm:t>
        <a:bodyPr/>
        <a:lstStyle/>
        <a:p>
          <a:r>
            <a:rPr lang="ca-ES" dirty="0"/>
            <a:t>Simple Consensus</a:t>
          </a:r>
          <a:endParaRPr lang="en-US" dirty="0"/>
        </a:p>
      </dgm:t>
    </dgm:pt>
    <dgm:pt modelId="{943C2798-E6FB-44EB-959E-8CF9CF4583AA}" type="parTrans" cxnId="{05695BEF-780A-4368-AC7D-63F6A5E7A867}">
      <dgm:prSet/>
      <dgm:spPr/>
      <dgm:t>
        <a:bodyPr/>
        <a:lstStyle/>
        <a:p>
          <a:endParaRPr lang="en-US"/>
        </a:p>
      </dgm:t>
    </dgm:pt>
    <dgm:pt modelId="{CEFF094D-A61A-4C2A-9B89-33B3FAF1D72A}" type="sibTrans" cxnId="{05695BEF-780A-4368-AC7D-63F6A5E7A867}">
      <dgm:prSet/>
      <dgm:spPr/>
      <dgm:t>
        <a:bodyPr/>
        <a:lstStyle/>
        <a:p>
          <a:endParaRPr lang="en-US"/>
        </a:p>
      </dgm:t>
    </dgm:pt>
    <dgm:pt modelId="{032CC77B-795F-438D-BA51-4E28A5B1C02B}">
      <dgm:prSet/>
      <dgm:spPr/>
      <dgm:t>
        <a:bodyPr/>
        <a:lstStyle/>
        <a:p>
          <a:r>
            <a:rPr lang="ca-ES" dirty="0"/>
            <a:t>Random Sampling</a:t>
          </a:r>
          <a:endParaRPr lang="en-US" dirty="0"/>
        </a:p>
      </dgm:t>
    </dgm:pt>
    <dgm:pt modelId="{1B2FE08C-6D32-4962-804D-494ABF8CA41E}" type="parTrans" cxnId="{EB4E91CD-7E07-4F29-824E-350053D29589}">
      <dgm:prSet/>
      <dgm:spPr/>
      <dgm:t>
        <a:bodyPr/>
        <a:lstStyle/>
        <a:p>
          <a:endParaRPr lang="en-US"/>
        </a:p>
      </dgm:t>
    </dgm:pt>
    <dgm:pt modelId="{A12639F9-6D46-4DD2-A75B-197BBE16E071}" type="sibTrans" cxnId="{EB4E91CD-7E07-4F29-824E-350053D29589}">
      <dgm:prSet/>
      <dgm:spPr/>
      <dgm:t>
        <a:bodyPr/>
        <a:lstStyle/>
        <a:p>
          <a:endParaRPr lang="en-US"/>
        </a:p>
      </dgm:t>
    </dgm:pt>
    <dgm:pt modelId="{FD282689-FD03-48F6-85D6-B2F574DC6813}">
      <dgm:prSet/>
      <dgm:spPr/>
      <dgm:t>
        <a:bodyPr/>
        <a:lstStyle/>
        <a:p>
          <a:r>
            <a:rPr lang="ca-ES" dirty="0"/>
            <a:t>Soft Labels</a:t>
          </a:r>
          <a:endParaRPr lang="en-US" dirty="0"/>
        </a:p>
      </dgm:t>
    </dgm:pt>
    <dgm:pt modelId="{4B8B4241-08B6-4189-BCB6-391476732B2B}" type="parTrans" cxnId="{CAF8E20E-ACA4-425A-A5F8-8790CF121A2F}">
      <dgm:prSet/>
      <dgm:spPr/>
      <dgm:t>
        <a:bodyPr/>
        <a:lstStyle/>
        <a:p>
          <a:endParaRPr lang="en-US"/>
        </a:p>
      </dgm:t>
    </dgm:pt>
    <dgm:pt modelId="{C59A7882-0D84-4C0A-984F-CA76BAA3FE5B}" type="sibTrans" cxnId="{CAF8E20E-ACA4-425A-A5F8-8790CF121A2F}">
      <dgm:prSet/>
      <dgm:spPr/>
      <dgm:t>
        <a:bodyPr/>
        <a:lstStyle/>
        <a:p>
          <a:endParaRPr lang="en-US"/>
        </a:p>
      </dgm:t>
    </dgm:pt>
    <dgm:pt modelId="{C01532C3-1D81-4D4A-A452-25AF8FECB02E}">
      <dgm:prSet/>
      <dgm:spPr/>
      <dgm:t>
        <a:bodyPr/>
        <a:lstStyle/>
        <a:p>
          <a:r>
            <a:rPr lang="ca-ES" dirty="0"/>
            <a:t>Probabilistic Modeling</a:t>
          </a:r>
        </a:p>
        <a:p>
          <a:r>
            <a:rPr lang="en-US" dirty="0"/>
            <a:t>(STAPLE)</a:t>
          </a:r>
        </a:p>
      </dgm:t>
    </dgm:pt>
    <dgm:pt modelId="{A7EA1AF7-0D27-4D1C-8DE5-DEAB145D601A}" type="parTrans" cxnId="{1E5E3968-5060-4CC7-B173-D48F51921131}">
      <dgm:prSet/>
      <dgm:spPr/>
      <dgm:t>
        <a:bodyPr/>
        <a:lstStyle/>
        <a:p>
          <a:endParaRPr lang="en-US"/>
        </a:p>
      </dgm:t>
    </dgm:pt>
    <dgm:pt modelId="{48E20FCB-45AB-4A6B-B1A0-D8EECF4084CC}" type="sibTrans" cxnId="{1E5E3968-5060-4CC7-B173-D48F51921131}">
      <dgm:prSet/>
      <dgm:spPr/>
      <dgm:t>
        <a:bodyPr/>
        <a:lstStyle/>
        <a:p>
          <a:endParaRPr lang="en-US"/>
        </a:p>
      </dgm:t>
    </dgm:pt>
    <dgm:pt modelId="{6020B85C-B772-4B8A-BE61-9D21D1EB2743}">
      <dgm:prSet/>
      <dgm:spPr/>
      <dgm:t>
        <a:bodyPr/>
        <a:lstStyle/>
        <a:p>
          <a:r>
            <a:rPr lang="ca-ES" dirty="0"/>
            <a:t>Other Methods</a:t>
          </a:r>
          <a:endParaRPr lang="en-US" dirty="0"/>
        </a:p>
      </dgm:t>
    </dgm:pt>
    <dgm:pt modelId="{82F72B46-DC5D-4834-AB51-0D6B324975CC}" type="parTrans" cxnId="{D91D8886-6448-4F1A-9AB1-7AC167A0843F}">
      <dgm:prSet/>
      <dgm:spPr/>
      <dgm:t>
        <a:bodyPr/>
        <a:lstStyle/>
        <a:p>
          <a:endParaRPr lang="en-US"/>
        </a:p>
      </dgm:t>
    </dgm:pt>
    <dgm:pt modelId="{4D3B8E87-6F96-4871-9C78-5E476E220E7E}" type="sibTrans" cxnId="{D91D8886-6448-4F1A-9AB1-7AC167A0843F}">
      <dgm:prSet/>
      <dgm:spPr/>
      <dgm:t>
        <a:bodyPr/>
        <a:lstStyle/>
        <a:p>
          <a:endParaRPr lang="en-US"/>
        </a:p>
      </dgm:t>
    </dgm:pt>
    <dgm:pt modelId="{C061BAC5-A2A3-4A37-93D3-E7B17F5C0B4E}" type="pres">
      <dgm:prSet presAssocID="{B8461A4F-92B1-43E1-BEC1-A4FFB826F373}" presName="diagram" presStyleCnt="0">
        <dgm:presLayoutVars>
          <dgm:dir/>
          <dgm:resizeHandles val="exact"/>
        </dgm:presLayoutVars>
      </dgm:prSet>
      <dgm:spPr/>
    </dgm:pt>
    <dgm:pt modelId="{48A494D8-35AA-475E-9F5C-85A1F3F8BF33}" type="pres">
      <dgm:prSet presAssocID="{48453488-296B-40AD-9172-CC4897A628C8}" presName="node" presStyleLbl="node1" presStyleIdx="0" presStyleCnt="6">
        <dgm:presLayoutVars>
          <dgm:bulletEnabled val="1"/>
        </dgm:presLayoutVars>
      </dgm:prSet>
      <dgm:spPr/>
    </dgm:pt>
    <dgm:pt modelId="{E8D06E2C-096D-49C3-846D-BD81BDAE982E}" type="pres">
      <dgm:prSet presAssocID="{CAD1B61F-D67E-4337-93D4-58D4EBA32A7D}" presName="sibTrans" presStyleCnt="0"/>
      <dgm:spPr/>
    </dgm:pt>
    <dgm:pt modelId="{94631E17-0943-4E9E-8507-3F33A7BC35E6}" type="pres">
      <dgm:prSet presAssocID="{65AF1A4D-7A39-4A5F-A6E4-B57CE4D33A1F}" presName="node" presStyleLbl="node1" presStyleIdx="1" presStyleCnt="6">
        <dgm:presLayoutVars>
          <dgm:bulletEnabled val="1"/>
        </dgm:presLayoutVars>
      </dgm:prSet>
      <dgm:spPr/>
    </dgm:pt>
    <dgm:pt modelId="{A0CB94CC-90B8-4F95-A50C-24BAD6BF751E}" type="pres">
      <dgm:prSet presAssocID="{CEFF094D-A61A-4C2A-9B89-33B3FAF1D72A}" presName="sibTrans" presStyleCnt="0"/>
      <dgm:spPr/>
    </dgm:pt>
    <dgm:pt modelId="{303F8641-21AB-4A59-8A75-CAF35B0E87C8}" type="pres">
      <dgm:prSet presAssocID="{032CC77B-795F-438D-BA51-4E28A5B1C02B}" presName="node" presStyleLbl="node1" presStyleIdx="2" presStyleCnt="6">
        <dgm:presLayoutVars>
          <dgm:bulletEnabled val="1"/>
        </dgm:presLayoutVars>
      </dgm:prSet>
      <dgm:spPr/>
    </dgm:pt>
    <dgm:pt modelId="{BF4089E6-C43A-42C9-B120-BB31F3734F24}" type="pres">
      <dgm:prSet presAssocID="{A12639F9-6D46-4DD2-A75B-197BBE16E071}" presName="sibTrans" presStyleCnt="0"/>
      <dgm:spPr/>
    </dgm:pt>
    <dgm:pt modelId="{076BFE3E-134C-41F9-B488-92B5D9145296}" type="pres">
      <dgm:prSet presAssocID="{FD282689-FD03-48F6-85D6-B2F574DC6813}" presName="node" presStyleLbl="node1" presStyleIdx="3" presStyleCnt="6">
        <dgm:presLayoutVars>
          <dgm:bulletEnabled val="1"/>
        </dgm:presLayoutVars>
      </dgm:prSet>
      <dgm:spPr/>
    </dgm:pt>
    <dgm:pt modelId="{022B3A87-C0CC-489E-878E-D146E268F95E}" type="pres">
      <dgm:prSet presAssocID="{C59A7882-0D84-4C0A-984F-CA76BAA3FE5B}" presName="sibTrans" presStyleCnt="0"/>
      <dgm:spPr/>
    </dgm:pt>
    <dgm:pt modelId="{D0475F4A-AC53-490B-A37D-F252A609AE3E}" type="pres">
      <dgm:prSet presAssocID="{C01532C3-1D81-4D4A-A452-25AF8FECB02E}" presName="node" presStyleLbl="node1" presStyleIdx="4" presStyleCnt="6">
        <dgm:presLayoutVars>
          <dgm:bulletEnabled val="1"/>
        </dgm:presLayoutVars>
      </dgm:prSet>
      <dgm:spPr/>
    </dgm:pt>
    <dgm:pt modelId="{285760BA-2FC1-46B6-B73E-E00F6A7E6B5E}" type="pres">
      <dgm:prSet presAssocID="{48E20FCB-45AB-4A6B-B1A0-D8EECF4084CC}" presName="sibTrans" presStyleCnt="0"/>
      <dgm:spPr/>
    </dgm:pt>
    <dgm:pt modelId="{B0995AE2-4512-461D-8A3E-8DE7AC1038B7}" type="pres">
      <dgm:prSet presAssocID="{6020B85C-B772-4B8A-BE61-9D21D1EB2743}" presName="node" presStyleLbl="node1" presStyleIdx="5" presStyleCnt="6">
        <dgm:presLayoutVars>
          <dgm:bulletEnabled val="1"/>
        </dgm:presLayoutVars>
      </dgm:prSet>
      <dgm:spPr/>
    </dgm:pt>
  </dgm:ptLst>
  <dgm:cxnLst>
    <dgm:cxn modelId="{7D87190B-7731-48CE-80D7-E3BE627B93D0}" type="presOf" srcId="{6020B85C-B772-4B8A-BE61-9D21D1EB2743}" destId="{B0995AE2-4512-461D-8A3E-8DE7AC1038B7}" srcOrd="0" destOrd="0" presId="urn:microsoft.com/office/officeart/2005/8/layout/default"/>
    <dgm:cxn modelId="{CAF8E20E-ACA4-425A-A5F8-8790CF121A2F}" srcId="{B8461A4F-92B1-43E1-BEC1-A4FFB826F373}" destId="{FD282689-FD03-48F6-85D6-B2F574DC6813}" srcOrd="3" destOrd="0" parTransId="{4B8B4241-08B6-4189-BCB6-391476732B2B}" sibTransId="{C59A7882-0D84-4C0A-984F-CA76BAA3FE5B}"/>
    <dgm:cxn modelId="{1E5E3968-5060-4CC7-B173-D48F51921131}" srcId="{B8461A4F-92B1-43E1-BEC1-A4FFB826F373}" destId="{C01532C3-1D81-4D4A-A452-25AF8FECB02E}" srcOrd="4" destOrd="0" parTransId="{A7EA1AF7-0D27-4D1C-8DE5-DEAB145D601A}" sibTransId="{48E20FCB-45AB-4A6B-B1A0-D8EECF4084CC}"/>
    <dgm:cxn modelId="{AE447A75-733A-416C-B7D3-A0AA1A697D58}" type="presOf" srcId="{48453488-296B-40AD-9172-CC4897A628C8}" destId="{48A494D8-35AA-475E-9F5C-85A1F3F8BF33}" srcOrd="0" destOrd="0" presId="urn:microsoft.com/office/officeart/2005/8/layout/default"/>
    <dgm:cxn modelId="{D91D8886-6448-4F1A-9AB1-7AC167A0843F}" srcId="{B8461A4F-92B1-43E1-BEC1-A4FFB826F373}" destId="{6020B85C-B772-4B8A-BE61-9D21D1EB2743}" srcOrd="5" destOrd="0" parTransId="{82F72B46-DC5D-4834-AB51-0D6B324975CC}" sibTransId="{4D3B8E87-6F96-4871-9C78-5E476E220E7E}"/>
    <dgm:cxn modelId="{B04C7588-84CA-4153-8315-83DB15A97ABB}" type="presOf" srcId="{B8461A4F-92B1-43E1-BEC1-A4FFB826F373}" destId="{C061BAC5-A2A3-4A37-93D3-E7B17F5C0B4E}" srcOrd="0" destOrd="0" presId="urn:microsoft.com/office/officeart/2005/8/layout/default"/>
    <dgm:cxn modelId="{D671D59D-1C68-48A5-96D1-BABB0BF0BD86}" type="presOf" srcId="{FD282689-FD03-48F6-85D6-B2F574DC6813}" destId="{076BFE3E-134C-41F9-B488-92B5D9145296}" srcOrd="0" destOrd="0" presId="urn:microsoft.com/office/officeart/2005/8/layout/default"/>
    <dgm:cxn modelId="{D5D066C4-A403-44DA-A7AE-84AF5DD6C0CF}" type="presOf" srcId="{C01532C3-1D81-4D4A-A452-25AF8FECB02E}" destId="{D0475F4A-AC53-490B-A37D-F252A609AE3E}" srcOrd="0" destOrd="0" presId="urn:microsoft.com/office/officeart/2005/8/layout/default"/>
    <dgm:cxn modelId="{EB4E91CD-7E07-4F29-824E-350053D29589}" srcId="{B8461A4F-92B1-43E1-BEC1-A4FFB826F373}" destId="{032CC77B-795F-438D-BA51-4E28A5B1C02B}" srcOrd="2" destOrd="0" parTransId="{1B2FE08C-6D32-4962-804D-494ABF8CA41E}" sibTransId="{A12639F9-6D46-4DD2-A75B-197BBE16E071}"/>
    <dgm:cxn modelId="{D8F8B6DB-9402-4529-904A-DAD68A399FF7}" srcId="{B8461A4F-92B1-43E1-BEC1-A4FFB826F373}" destId="{48453488-296B-40AD-9172-CC4897A628C8}" srcOrd="0" destOrd="0" parTransId="{1A2AB4A6-60FE-4BC6-9E51-A2A3B181ADE2}" sibTransId="{CAD1B61F-D67E-4337-93D4-58D4EBA32A7D}"/>
    <dgm:cxn modelId="{05695BEF-780A-4368-AC7D-63F6A5E7A867}" srcId="{B8461A4F-92B1-43E1-BEC1-A4FFB826F373}" destId="{65AF1A4D-7A39-4A5F-A6E4-B57CE4D33A1F}" srcOrd="1" destOrd="0" parTransId="{943C2798-E6FB-44EB-959E-8CF9CF4583AA}" sibTransId="{CEFF094D-A61A-4C2A-9B89-33B3FAF1D72A}"/>
    <dgm:cxn modelId="{9E6AF5F2-D679-4BCC-8513-DAA8EB83BAB6}" type="presOf" srcId="{032CC77B-795F-438D-BA51-4E28A5B1C02B}" destId="{303F8641-21AB-4A59-8A75-CAF35B0E87C8}" srcOrd="0" destOrd="0" presId="urn:microsoft.com/office/officeart/2005/8/layout/default"/>
    <dgm:cxn modelId="{10D8FAFC-F2AB-465D-B5E2-E031768EBF26}" type="presOf" srcId="{65AF1A4D-7A39-4A5F-A6E4-B57CE4D33A1F}" destId="{94631E17-0943-4E9E-8507-3F33A7BC35E6}" srcOrd="0" destOrd="0" presId="urn:microsoft.com/office/officeart/2005/8/layout/default"/>
    <dgm:cxn modelId="{C4375E00-7708-4E36-8FE5-B7239935F06B}" type="presParOf" srcId="{C061BAC5-A2A3-4A37-93D3-E7B17F5C0B4E}" destId="{48A494D8-35AA-475E-9F5C-85A1F3F8BF33}" srcOrd="0" destOrd="0" presId="urn:microsoft.com/office/officeart/2005/8/layout/default"/>
    <dgm:cxn modelId="{7CC41475-A64B-4B7F-AE4F-C1E92A7634D4}" type="presParOf" srcId="{C061BAC5-A2A3-4A37-93D3-E7B17F5C0B4E}" destId="{E8D06E2C-096D-49C3-846D-BD81BDAE982E}" srcOrd="1" destOrd="0" presId="urn:microsoft.com/office/officeart/2005/8/layout/default"/>
    <dgm:cxn modelId="{862A1669-1FBA-4F9B-A6EE-E11BDB02D73D}" type="presParOf" srcId="{C061BAC5-A2A3-4A37-93D3-E7B17F5C0B4E}" destId="{94631E17-0943-4E9E-8507-3F33A7BC35E6}" srcOrd="2" destOrd="0" presId="urn:microsoft.com/office/officeart/2005/8/layout/default"/>
    <dgm:cxn modelId="{655D9AD7-7B1E-43EE-8084-EBE33440871A}" type="presParOf" srcId="{C061BAC5-A2A3-4A37-93D3-E7B17F5C0B4E}" destId="{A0CB94CC-90B8-4F95-A50C-24BAD6BF751E}" srcOrd="3" destOrd="0" presId="urn:microsoft.com/office/officeart/2005/8/layout/default"/>
    <dgm:cxn modelId="{80A29C3F-75F1-4F71-8755-3241C7797C89}" type="presParOf" srcId="{C061BAC5-A2A3-4A37-93D3-E7B17F5C0B4E}" destId="{303F8641-21AB-4A59-8A75-CAF35B0E87C8}" srcOrd="4" destOrd="0" presId="urn:microsoft.com/office/officeart/2005/8/layout/default"/>
    <dgm:cxn modelId="{753C33F9-0413-420E-9C2D-FA6D211C0101}" type="presParOf" srcId="{C061BAC5-A2A3-4A37-93D3-E7B17F5C0B4E}" destId="{BF4089E6-C43A-42C9-B120-BB31F3734F24}" srcOrd="5" destOrd="0" presId="urn:microsoft.com/office/officeart/2005/8/layout/default"/>
    <dgm:cxn modelId="{F1094AC8-B881-48A4-8E63-41183C3286AE}" type="presParOf" srcId="{C061BAC5-A2A3-4A37-93D3-E7B17F5C0B4E}" destId="{076BFE3E-134C-41F9-B488-92B5D9145296}" srcOrd="6" destOrd="0" presId="urn:microsoft.com/office/officeart/2005/8/layout/default"/>
    <dgm:cxn modelId="{08C33C7E-4091-4F83-ADAA-93E69433FA93}" type="presParOf" srcId="{C061BAC5-A2A3-4A37-93D3-E7B17F5C0B4E}" destId="{022B3A87-C0CC-489E-878E-D146E268F95E}" srcOrd="7" destOrd="0" presId="urn:microsoft.com/office/officeart/2005/8/layout/default"/>
    <dgm:cxn modelId="{CA0A7D80-7585-4E3A-B9E5-6330052298F2}" type="presParOf" srcId="{C061BAC5-A2A3-4A37-93D3-E7B17F5C0B4E}" destId="{D0475F4A-AC53-490B-A37D-F252A609AE3E}" srcOrd="8" destOrd="0" presId="urn:microsoft.com/office/officeart/2005/8/layout/default"/>
    <dgm:cxn modelId="{F253A238-FEF6-48F7-BF9E-AEB4839B3AD6}" type="presParOf" srcId="{C061BAC5-A2A3-4A37-93D3-E7B17F5C0B4E}" destId="{285760BA-2FC1-46B6-B73E-E00F6A7E6B5E}" srcOrd="9" destOrd="0" presId="urn:microsoft.com/office/officeart/2005/8/layout/default"/>
    <dgm:cxn modelId="{232ADEEE-718C-4417-98B2-42C83056BA85}" type="presParOf" srcId="{C061BAC5-A2A3-4A37-93D3-E7B17F5C0B4E}" destId="{B0995AE2-4512-461D-8A3E-8DE7AC1038B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D1D15C-7C86-4580-BE55-F34C97793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1BCD4A-6979-4229-94BE-4B6B4992D354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Motivation</a:t>
          </a:r>
          <a:endParaRPr lang="en-US"/>
        </a:p>
      </dgm:t>
    </dgm:pt>
    <dgm:pt modelId="{56B993F5-BBDA-491D-A7F6-7D72E5D0E6F4}" type="parTrans" cxnId="{DD9FCE2B-88AA-405A-A8ED-53EAA605B08F}">
      <dgm:prSet/>
      <dgm:spPr/>
      <dgm:t>
        <a:bodyPr/>
        <a:lstStyle/>
        <a:p>
          <a:endParaRPr lang="en-US"/>
        </a:p>
      </dgm:t>
    </dgm:pt>
    <dgm:pt modelId="{539C0DCE-ED64-4D83-B3AF-B166DEDCA224}" type="sibTrans" cxnId="{DD9FCE2B-88AA-405A-A8ED-53EAA605B08F}">
      <dgm:prSet/>
      <dgm:spPr/>
      <dgm:t>
        <a:bodyPr/>
        <a:lstStyle/>
        <a:p>
          <a:endParaRPr lang="en-US"/>
        </a:p>
      </dgm:t>
    </dgm:pt>
    <dgm:pt modelId="{18DABCDA-1BDF-4CDF-8B12-073AE47FBCC6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Label fusion techniques</a:t>
          </a:r>
          <a:endParaRPr lang="en-US"/>
        </a:p>
      </dgm:t>
    </dgm:pt>
    <dgm:pt modelId="{9FBD3C46-2D8A-44CB-AF87-4ACFF4247902}" type="parTrans" cxnId="{E943D15A-9DD0-44BF-82D3-B048A007292F}">
      <dgm:prSet/>
      <dgm:spPr/>
      <dgm:t>
        <a:bodyPr/>
        <a:lstStyle/>
        <a:p>
          <a:endParaRPr lang="en-US"/>
        </a:p>
      </dgm:t>
    </dgm:pt>
    <dgm:pt modelId="{74D4D251-75A7-49C1-B824-0E8BE89F5687}" type="sibTrans" cxnId="{E943D15A-9DD0-44BF-82D3-B048A007292F}">
      <dgm:prSet/>
      <dgm:spPr/>
      <dgm:t>
        <a:bodyPr/>
        <a:lstStyle/>
        <a:p>
          <a:endParaRPr lang="en-US"/>
        </a:p>
      </dgm:t>
    </dgm:pt>
    <dgm:pt modelId="{09B64724-6A59-479B-851F-7E52B99ED0A3}">
      <dgm:prSet/>
      <dgm:spPr/>
      <dgm:t>
        <a:bodyPr/>
        <a:lstStyle/>
        <a:p>
          <a:r>
            <a:rPr lang="ca-ES" dirty="0"/>
            <a:t>Method wrt Disagreement</a:t>
          </a:r>
          <a:endParaRPr lang="en-US" dirty="0"/>
        </a:p>
      </dgm:t>
    </dgm:pt>
    <dgm:pt modelId="{C5983C37-ADF9-4E8B-AB52-06854D6F083B}" type="parTrans" cxnId="{FC0F5297-2106-43A3-B80D-E36820598AA4}">
      <dgm:prSet/>
      <dgm:spPr/>
      <dgm:t>
        <a:bodyPr/>
        <a:lstStyle/>
        <a:p>
          <a:endParaRPr lang="en-US"/>
        </a:p>
      </dgm:t>
    </dgm:pt>
    <dgm:pt modelId="{7F92F5D2-8DCD-43D2-9399-D7E956C14EF4}" type="sibTrans" cxnId="{FC0F5297-2106-43A3-B80D-E36820598AA4}">
      <dgm:prSet/>
      <dgm:spPr/>
      <dgm:t>
        <a:bodyPr/>
        <a:lstStyle/>
        <a:p>
          <a:endParaRPr lang="en-US"/>
        </a:p>
      </dgm:t>
    </dgm:pt>
    <dgm:pt modelId="{69D7E378-B811-4868-A366-91218D0A75D1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Soft vs Hard on Training/Validation</a:t>
          </a:r>
          <a:endParaRPr lang="en-US" dirty="0"/>
        </a:p>
      </dgm:t>
    </dgm:pt>
    <dgm:pt modelId="{39F07D6E-4939-4917-81AB-B0F62723ADB8}" type="parTrans" cxnId="{8197D698-8C56-4E6D-9C72-AD392BD7EF16}">
      <dgm:prSet/>
      <dgm:spPr/>
      <dgm:t>
        <a:bodyPr/>
        <a:lstStyle/>
        <a:p>
          <a:endParaRPr lang="en-US"/>
        </a:p>
      </dgm:t>
    </dgm:pt>
    <dgm:pt modelId="{C5DB7FFA-DA48-4021-9EC9-37DAEEA2172C}" type="sibTrans" cxnId="{8197D698-8C56-4E6D-9C72-AD392BD7EF16}">
      <dgm:prSet/>
      <dgm:spPr/>
      <dgm:t>
        <a:bodyPr/>
        <a:lstStyle/>
        <a:p>
          <a:endParaRPr lang="en-US"/>
        </a:p>
      </dgm:t>
    </dgm:pt>
    <dgm:pt modelId="{44B8CD07-6E14-4666-9E16-4F27CC2BCA6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Impact on Calibration</a:t>
          </a:r>
          <a:endParaRPr lang="en-US"/>
        </a:p>
      </dgm:t>
    </dgm:pt>
    <dgm:pt modelId="{9FF95AEA-BDFB-46AE-85D5-2FB13CC2C51A}" type="parTrans" cxnId="{5DF1B15A-3B5D-4B0B-8B10-93027AEBF98C}">
      <dgm:prSet/>
      <dgm:spPr/>
      <dgm:t>
        <a:bodyPr/>
        <a:lstStyle/>
        <a:p>
          <a:endParaRPr lang="en-US"/>
        </a:p>
      </dgm:t>
    </dgm:pt>
    <dgm:pt modelId="{3E43EDF1-41C3-4DDD-98C4-408205A58F9B}" type="sibTrans" cxnId="{5DF1B15A-3B5D-4B0B-8B10-93027AEBF98C}">
      <dgm:prSet/>
      <dgm:spPr/>
      <dgm:t>
        <a:bodyPr/>
        <a:lstStyle/>
        <a:p>
          <a:endParaRPr lang="en-US"/>
        </a:p>
      </dgm:t>
    </dgm:pt>
    <dgm:pt modelId="{31B7C95E-B11F-47D5-9A30-8CD7DE763605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Label Fusion Choice &amp; Takeaways</a:t>
          </a:r>
          <a:endParaRPr lang="en-US" dirty="0"/>
        </a:p>
      </dgm:t>
    </dgm:pt>
    <dgm:pt modelId="{372A03DB-F2E5-4B71-8182-87C63879A56B}" type="parTrans" cxnId="{D81E3564-242A-4791-8B77-C237311D5BB1}">
      <dgm:prSet/>
      <dgm:spPr/>
      <dgm:t>
        <a:bodyPr/>
        <a:lstStyle/>
        <a:p>
          <a:endParaRPr lang="es-ES"/>
        </a:p>
      </dgm:t>
    </dgm:pt>
    <dgm:pt modelId="{49D9151B-5AD5-4E37-A087-B887AE08C4B4}" type="sibTrans" cxnId="{D81E3564-242A-4791-8B77-C237311D5BB1}">
      <dgm:prSet/>
      <dgm:spPr/>
      <dgm:t>
        <a:bodyPr/>
        <a:lstStyle/>
        <a:p>
          <a:endParaRPr lang="es-ES"/>
        </a:p>
      </dgm:t>
    </dgm:pt>
    <dgm:pt modelId="{937DEBA7-EBC8-402F-B26A-DD1946D9BB48}" type="pres">
      <dgm:prSet presAssocID="{4BD1D15C-7C86-4580-BE55-F34C977933AE}" presName="linear" presStyleCnt="0">
        <dgm:presLayoutVars>
          <dgm:animLvl val="lvl"/>
          <dgm:resizeHandles val="exact"/>
        </dgm:presLayoutVars>
      </dgm:prSet>
      <dgm:spPr/>
    </dgm:pt>
    <dgm:pt modelId="{5FE1771A-A8B1-4E81-97F5-AD2DA7E344EE}" type="pres">
      <dgm:prSet presAssocID="{361BCD4A-6979-4229-94BE-4B6B4992D3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B9C6D0F-DFED-416E-99B2-E71ED5BB2898}" type="pres">
      <dgm:prSet presAssocID="{539C0DCE-ED64-4D83-B3AF-B166DEDCA224}" presName="spacer" presStyleCnt="0"/>
      <dgm:spPr/>
    </dgm:pt>
    <dgm:pt modelId="{FEB7A37C-CD4A-436B-A851-C563DCDB4B3E}" type="pres">
      <dgm:prSet presAssocID="{18DABCDA-1BDF-4CDF-8B12-073AE47FBC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6B78E1F-9D1F-4884-AA0C-6DF308649E4E}" type="pres">
      <dgm:prSet presAssocID="{74D4D251-75A7-49C1-B824-0E8BE89F5687}" presName="spacer" presStyleCnt="0"/>
      <dgm:spPr/>
    </dgm:pt>
    <dgm:pt modelId="{27A98A9A-3401-440A-8CC6-546DF0FA2CB4}" type="pres">
      <dgm:prSet presAssocID="{09B64724-6A59-479B-851F-7E52B99ED0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AC2AE5B-0CA0-44CC-9052-EDE7533663B9}" type="pres">
      <dgm:prSet presAssocID="{7F92F5D2-8DCD-43D2-9399-D7E956C14EF4}" presName="spacer" presStyleCnt="0"/>
      <dgm:spPr/>
    </dgm:pt>
    <dgm:pt modelId="{02FD74D9-5F4E-4431-88B8-3F6FEEAC005D}" type="pres">
      <dgm:prSet presAssocID="{69D7E378-B811-4868-A366-91218D0A75D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69B6736-421F-42AC-81B0-F26817581498}" type="pres">
      <dgm:prSet presAssocID="{C5DB7FFA-DA48-4021-9EC9-37DAEEA2172C}" presName="spacer" presStyleCnt="0"/>
      <dgm:spPr/>
    </dgm:pt>
    <dgm:pt modelId="{533D1F71-0B5D-4591-BC71-6DC872878E67}" type="pres">
      <dgm:prSet presAssocID="{44B8CD07-6E14-4666-9E16-4F27CC2BCA6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D8ED29-8783-4BFB-86BB-49CBBE17F5E8}" type="pres">
      <dgm:prSet presAssocID="{3E43EDF1-41C3-4DDD-98C4-408205A58F9B}" presName="spacer" presStyleCnt="0"/>
      <dgm:spPr/>
    </dgm:pt>
    <dgm:pt modelId="{308A0D4D-CDF5-460F-BD1C-4FD7F78A0699}" type="pres">
      <dgm:prSet presAssocID="{31B7C95E-B11F-47D5-9A30-8CD7DE7636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9FCE2B-88AA-405A-A8ED-53EAA605B08F}" srcId="{4BD1D15C-7C86-4580-BE55-F34C977933AE}" destId="{361BCD4A-6979-4229-94BE-4B6B4992D354}" srcOrd="0" destOrd="0" parTransId="{56B993F5-BBDA-491D-A7F6-7D72E5D0E6F4}" sibTransId="{539C0DCE-ED64-4D83-B3AF-B166DEDCA224}"/>
    <dgm:cxn modelId="{D81E3564-242A-4791-8B77-C237311D5BB1}" srcId="{4BD1D15C-7C86-4580-BE55-F34C977933AE}" destId="{31B7C95E-B11F-47D5-9A30-8CD7DE763605}" srcOrd="5" destOrd="0" parTransId="{372A03DB-F2E5-4B71-8182-87C63879A56B}" sibTransId="{49D9151B-5AD5-4E37-A087-B887AE08C4B4}"/>
    <dgm:cxn modelId="{5DF1B15A-3B5D-4B0B-8B10-93027AEBF98C}" srcId="{4BD1D15C-7C86-4580-BE55-F34C977933AE}" destId="{44B8CD07-6E14-4666-9E16-4F27CC2BCA63}" srcOrd="4" destOrd="0" parTransId="{9FF95AEA-BDFB-46AE-85D5-2FB13CC2C51A}" sibTransId="{3E43EDF1-41C3-4DDD-98C4-408205A58F9B}"/>
    <dgm:cxn modelId="{E943D15A-9DD0-44BF-82D3-B048A007292F}" srcId="{4BD1D15C-7C86-4580-BE55-F34C977933AE}" destId="{18DABCDA-1BDF-4CDF-8B12-073AE47FBCC6}" srcOrd="1" destOrd="0" parTransId="{9FBD3C46-2D8A-44CB-AF87-4ACFF4247902}" sibTransId="{74D4D251-75A7-49C1-B824-0E8BE89F5687}"/>
    <dgm:cxn modelId="{CFF23788-C490-4C13-90B2-BD7FEDDC5B93}" type="presOf" srcId="{361BCD4A-6979-4229-94BE-4B6B4992D354}" destId="{5FE1771A-A8B1-4E81-97F5-AD2DA7E344EE}" srcOrd="0" destOrd="0" presId="urn:microsoft.com/office/officeart/2005/8/layout/vList2"/>
    <dgm:cxn modelId="{39634E8B-E88B-4AC0-B4E5-12E39DF15BF8}" type="presOf" srcId="{4BD1D15C-7C86-4580-BE55-F34C977933AE}" destId="{937DEBA7-EBC8-402F-B26A-DD1946D9BB48}" srcOrd="0" destOrd="0" presId="urn:microsoft.com/office/officeart/2005/8/layout/vList2"/>
    <dgm:cxn modelId="{FC0F5297-2106-43A3-B80D-E36820598AA4}" srcId="{4BD1D15C-7C86-4580-BE55-F34C977933AE}" destId="{09B64724-6A59-479B-851F-7E52B99ED0A3}" srcOrd="2" destOrd="0" parTransId="{C5983C37-ADF9-4E8B-AB52-06854D6F083B}" sibTransId="{7F92F5D2-8DCD-43D2-9399-D7E956C14EF4}"/>
    <dgm:cxn modelId="{8197D698-8C56-4E6D-9C72-AD392BD7EF16}" srcId="{4BD1D15C-7C86-4580-BE55-F34C977933AE}" destId="{69D7E378-B811-4868-A366-91218D0A75D1}" srcOrd="3" destOrd="0" parTransId="{39F07D6E-4939-4917-81AB-B0F62723ADB8}" sibTransId="{C5DB7FFA-DA48-4021-9EC9-37DAEEA2172C}"/>
    <dgm:cxn modelId="{0EF3A8A0-10A5-43AA-ADE3-53A55D7717E0}" type="presOf" srcId="{18DABCDA-1BDF-4CDF-8B12-073AE47FBCC6}" destId="{FEB7A37C-CD4A-436B-A851-C563DCDB4B3E}" srcOrd="0" destOrd="0" presId="urn:microsoft.com/office/officeart/2005/8/layout/vList2"/>
    <dgm:cxn modelId="{9EBD01B0-D6B9-401E-8B15-8132A0970696}" type="presOf" srcId="{69D7E378-B811-4868-A366-91218D0A75D1}" destId="{02FD74D9-5F4E-4431-88B8-3F6FEEAC005D}" srcOrd="0" destOrd="0" presId="urn:microsoft.com/office/officeart/2005/8/layout/vList2"/>
    <dgm:cxn modelId="{7CFFCDC7-15F2-483A-ADE4-B71B495825C4}" type="presOf" srcId="{44B8CD07-6E14-4666-9E16-4F27CC2BCA63}" destId="{533D1F71-0B5D-4591-BC71-6DC872878E67}" srcOrd="0" destOrd="0" presId="urn:microsoft.com/office/officeart/2005/8/layout/vList2"/>
    <dgm:cxn modelId="{7A69BFDB-97CF-4FBC-BACD-DE3DB4B3A40E}" type="presOf" srcId="{09B64724-6A59-479B-851F-7E52B99ED0A3}" destId="{27A98A9A-3401-440A-8CC6-546DF0FA2CB4}" srcOrd="0" destOrd="0" presId="urn:microsoft.com/office/officeart/2005/8/layout/vList2"/>
    <dgm:cxn modelId="{FF7E3BEC-D7C9-4009-B2AB-08B0F46121D3}" type="presOf" srcId="{31B7C95E-B11F-47D5-9A30-8CD7DE763605}" destId="{308A0D4D-CDF5-460F-BD1C-4FD7F78A0699}" srcOrd="0" destOrd="0" presId="urn:microsoft.com/office/officeart/2005/8/layout/vList2"/>
    <dgm:cxn modelId="{70F95A0F-C3C8-4571-8716-9FA84E30E18E}" type="presParOf" srcId="{937DEBA7-EBC8-402F-B26A-DD1946D9BB48}" destId="{5FE1771A-A8B1-4E81-97F5-AD2DA7E344EE}" srcOrd="0" destOrd="0" presId="urn:microsoft.com/office/officeart/2005/8/layout/vList2"/>
    <dgm:cxn modelId="{6CF6A04A-0586-415C-9E2A-E989FFEF5C82}" type="presParOf" srcId="{937DEBA7-EBC8-402F-B26A-DD1946D9BB48}" destId="{8B9C6D0F-DFED-416E-99B2-E71ED5BB2898}" srcOrd="1" destOrd="0" presId="urn:microsoft.com/office/officeart/2005/8/layout/vList2"/>
    <dgm:cxn modelId="{D662176C-A3CA-465A-A34E-962D7F0A8CF0}" type="presParOf" srcId="{937DEBA7-EBC8-402F-B26A-DD1946D9BB48}" destId="{FEB7A37C-CD4A-436B-A851-C563DCDB4B3E}" srcOrd="2" destOrd="0" presId="urn:microsoft.com/office/officeart/2005/8/layout/vList2"/>
    <dgm:cxn modelId="{98A99F7E-837F-4689-B315-62C8C5CDE7AA}" type="presParOf" srcId="{937DEBA7-EBC8-402F-B26A-DD1946D9BB48}" destId="{36B78E1F-9D1F-4884-AA0C-6DF308649E4E}" srcOrd="3" destOrd="0" presId="urn:microsoft.com/office/officeart/2005/8/layout/vList2"/>
    <dgm:cxn modelId="{84C3C3BA-1C46-45F6-A877-F9EE572DB7E6}" type="presParOf" srcId="{937DEBA7-EBC8-402F-B26A-DD1946D9BB48}" destId="{27A98A9A-3401-440A-8CC6-546DF0FA2CB4}" srcOrd="4" destOrd="0" presId="urn:microsoft.com/office/officeart/2005/8/layout/vList2"/>
    <dgm:cxn modelId="{0F5C1FD7-C90C-4707-88AF-C53E8FC18111}" type="presParOf" srcId="{937DEBA7-EBC8-402F-B26A-DD1946D9BB48}" destId="{FAC2AE5B-0CA0-44CC-9052-EDE7533663B9}" srcOrd="5" destOrd="0" presId="urn:microsoft.com/office/officeart/2005/8/layout/vList2"/>
    <dgm:cxn modelId="{43936C4D-66AB-4CE7-B45A-34A454A36F8E}" type="presParOf" srcId="{937DEBA7-EBC8-402F-B26A-DD1946D9BB48}" destId="{02FD74D9-5F4E-4431-88B8-3F6FEEAC005D}" srcOrd="6" destOrd="0" presId="urn:microsoft.com/office/officeart/2005/8/layout/vList2"/>
    <dgm:cxn modelId="{33B12415-E084-435C-8B25-0451C7B849F7}" type="presParOf" srcId="{937DEBA7-EBC8-402F-B26A-DD1946D9BB48}" destId="{B69B6736-421F-42AC-81B0-F26817581498}" srcOrd="7" destOrd="0" presId="urn:microsoft.com/office/officeart/2005/8/layout/vList2"/>
    <dgm:cxn modelId="{EAD47E7F-B545-4712-A4FF-4706EABC13DB}" type="presParOf" srcId="{937DEBA7-EBC8-402F-B26A-DD1946D9BB48}" destId="{533D1F71-0B5D-4591-BC71-6DC872878E67}" srcOrd="8" destOrd="0" presId="urn:microsoft.com/office/officeart/2005/8/layout/vList2"/>
    <dgm:cxn modelId="{67BF9DA5-436C-4F9B-8568-A3428B8A13A1}" type="presParOf" srcId="{937DEBA7-EBC8-402F-B26A-DD1946D9BB48}" destId="{EAD8ED29-8783-4BFB-86BB-49CBBE17F5E8}" srcOrd="9" destOrd="0" presId="urn:microsoft.com/office/officeart/2005/8/layout/vList2"/>
    <dgm:cxn modelId="{0279E5E1-C478-4F9D-A923-E05D25EA35D4}" type="presParOf" srcId="{937DEBA7-EBC8-402F-B26A-DD1946D9BB48}" destId="{308A0D4D-CDF5-460F-BD1C-4FD7F78A069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D1D15C-7C86-4580-BE55-F34C97793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1BCD4A-6979-4229-94BE-4B6B4992D354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Motivation</a:t>
          </a:r>
          <a:endParaRPr lang="en-US"/>
        </a:p>
      </dgm:t>
    </dgm:pt>
    <dgm:pt modelId="{56B993F5-BBDA-491D-A7F6-7D72E5D0E6F4}" type="parTrans" cxnId="{DD9FCE2B-88AA-405A-A8ED-53EAA605B08F}">
      <dgm:prSet/>
      <dgm:spPr/>
      <dgm:t>
        <a:bodyPr/>
        <a:lstStyle/>
        <a:p>
          <a:endParaRPr lang="en-US"/>
        </a:p>
      </dgm:t>
    </dgm:pt>
    <dgm:pt modelId="{539C0DCE-ED64-4D83-B3AF-B166DEDCA224}" type="sibTrans" cxnId="{DD9FCE2B-88AA-405A-A8ED-53EAA605B08F}">
      <dgm:prSet/>
      <dgm:spPr/>
      <dgm:t>
        <a:bodyPr/>
        <a:lstStyle/>
        <a:p>
          <a:endParaRPr lang="en-US"/>
        </a:p>
      </dgm:t>
    </dgm:pt>
    <dgm:pt modelId="{18DABCDA-1BDF-4CDF-8B12-073AE47FBCC6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Label fusion techniques</a:t>
          </a:r>
          <a:endParaRPr lang="en-US"/>
        </a:p>
      </dgm:t>
    </dgm:pt>
    <dgm:pt modelId="{9FBD3C46-2D8A-44CB-AF87-4ACFF4247902}" type="parTrans" cxnId="{E943D15A-9DD0-44BF-82D3-B048A007292F}">
      <dgm:prSet/>
      <dgm:spPr/>
      <dgm:t>
        <a:bodyPr/>
        <a:lstStyle/>
        <a:p>
          <a:endParaRPr lang="en-US"/>
        </a:p>
      </dgm:t>
    </dgm:pt>
    <dgm:pt modelId="{74D4D251-75A7-49C1-B824-0E8BE89F5687}" type="sibTrans" cxnId="{E943D15A-9DD0-44BF-82D3-B048A007292F}">
      <dgm:prSet/>
      <dgm:spPr/>
      <dgm:t>
        <a:bodyPr/>
        <a:lstStyle/>
        <a:p>
          <a:endParaRPr lang="en-US"/>
        </a:p>
      </dgm:t>
    </dgm:pt>
    <dgm:pt modelId="{09B64724-6A59-479B-851F-7E52B99ED0A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Method wrt Disagreement</a:t>
          </a:r>
          <a:endParaRPr lang="en-US" dirty="0"/>
        </a:p>
      </dgm:t>
    </dgm:pt>
    <dgm:pt modelId="{C5983C37-ADF9-4E8B-AB52-06854D6F083B}" type="parTrans" cxnId="{FC0F5297-2106-43A3-B80D-E36820598AA4}">
      <dgm:prSet/>
      <dgm:spPr/>
      <dgm:t>
        <a:bodyPr/>
        <a:lstStyle/>
        <a:p>
          <a:endParaRPr lang="en-US"/>
        </a:p>
      </dgm:t>
    </dgm:pt>
    <dgm:pt modelId="{7F92F5D2-8DCD-43D2-9399-D7E956C14EF4}" type="sibTrans" cxnId="{FC0F5297-2106-43A3-B80D-E36820598AA4}">
      <dgm:prSet/>
      <dgm:spPr/>
      <dgm:t>
        <a:bodyPr/>
        <a:lstStyle/>
        <a:p>
          <a:endParaRPr lang="en-US"/>
        </a:p>
      </dgm:t>
    </dgm:pt>
    <dgm:pt modelId="{69D7E378-B811-4868-A366-91218D0A75D1}">
      <dgm:prSet/>
      <dgm:spPr/>
      <dgm:t>
        <a:bodyPr/>
        <a:lstStyle/>
        <a:p>
          <a:r>
            <a:rPr lang="ca-ES" dirty="0"/>
            <a:t>Soft vs Hard on Training/Validation</a:t>
          </a:r>
          <a:endParaRPr lang="en-US" dirty="0"/>
        </a:p>
      </dgm:t>
    </dgm:pt>
    <dgm:pt modelId="{39F07D6E-4939-4917-81AB-B0F62723ADB8}" type="parTrans" cxnId="{8197D698-8C56-4E6D-9C72-AD392BD7EF16}">
      <dgm:prSet/>
      <dgm:spPr/>
      <dgm:t>
        <a:bodyPr/>
        <a:lstStyle/>
        <a:p>
          <a:endParaRPr lang="en-US"/>
        </a:p>
      </dgm:t>
    </dgm:pt>
    <dgm:pt modelId="{C5DB7FFA-DA48-4021-9EC9-37DAEEA2172C}" type="sibTrans" cxnId="{8197D698-8C56-4E6D-9C72-AD392BD7EF16}">
      <dgm:prSet/>
      <dgm:spPr/>
      <dgm:t>
        <a:bodyPr/>
        <a:lstStyle/>
        <a:p>
          <a:endParaRPr lang="en-US"/>
        </a:p>
      </dgm:t>
    </dgm:pt>
    <dgm:pt modelId="{44B8CD07-6E14-4666-9E16-4F27CC2BCA6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Impact on Calibration</a:t>
          </a:r>
          <a:endParaRPr lang="en-US"/>
        </a:p>
      </dgm:t>
    </dgm:pt>
    <dgm:pt modelId="{9FF95AEA-BDFB-46AE-85D5-2FB13CC2C51A}" type="parTrans" cxnId="{5DF1B15A-3B5D-4B0B-8B10-93027AEBF98C}">
      <dgm:prSet/>
      <dgm:spPr/>
      <dgm:t>
        <a:bodyPr/>
        <a:lstStyle/>
        <a:p>
          <a:endParaRPr lang="en-US"/>
        </a:p>
      </dgm:t>
    </dgm:pt>
    <dgm:pt modelId="{3E43EDF1-41C3-4DDD-98C4-408205A58F9B}" type="sibTrans" cxnId="{5DF1B15A-3B5D-4B0B-8B10-93027AEBF98C}">
      <dgm:prSet/>
      <dgm:spPr/>
      <dgm:t>
        <a:bodyPr/>
        <a:lstStyle/>
        <a:p>
          <a:endParaRPr lang="en-US"/>
        </a:p>
      </dgm:t>
    </dgm:pt>
    <dgm:pt modelId="{31B7C95E-B11F-47D5-9A30-8CD7DE763605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Label Fusion Choice &amp; Takeaways</a:t>
          </a:r>
          <a:endParaRPr lang="en-US" dirty="0"/>
        </a:p>
      </dgm:t>
    </dgm:pt>
    <dgm:pt modelId="{372A03DB-F2E5-4B71-8182-87C63879A56B}" type="parTrans" cxnId="{D81E3564-242A-4791-8B77-C237311D5BB1}">
      <dgm:prSet/>
      <dgm:spPr/>
      <dgm:t>
        <a:bodyPr/>
        <a:lstStyle/>
        <a:p>
          <a:endParaRPr lang="es-ES"/>
        </a:p>
      </dgm:t>
    </dgm:pt>
    <dgm:pt modelId="{49D9151B-5AD5-4E37-A087-B887AE08C4B4}" type="sibTrans" cxnId="{D81E3564-242A-4791-8B77-C237311D5BB1}">
      <dgm:prSet/>
      <dgm:spPr/>
      <dgm:t>
        <a:bodyPr/>
        <a:lstStyle/>
        <a:p>
          <a:endParaRPr lang="es-ES"/>
        </a:p>
      </dgm:t>
    </dgm:pt>
    <dgm:pt modelId="{937DEBA7-EBC8-402F-B26A-DD1946D9BB48}" type="pres">
      <dgm:prSet presAssocID="{4BD1D15C-7C86-4580-BE55-F34C977933AE}" presName="linear" presStyleCnt="0">
        <dgm:presLayoutVars>
          <dgm:animLvl val="lvl"/>
          <dgm:resizeHandles val="exact"/>
        </dgm:presLayoutVars>
      </dgm:prSet>
      <dgm:spPr/>
    </dgm:pt>
    <dgm:pt modelId="{5FE1771A-A8B1-4E81-97F5-AD2DA7E344EE}" type="pres">
      <dgm:prSet presAssocID="{361BCD4A-6979-4229-94BE-4B6B4992D3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B9C6D0F-DFED-416E-99B2-E71ED5BB2898}" type="pres">
      <dgm:prSet presAssocID="{539C0DCE-ED64-4D83-B3AF-B166DEDCA224}" presName="spacer" presStyleCnt="0"/>
      <dgm:spPr/>
    </dgm:pt>
    <dgm:pt modelId="{FEB7A37C-CD4A-436B-A851-C563DCDB4B3E}" type="pres">
      <dgm:prSet presAssocID="{18DABCDA-1BDF-4CDF-8B12-073AE47FBC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6B78E1F-9D1F-4884-AA0C-6DF308649E4E}" type="pres">
      <dgm:prSet presAssocID="{74D4D251-75A7-49C1-B824-0E8BE89F5687}" presName="spacer" presStyleCnt="0"/>
      <dgm:spPr/>
    </dgm:pt>
    <dgm:pt modelId="{27A98A9A-3401-440A-8CC6-546DF0FA2CB4}" type="pres">
      <dgm:prSet presAssocID="{09B64724-6A59-479B-851F-7E52B99ED0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AC2AE5B-0CA0-44CC-9052-EDE7533663B9}" type="pres">
      <dgm:prSet presAssocID="{7F92F5D2-8DCD-43D2-9399-D7E956C14EF4}" presName="spacer" presStyleCnt="0"/>
      <dgm:spPr/>
    </dgm:pt>
    <dgm:pt modelId="{02FD74D9-5F4E-4431-88B8-3F6FEEAC005D}" type="pres">
      <dgm:prSet presAssocID="{69D7E378-B811-4868-A366-91218D0A75D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69B6736-421F-42AC-81B0-F26817581498}" type="pres">
      <dgm:prSet presAssocID="{C5DB7FFA-DA48-4021-9EC9-37DAEEA2172C}" presName="spacer" presStyleCnt="0"/>
      <dgm:spPr/>
    </dgm:pt>
    <dgm:pt modelId="{533D1F71-0B5D-4591-BC71-6DC872878E67}" type="pres">
      <dgm:prSet presAssocID="{44B8CD07-6E14-4666-9E16-4F27CC2BCA6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D8ED29-8783-4BFB-86BB-49CBBE17F5E8}" type="pres">
      <dgm:prSet presAssocID="{3E43EDF1-41C3-4DDD-98C4-408205A58F9B}" presName="spacer" presStyleCnt="0"/>
      <dgm:spPr/>
    </dgm:pt>
    <dgm:pt modelId="{308A0D4D-CDF5-460F-BD1C-4FD7F78A0699}" type="pres">
      <dgm:prSet presAssocID="{31B7C95E-B11F-47D5-9A30-8CD7DE7636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9FCE2B-88AA-405A-A8ED-53EAA605B08F}" srcId="{4BD1D15C-7C86-4580-BE55-F34C977933AE}" destId="{361BCD4A-6979-4229-94BE-4B6B4992D354}" srcOrd="0" destOrd="0" parTransId="{56B993F5-BBDA-491D-A7F6-7D72E5D0E6F4}" sibTransId="{539C0DCE-ED64-4D83-B3AF-B166DEDCA224}"/>
    <dgm:cxn modelId="{D81E3564-242A-4791-8B77-C237311D5BB1}" srcId="{4BD1D15C-7C86-4580-BE55-F34C977933AE}" destId="{31B7C95E-B11F-47D5-9A30-8CD7DE763605}" srcOrd="5" destOrd="0" parTransId="{372A03DB-F2E5-4B71-8182-87C63879A56B}" sibTransId="{49D9151B-5AD5-4E37-A087-B887AE08C4B4}"/>
    <dgm:cxn modelId="{5DF1B15A-3B5D-4B0B-8B10-93027AEBF98C}" srcId="{4BD1D15C-7C86-4580-BE55-F34C977933AE}" destId="{44B8CD07-6E14-4666-9E16-4F27CC2BCA63}" srcOrd="4" destOrd="0" parTransId="{9FF95AEA-BDFB-46AE-85D5-2FB13CC2C51A}" sibTransId="{3E43EDF1-41C3-4DDD-98C4-408205A58F9B}"/>
    <dgm:cxn modelId="{E943D15A-9DD0-44BF-82D3-B048A007292F}" srcId="{4BD1D15C-7C86-4580-BE55-F34C977933AE}" destId="{18DABCDA-1BDF-4CDF-8B12-073AE47FBCC6}" srcOrd="1" destOrd="0" parTransId="{9FBD3C46-2D8A-44CB-AF87-4ACFF4247902}" sibTransId="{74D4D251-75A7-49C1-B824-0E8BE89F5687}"/>
    <dgm:cxn modelId="{CFF23788-C490-4C13-90B2-BD7FEDDC5B93}" type="presOf" srcId="{361BCD4A-6979-4229-94BE-4B6B4992D354}" destId="{5FE1771A-A8B1-4E81-97F5-AD2DA7E344EE}" srcOrd="0" destOrd="0" presId="urn:microsoft.com/office/officeart/2005/8/layout/vList2"/>
    <dgm:cxn modelId="{39634E8B-E88B-4AC0-B4E5-12E39DF15BF8}" type="presOf" srcId="{4BD1D15C-7C86-4580-BE55-F34C977933AE}" destId="{937DEBA7-EBC8-402F-B26A-DD1946D9BB48}" srcOrd="0" destOrd="0" presId="urn:microsoft.com/office/officeart/2005/8/layout/vList2"/>
    <dgm:cxn modelId="{FC0F5297-2106-43A3-B80D-E36820598AA4}" srcId="{4BD1D15C-7C86-4580-BE55-F34C977933AE}" destId="{09B64724-6A59-479B-851F-7E52B99ED0A3}" srcOrd="2" destOrd="0" parTransId="{C5983C37-ADF9-4E8B-AB52-06854D6F083B}" sibTransId="{7F92F5D2-8DCD-43D2-9399-D7E956C14EF4}"/>
    <dgm:cxn modelId="{8197D698-8C56-4E6D-9C72-AD392BD7EF16}" srcId="{4BD1D15C-7C86-4580-BE55-F34C977933AE}" destId="{69D7E378-B811-4868-A366-91218D0A75D1}" srcOrd="3" destOrd="0" parTransId="{39F07D6E-4939-4917-81AB-B0F62723ADB8}" sibTransId="{C5DB7FFA-DA48-4021-9EC9-37DAEEA2172C}"/>
    <dgm:cxn modelId="{0EF3A8A0-10A5-43AA-ADE3-53A55D7717E0}" type="presOf" srcId="{18DABCDA-1BDF-4CDF-8B12-073AE47FBCC6}" destId="{FEB7A37C-CD4A-436B-A851-C563DCDB4B3E}" srcOrd="0" destOrd="0" presId="urn:microsoft.com/office/officeart/2005/8/layout/vList2"/>
    <dgm:cxn modelId="{9EBD01B0-D6B9-401E-8B15-8132A0970696}" type="presOf" srcId="{69D7E378-B811-4868-A366-91218D0A75D1}" destId="{02FD74D9-5F4E-4431-88B8-3F6FEEAC005D}" srcOrd="0" destOrd="0" presId="urn:microsoft.com/office/officeart/2005/8/layout/vList2"/>
    <dgm:cxn modelId="{7CFFCDC7-15F2-483A-ADE4-B71B495825C4}" type="presOf" srcId="{44B8CD07-6E14-4666-9E16-4F27CC2BCA63}" destId="{533D1F71-0B5D-4591-BC71-6DC872878E67}" srcOrd="0" destOrd="0" presId="urn:microsoft.com/office/officeart/2005/8/layout/vList2"/>
    <dgm:cxn modelId="{7A69BFDB-97CF-4FBC-BACD-DE3DB4B3A40E}" type="presOf" srcId="{09B64724-6A59-479B-851F-7E52B99ED0A3}" destId="{27A98A9A-3401-440A-8CC6-546DF0FA2CB4}" srcOrd="0" destOrd="0" presId="urn:microsoft.com/office/officeart/2005/8/layout/vList2"/>
    <dgm:cxn modelId="{FF7E3BEC-D7C9-4009-B2AB-08B0F46121D3}" type="presOf" srcId="{31B7C95E-B11F-47D5-9A30-8CD7DE763605}" destId="{308A0D4D-CDF5-460F-BD1C-4FD7F78A0699}" srcOrd="0" destOrd="0" presId="urn:microsoft.com/office/officeart/2005/8/layout/vList2"/>
    <dgm:cxn modelId="{70F95A0F-C3C8-4571-8716-9FA84E30E18E}" type="presParOf" srcId="{937DEBA7-EBC8-402F-B26A-DD1946D9BB48}" destId="{5FE1771A-A8B1-4E81-97F5-AD2DA7E344EE}" srcOrd="0" destOrd="0" presId="urn:microsoft.com/office/officeart/2005/8/layout/vList2"/>
    <dgm:cxn modelId="{6CF6A04A-0586-415C-9E2A-E989FFEF5C82}" type="presParOf" srcId="{937DEBA7-EBC8-402F-B26A-DD1946D9BB48}" destId="{8B9C6D0F-DFED-416E-99B2-E71ED5BB2898}" srcOrd="1" destOrd="0" presId="urn:microsoft.com/office/officeart/2005/8/layout/vList2"/>
    <dgm:cxn modelId="{D662176C-A3CA-465A-A34E-962D7F0A8CF0}" type="presParOf" srcId="{937DEBA7-EBC8-402F-B26A-DD1946D9BB48}" destId="{FEB7A37C-CD4A-436B-A851-C563DCDB4B3E}" srcOrd="2" destOrd="0" presId="urn:microsoft.com/office/officeart/2005/8/layout/vList2"/>
    <dgm:cxn modelId="{98A99F7E-837F-4689-B315-62C8C5CDE7AA}" type="presParOf" srcId="{937DEBA7-EBC8-402F-B26A-DD1946D9BB48}" destId="{36B78E1F-9D1F-4884-AA0C-6DF308649E4E}" srcOrd="3" destOrd="0" presId="urn:microsoft.com/office/officeart/2005/8/layout/vList2"/>
    <dgm:cxn modelId="{84C3C3BA-1C46-45F6-A877-F9EE572DB7E6}" type="presParOf" srcId="{937DEBA7-EBC8-402F-B26A-DD1946D9BB48}" destId="{27A98A9A-3401-440A-8CC6-546DF0FA2CB4}" srcOrd="4" destOrd="0" presId="urn:microsoft.com/office/officeart/2005/8/layout/vList2"/>
    <dgm:cxn modelId="{0F5C1FD7-C90C-4707-88AF-C53E8FC18111}" type="presParOf" srcId="{937DEBA7-EBC8-402F-B26A-DD1946D9BB48}" destId="{FAC2AE5B-0CA0-44CC-9052-EDE7533663B9}" srcOrd="5" destOrd="0" presId="urn:microsoft.com/office/officeart/2005/8/layout/vList2"/>
    <dgm:cxn modelId="{43936C4D-66AB-4CE7-B45A-34A454A36F8E}" type="presParOf" srcId="{937DEBA7-EBC8-402F-B26A-DD1946D9BB48}" destId="{02FD74D9-5F4E-4431-88B8-3F6FEEAC005D}" srcOrd="6" destOrd="0" presId="urn:microsoft.com/office/officeart/2005/8/layout/vList2"/>
    <dgm:cxn modelId="{33B12415-E084-435C-8B25-0451C7B849F7}" type="presParOf" srcId="{937DEBA7-EBC8-402F-B26A-DD1946D9BB48}" destId="{B69B6736-421F-42AC-81B0-F26817581498}" srcOrd="7" destOrd="0" presId="urn:microsoft.com/office/officeart/2005/8/layout/vList2"/>
    <dgm:cxn modelId="{EAD47E7F-B545-4712-A4FF-4706EABC13DB}" type="presParOf" srcId="{937DEBA7-EBC8-402F-B26A-DD1946D9BB48}" destId="{533D1F71-0B5D-4591-BC71-6DC872878E67}" srcOrd="8" destOrd="0" presId="urn:microsoft.com/office/officeart/2005/8/layout/vList2"/>
    <dgm:cxn modelId="{67BF9DA5-436C-4F9B-8568-A3428B8A13A1}" type="presParOf" srcId="{937DEBA7-EBC8-402F-B26A-DD1946D9BB48}" destId="{EAD8ED29-8783-4BFB-86BB-49CBBE17F5E8}" srcOrd="9" destOrd="0" presId="urn:microsoft.com/office/officeart/2005/8/layout/vList2"/>
    <dgm:cxn modelId="{0279E5E1-C478-4F9D-A923-E05D25EA35D4}" type="presParOf" srcId="{937DEBA7-EBC8-402F-B26A-DD1946D9BB48}" destId="{308A0D4D-CDF5-460F-BD1C-4FD7F78A069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BD1D15C-7C86-4580-BE55-F34C97793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1BCD4A-6979-4229-94BE-4B6B4992D354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Motivation</a:t>
          </a:r>
          <a:endParaRPr lang="en-US"/>
        </a:p>
      </dgm:t>
    </dgm:pt>
    <dgm:pt modelId="{56B993F5-BBDA-491D-A7F6-7D72E5D0E6F4}" type="parTrans" cxnId="{DD9FCE2B-88AA-405A-A8ED-53EAA605B08F}">
      <dgm:prSet/>
      <dgm:spPr/>
      <dgm:t>
        <a:bodyPr/>
        <a:lstStyle/>
        <a:p>
          <a:endParaRPr lang="en-US"/>
        </a:p>
      </dgm:t>
    </dgm:pt>
    <dgm:pt modelId="{539C0DCE-ED64-4D83-B3AF-B166DEDCA224}" type="sibTrans" cxnId="{DD9FCE2B-88AA-405A-A8ED-53EAA605B08F}">
      <dgm:prSet/>
      <dgm:spPr/>
      <dgm:t>
        <a:bodyPr/>
        <a:lstStyle/>
        <a:p>
          <a:endParaRPr lang="en-US"/>
        </a:p>
      </dgm:t>
    </dgm:pt>
    <dgm:pt modelId="{18DABCDA-1BDF-4CDF-8B12-073AE47FBCC6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Label fusion techniques</a:t>
          </a:r>
          <a:endParaRPr lang="en-US"/>
        </a:p>
      </dgm:t>
    </dgm:pt>
    <dgm:pt modelId="{9FBD3C46-2D8A-44CB-AF87-4ACFF4247902}" type="parTrans" cxnId="{E943D15A-9DD0-44BF-82D3-B048A007292F}">
      <dgm:prSet/>
      <dgm:spPr/>
      <dgm:t>
        <a:bodyPr/>
        <a:lstStyle/>
        <a:p>
          <a:endParaRPr lang="en-US"/>
        </a:p>
      </dgm:t>
    </dgm:pt>
    <dgm:pt modelId="{74D4D251-75A7-49C1-B824-0E8BE89F5687}" type="sibTrans" cxnId="{E943D15A-9DD0-44BF-82D3-B048A007292F}">
      <dgm:prSet/>
      <dgm:spPr/>
      <dgm:t>
        <a:bodyPr/>
        <a:lstStyle/>
        <a:p>
          <a:endParaRPr lang="en-US"/>
        </a:p>
      </dgm:t>
    </dgm:pt>
    <dgm:pt modelId="{09B64724-6A59-479B-851F-7E52B99ED0A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Method wrt Disagreement</a:t>
          </a:r>
          <a:endParaRPr lang="en-US" dirty="0"/>
        </a:p>
      </dgm:t>
    </dgm:pt>
    <dgm:pt modelId="{C5983C37-ADF9-4E8B-AB52-06854D6F083B}" type="parTrans" cxnId="{FC0F5297-2106-43A3-B80D-E36820598AA4}">
      <dgm:prSet/>
      <dgm:spPr/>
      <dgm:t>
        <a:bodyPr/>
        <a:lstStyle/>
        <a:p>
          <a:endParaRPr lang="en-US"/>
        </a:p>
      </dgm:t>
    </dgm:pt>
    <dgm:pt modelId="{7F92F5D2-8DCD-43D2-9399-D7E956C14EF4}" type="sibTrans" cxnId="{FC0F5297-2106-43A3-B80D-E36820598AA4}">
      <dgm:prSet/>
      <dgm:spPr/>
      <dgm:t>
        <a:bodyPr/>
        <a:lstStyle/>
        <a:p>
          <a:endParaRPr lang="en-US"/>
        </a:p>
      </dgm:t>
    </dgm:pt>
    <dgm:pt modelId="{69D7E378-B811-4868-A366-91218D0A75D1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Impact on model Training and Validation</a:t>
          </a:r>
          <a:endParaRPr lang="en-US"/>
        </a:p>
      </dgm:t>
    </dgm:pt>
    <dgm:pt modelId="{39F07D6E-4939-4917-81AB-B0F62723ADB8}" type="parTrans" cxnId="{8197D698-8C56-4E6D-9C72-AD392BD7EF16}">
      <dgm:prSet/>
      <dgm:spPr/>
      <dgm:t>
        <a:bodyPr/>
        <a:lstStyle/>
        <a:p>
          <a:endParaRPr lang="en-US"/>
        </a:p>
      </dgm:t>
    </dgm:pt>
    <dgm:pt modelId="{C5DB7FFA-DA48-4021-9EC9-37DAEEA2172C}" type="sibTrans" cxnId="{8197D698-8C56-4E6D-9C72-AD392BD7EF16}">
      <dgm:prSet/>
      <dgm:spPr/>
      <dgm:t>
        <a:bodyPr/>
        <a:lstStyle/>
        <a:p>
          <a:endParaRPr lang="en-US"/>
        </a:p>
      </dgm:t>
    </dgm:pt>
    <dgm:pt modelId="{44B8CD07-6E14-4666-9E16-4F27CC2BCA63}">
      <dgm:prSet/>
      <dgm:spPr/>
      <dgm:t>
        <a:bodyPr/>
        <a:lstStyle/>
        <a:p>
          <a:r>
            <a:rPr lang="ca-ES"/>
            <a:t>Impact on Calibration</a:t>
          </a:r>
          <a:endParaRPr lang="en-US"/>
        </a:p>
      </dgm:t>
    </dgm:pt>
    <dgm:pt modelId="{9FF95AEA-BDFB-46AE-85D5-2FB13CC2C51A}" type="parTrans" cxnId="{5DF1B15A-3B5D-4B0B-8B10-93027AEBF98C}">
      <dgm:prSet/>
      <dgm:spPr/>
      <dgm:t>
        <a:bodyPr/>
        <a:lstStyle/>
        <a:p>
          <a:endParaRPr lang="en-US"/>
        </a:p>
      </dgm:t>
    </dgm:pt>
    <dgm:pt modelId="{3E43EDF1-41C3-4DDD-98C4-408205A58F9B}" type="sibTrans" cxnId="{5DF1B15A-3B5D-4B0B-8B10-93027AEBF98C}">
      <dgm:prSet/>
      <dgm:spPr/>
      <dgm:t>
        <a:bodyPr/>
        <a:lstStyle/>
        <a:p>
          <a:endParaRPr lang="en-US"/>
        </a:p>
      </dgm:t>
    </dgm:pt>
    <dgm:pt modelId="{31B7C95E-B11F-47D5-9A30-8CD7DE763605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Label Fusion Choice &amp; Takeaways</a:t>
          </a:r>
          <a:endParaRPr lang="en-US" dirty="0"/>
        </a:p>
      </dgm:t>
    </dgm:pt>
    <dgm:pt modelId="{372A03DB-F2E5-4B71-8182-87C63879A56B}" type="parTrans" cxnId="{D81E3564-242A-4791-8B77-C237311D5BB1}">
      <dgm:prSet/>
      <dgm:spPr/>
      <dgm:t>
        <a:bodyPr/>
        <a:lstStyle/>
        <a:p>
          <a:endParaRPr lang="es-ES"/>
        </a:p>
      </dgm:t>
    </dgm:pt>
    <dgm:pt modelId="{49D9151B-5AD5-4E37-A087-B887AE08C4B4}" type="sibTrans" cxnId="{D81E3564-242A-4791-8B77-C237311D5BB1}">
      <dgm:prSet/>
      <dgm:spPr/>
      <dgm:t>
        <a:bodyPr/>
        <a:lstStyle/>
        <a:p>
          <a:endParaRPr lang="es-ES"/>
        </a:p>
      </dgm:t>
    </dgm:pt>
    <dgm:pt modelId="{937DEBA7-EBC8-402F-B26A-DD1946D9BB48}" type="pres">
      <dgm:prSet presAssocID="{4BD1D15C-7C86-4580-BE55-F34C977933AE}" presName="linear" presStyleCnt="0">
        <dgm:presLayoutVars>
          <dgm:animLvl val="lvl"/>
          <dgm:resizeHandles val="exact"/>
        </dgm:presLayoutVars>
      </dgm:prSet>
      <dgm:spPr/>
    </dgm:pt>
    <dgm:pt modelId="{5FE1771A-A8B1-4E81-97F5-AD2DA7E344EE}" type="pres">
      <dgm:prSet presAssocID="{361BCD4A-6979-4229-94BE-4B6B4992D3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B9C6D0F-DFED-416E-99B2-E71ED5BB2898}" type="pres">
      <dgm:prSet presAssocID="{539C0DCE-ED64-4D83-B3AF-B166DEDCA224}" presName="spacer" presStyleCnt="0"/>
      <dgm:spPr/>
    </dgm:pt>
    <dgm:pt modelId="{FEB7A37C-CD4A-436B-A851-C563DCDB4B3E}" type="pres">
      <dgm:prSet presAssocID="{18DABCDA-1BDF-4CDF-8B12-073AE47FBC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6B78E1F-9D1F-4884-AA0C-6DF308649E4E}" type="pres">
      <dgm:prSet presAssocID="{74D4D251-75A7-49C1-B824-0E8BE89F5687}" presName="spacer" presStyleCnt="0"/>
      <dgm:spPr/>
    </dgm:pt>
    <dgm:pt modelId="{27A98A9A-3401-440A-8CC6-546DF0FA2CB4}" type="pres">
      <dgm:prSet presAssocID="{09B64724-6A59-479B-851F-7E52B99ED0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AC2AE5B-0CA0-44CC-9052-EDE7533663B9}" type="pres">
      <dgm:prSet presAssocID="{7F92F5D2-8DCD-43D2-9399-D7E956C14EF4}" presName="spacer" presStyleCnt="0"/>
      <dgm:spPr/>
    </dgm:pt>
    <dgm:pt modelId="{02FD74D9-5F4E-4431-88B8-3F6FEEAC005D}" type="pres">
      <dgm:prSet presAssocID="{69D7E378-B811-4868-A366-91218D0A75D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69B6736-421F-42AC-81B0-F26817581498}" type="pres">
      <dgm:prSet presAssocID="{C5DB7FFA-DA48-4021-9EC9-37DAEEA2172C}" presName="spacer" presStyleCnt="0"/>
      <dgm:spPr/>
    </dgm:pt>
    <dgm:pt modelId="{533D1F71-0B5D-4591-BC71-6DC872878E67}" type="pres">
      <dgm:prSet presAssocID="{44B8CD07-6E14-4666-9E16-4F27CC2BCA6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D8ED29-8783-4BFB-86BB-49CBBE17F5E8}" type="pres">
      <dgm:prSet presAssocID="{3E43EDF1-41C3-4DDD-98C4-408205A58F9B}" presName="spacer" presStyleCnt="0"/>
      <dgm:spPr/>
    </dgm:pt>
    <dgm:pt modelId="{308A0D4D-CDF5-460F-BD1C-4FD7F78A0699}" type="pres">
      <dgm:prSet presAssocID="{31B7C95E-B11F-47D5-9A30-8CD7DE7636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9FCE2B-88AA-405A-A8ED-53EAA605B08F}" srcId="{4BD1D15C-7C86-4580-BE55-F34C977933AE}" destId="{361BCD4A-6979-4229-94BE-4B6B4992D354}" srcOrd="0" destOrd="0" parTransId="{56B993F5-BBDA-491D-A7F6-7D72E5D0E6F4}" sibTransId="{539C0DCE-ED64-4D83-B3AF-B166DEDCA224}"/>
    <dgm:cxn modelId="{D81E3564-242A-4791-8B77-C237311D5BB1}" srcId="{4BD1D15C-7C86-4580-BE55-F34C977933AE}" destId="{31B7C95E-B11F-47D5-9A30-8CD7DE763605}" srcOrd="5" destOrd="0" parTransId="{372A03DB-F2E5-4B71-8182-87C63879A56B}" sibTransId="{49D9151B-5AD5-4E37-A087-B887AE08C4B4}"/>
    <dgm:cxn modelId="{5DF1B15A-3B5D-4B0B-8B10-93027AEBF98C}" srcId="{4BD1D15C-7C86-4580-BE55-F34C977933AE}" destId="{44B8CD07-6E14-4666-9E16-4F27CC2BCA63}" srcOrd="4" destOrd="0" parTransId="{9FF95AEA-BDFB-46AE-85D5-2FB13CC2C51A}" sibTransId="{3E43EDF1-41C3-4DDD-98C4-408205A58F9B}"/>
    <dgm:cxn modelId="{E943D15A-9DD0-44BF-82D3-B048A007292F}" srcId="{4BD1D15C-7C86-4580-BE55-F34C977933AE}" destId="{18DABCDA-1BDF-4CDF-8B12-073AE47FBCC6}" srcOrd="1" destOrd="0" parTransId="{9FBD3C46-2D8A-44CB-AF87-4ACFF4247902}" sibTransId="{74D4D251-75A7-49C1-B824-0E8BE89F5687}"/>
    <dgm:cxn modelId="{CFF23788-C490-4C13-90B2-BD7FEDDC5B93}" type="presOf" srcId="{361BCD4A-6979-4229-94BE-4B6B4992D354}" destId="{5FE1771A-A8B1-4E81-97F5-AD2DA7E344EE}" srcOrd="0" destOrd="0" presId="urn:microsoft.com/office/officeart/2005/8/layout/vList2"/>
    <dgm:cxn modelId="{39634E8B-E88B-4AC0-B4E5-12E39DF15BF8}" type="presOf" srcId="{4BD1D15C-7C86-4580-BE55-F34C977933AE}" destId="{937DEBA7-EBC8-402F-B26A-DD1946D9BB48}" srcOrd="0" destOrd="0" presId="urn:microsoft.com/office/officeart/2005/8/layout/vList2"/>
    <dgm:cxn modelId="{FC0F5297-2106-43A3-B80D-E36820598AA4}" srcId="{4BD1D15C-7C86-4580-BE55-F34C977933AE}" destId="{09B64724-6A59-479B-851F-7E52B99ED0A3}" srcOrd="2" destOrd="0" parTransId="{C5983C37-ADF9-4E8B-AB52-06854D6F083B}" sibTransId="{7F92F5D2-8DCD-43D2-9399-D7E956C14EF4}"/>
    <dgm:cxn modelId="{8197D698-8C56-4E6D-9C72-AD392BD7EF16}" srcId="{4BD1D15C-7C86-4580-BE55-F34C977933AE}" destId="{69D7E378-B811-4868-A366-91218D0A75D1}" srcOrd="3" destOrd="0" parTransId="{39F07D6E-4939-4917-81AB-B0F62723ADB8}" sibTransId="{C5DB7FFA-DA48-4021-9EC9-37DAEEA2172C}"/>
    <dgm:cxn modelId="{0EF3A8A0-10A5-43AA-ADE3-53A55D7717E0}" type="presOf" srcId="{18DABCDA-1BDF-4CDF-8B12-073AE47FBCC6}" destId="{FEB7A37C-CD4A-436B-A851-C563DCDB4B3E}" srcOrd="0" destOrd="0" presId="urn:microsoft.com/office/officeart/2005/8/layout/vList2"/>
    <dgm:cxn modelId="{9EBD01B0-D6B9-401E-8B15-8132A0970696}" type="presOf" srcId="{69D7E378-B811-4868-A366-91218D0A75D1}" destId="{02FD74D9-5F4E-4431-88B8-3F6FEEAC005D}" srcOrd="0" destOrd="0" presId="urn:microsoft.com/office/officeart/2005/8/layout/vList2"/>
    <dgm:cxn modelId="{7CFFCDC7-15F2-483A-ADE4-B71B495825C4}" type="presOf" srcId="{44B8CD07-6E14-4666-9E16-4F27CC2BCA63}" destId="{533D1F71-0B5D-4591-BC71-6DC872878E67}" srcOrd="0" destOrd="0" presId="urn:microsoft.com/office/officeart/2005/8/layout/vList2"/>
    <dgm:cxn modelId="{7A69BFDB-97CF-4FBC-BACD-DE3DB4B3A40E}" type="presOf" srcId="{09B64724-6A59-479B-851F-7E52B99ED0A3}" destId="{27A98A9A-3401-440A-8CC6-546DF0FA2CB4}" srcOrd="0" destOrd="0" presId="urn:microsoft.com/office/officeart/2005/8/layout/vList2"/>
    <dgm:cxn modelId="{FF7E3BEC-D7C9-4009-B2AB-08B0F46121D3}" type="presOf" srcId="{31B7C95E-B11F-47D5-9A30-8CD7DE763605}" destId="{308A0D4D-CDF5-460F-BD1C-4FD7F78A0699}" srcOrd="0" destOrd="0" presId="urn:microsoft.com/office/officeart/2005/8/layout/vList2"/>
    <dgm:cxn modelId="{70F95A0F-C3C8-4571-8716-9FA84E30E18E}" type="presParOf" srcId="{937DEBA7-EBC8-402F-B26A-DD1946D9BB48}" destId="{5FE1771A-A8B1-4E81-97F5-AD2DA7E344EE}" srcOrd="0" destOrd="0" presId="urn:microsoft.com/office/officeart/2005/8/layout/vList2"/>
    <dgm:cxn modelId="{6CF6A04A-0586-415C-9E2A-E989FFEF5C82}" type="presParOf" srcId="{937DEBA7-EBC8-402F-B26A-DD1946D9BB48}" destId="{8B9C6D0F-DFED-416E-99B2-E71ED5BB2898}" srcOrd="1" destOrd="0" presId="urn:microsoft.com/office/officeart/2005/8/layout/vList2"/>
    <dgm:cxn modelId="{D662176C-A3CA-465A-A34E-962D7F0A8CF0}" type="presParOf" srcId="{937DEBA7-EBC8-402F-B26A-DD1946D9BB48}" destId="{FEB7A37C-CD4A-436B-A851-C563DCDB4B3E}" srcOrd="2" destOrd="0" presId="urn:microsoft.com/office/officeart/2005/8/layout/vList2"/>
    <dgm:cxn modelId="{98A99F7E-837F-4689-B315-62C8C5CDE7AA}" type="presParOf" srcId="{937DEBA7-EBC8-402F-B26A-DD1946D9BB48}" destId="{36B78E1F-9D1F-4884-AA0C-6DF308649E4E}" srcOrd="3" destOrd="0" presId="urn:microsoft.com/office/officeart/2005/8/layout/vList2"/>
    <dgm:cxn modelId="{84C3C3BA-1C46-45F6-A877-F9EE572DB7E6}" type="presParOf" srcId="{937DEBA7-EBC8-402F-B26A-DD1946D9BB48}" destId="{27A98A9A-3401-440A-8CC6-546DF0FA2CB4}" srcOrd="4" destOrd="0" presId="urn:microsoft.com/office/officeart/2005/8/layout/vList2"/>
    <dgm:cxn modelId="{0F5C1FD7-C90C-4707-88AF-C53E8FC18111}" type="presParOf" srcId="{937DEBA7-EBC8-402F-B26A-DD1946D9BB48}" destId="{FAC2AE5B-0CA0-44CC-9052-EDE7533663B9}" srcOrd="5" destOrd="0" presId="urn:microsoft.com/office/officeart/2005/8/layout/vList2"/>
    <dgm:cxn modelId="{43936C4D-66AB-4CE7-B45A-34A454A36F8E}" type="presParOf" srcId="{937DEBA7-EBC8-402F-B26A-DD1946D9BB48}" destId="{02FD74D9-5F4E-4431-88B8-3F6FEEAC005D}" srcOrd="6" destOrd="0" presId="urn:microsoft.com/office/officeart/2005/8/layout/vList2"/>
    <dgm:cxn modelId="{33B12415-E084-435C-8B25-0451C7B849F7}" type="presParOf" srcId="{937DEBA7-EBC8-402F-B26A-DD1946D9BB48}" destId="{B69B6736-421F-42AC-81B0-F26817581498}" srcOrd="7" destOrd="0" presId="urn:microsoft.com/office/officeart/2005/8/layout/vList2"/>
    <dgm:cxn modelId="{EAD47E7F-B545-4712-A4FF-4706EABC13DB}" type="presParOf" srcId="{937DEBA7-EBC8-402F-B26A-DD1946D9BB48}" destId="{533D1F71-0B5D-4591-BC71-6DC872878E67}" srcOrd="8" destOrd="0" presId="urn:microsoft.com/office/officeart/2005/8/layout/vList2"/>
    <dgm:cxn modelId="{67BF9DA5-436C-4F9B-8568-A3428B8A13A1}" type="presParOf" srcId="{937DEBA7-EBC8-402F-B26A-DD1946D9BB48}" destId="{EAD8ED29-8783-4BFB-86BB-49CBBE17F5E8}" srcOrd="9" destOrd="0" presId="urn:microsoft.com/office/officeart/2005/8/layout/vList2"/>
    <dgm:cxn modelId="{0279E5E1-C478-4F9D-A923-E05D25EA35D4}" type="presParOf" srcId="{937DEBA7-EBC8-402F-B26A-DD1946D9BB48}" destId="{308A0D4D-CDF5-460F-BD1C-4FD7F78A069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BD1D15C-7C86-4580-BE55-F34C97793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1BCD4A-6979-4229-94BE-4B6B4992D354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Motivation</a:t>
          </a:r>
          <a:endParaRPr lang="en-US"/>
        </a:p>
      </dgm:t>
    </dgm:pt>
    <dgm:pt modelId="{56B993F5-BBDA-491D-A7F6-7D72E5D0E6F4}" type="parTrans" cxnId="{DD9FCE2B-88AA-405A-A8ED-53EAA605B08F}">
      <dgm:prSet/>
      <dgm:spPr/>
      <dgm:t>
        <a:bodyPr/>
        <a:lstStyle/>
        <a:p>
          <a:endParaRPr lang="en-US"/>
        </a:p>
      </dgm:t>
    </dgm:pt>
    <dgm:pt modelId="{539C0DCE-ED64-4D83-B3AF-B166DEDCA224}" type="sibTrans" cxnId="{DD9FCE2B-88AA-405A-A8ED-53EAA605B08F}">
      <dgm:prSet/>
      <dgm:spPr/>
      <dgm:t>
        <a:bodyPr/>
        <a:lstStyle/>
        <a:p>
          <a:endParaRPr lang="en-US"/>
        </a:p>
      </dgm:t>
    </dgm:pt>
    <dgm:pt modelId="{18DABCDA-1BDF-4CDF-8B12-073AE47FBCC6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Label fusion techniques</a:t>
          </a:r>
          <a:endParaRPr lang="en-US"/>
        </a:p>
      </dgm:t>
    </dgm:pt>
    <dgm:pt modelId="{9FBD3C46-2D8A-44CB-AF87-4ACFF4247902}" type="parTrans" cxnId="{E943D15A-9DD0-44BF-82D3-B048A007292F}">
      <dgm:prSet/>
      <dgm:spPr/>
      <dgm:t>
        <a:bodyPr/>
        <a:lstStyle/>
        <a:p>
          <a:endParaRPr lang="en-US"/>
        </a:p>
      </dgm:t>
    </dgm:pt>
    <dgm:pt modelId="{74D4D251-75A7-49C1-B824-0E8BE89F5687}" type="sibTrans" cxnId="{E943D15A-9DD0-44BF-82D3-B048A007292F}">
      <dgm:prSet/>
      <dgm:spPr/>
      <dgm:t>
        <a:bodyPr/>
        <a:lstStyle/>
        <a:p>
          <a:endParaRPr lang="en-US"/>
        </a:p>
      </dgm:t>
    </dgm:pt>
    <dgm:pt modelId="{09B64724-6A59-479B-851F-7E52B99ED0A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Method wrt Disagreement</a:t>
          </a:r>
          <a:endParaRPr lang="en-US" dirty="0"/>
        </a:p>
      </dgm:t>
    </dgm:pt>
    <dgm:pt modelId="{C5983C37-ADF9-4E8B-AB52-06854D6F083B}" type="parTrans" cxnId="{FC0F5297-2106-43A3-B80D-E36820598AA4}">
      <dgm:prSet/>
      <dgm:spPr/>
      <dgm:t>
        <a:bodyPr/>
        <a:lstStyle/>
        <a:p>
          <a:endParaRPr lang="en-US"/>
        </a:p>
      </dgm:t>
    </dgm:pt>
    <dgm:pt modelId="{7F92F5D2-8DCD-43D2-9399-D7E956C14EF4}" type="sibTrans" cxnId="{FC0F5297-2106-43A3-B80D-E36820598AA4}">
      <dgm:prSet/>
      <dgm:spPr/>
      <dgm:t>
        <a:bodyPr/>
        <a:lstStyle/>
        <a:p>
          <a:endParaRPr lang="en-US"/>
        </a:p>
      </dgm:t>
    </dgm:pt>
    <dgm:pt modelId="{69D7E378-B811-4868-A366-91218D0A75D1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 dirty="0"/>
            <a:t>Soft vs Hard on Training/Validation</a:t>
          </a:r>
          <a:endParaRPr lang="en-US" dirty="0"/>
        </a:p>
      </dgm:t>
    </dgm:pt>
    <dgm:pt modelId="{39F07D6E-4939-4917-81AB-B0F62723ADB8}" type="parTrans" cxnId="{8197D698-8C56-4E6D-9C72-AD392BD7EF16}">
      <dgm:prSet/>
      <dgm:spPr/>
      <dgm:t>
        <a:bodyPr/>
        <a:lstStyle/>
        <a:p>
          <a:endParaRPr lang="en-US"/>
        </a:p>
      </dgm:t>
    </dgm:pt>
    <dgm:pt modelId="{C5DB7FFA-DA48-4021-9EC9-37DAEEA2172C}" type="sibTrans" cxnId="{8197D698-8C56-4E6D-9C72-AD392BD7EF16}">
      <dgm:prSet/>
      <dgm:spPr/>
      <dgm:t>
        <a:bodyPr/>
        <a:lstStyle/>
        <a:p>
          <a:endParaRPr lang="en-US"/>
        </a:p>
      </dgm:t>
    </dgm:pt>
    <dgm:pt modelId="{44B8CD07-6E14-4666-9E16-4F27CC2BCA63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ca-ES"/>
            <a:t>Impact on Calibration</a:t>
          </a:r>
          <a:endParaRPr lang="en-US"/>
        </a:p>
      </dgm:t>
    </dgm:pt>
    <dgm:pt modelId="{9FF95AEA-BDFB-46AE-85D5-2FB13CC2C51A}" type="parTrans" cxnId="{5DF1B15A-3B5D-4B0B-8B10-93027AEBF98C}">
      <dgm:prSet/>
      <dgm:spPr/>
      <dgm:t>
        <a:bodyPr/>
        <a:lstStyle/>
        <a:p>
          <a:endParaRPr lang="en-US"/>
        </a:p>
      </dgm:t>
    </dgm:pt>
    <dgm:pt modelId="{3E43EDF1-41C3-4DDD-98C4-408205A58F9B}" type="sibTrans" cxnId="{5DF1B15A-3B5D-4B0B-8B10-93027AEBF98C}">
      <dgm:prSet/>
      <dgm:spPr/>
      <dgm:t>
        <a:bodyPr/>
        <a:lstStyle/>
        <a:p>
          <a:endParaRPr lang="en-US"/>
        </a:p>
      </dgm:t>
    </dgm:pt>
    <dgm:pt modelId="{31B7C95E-B11F-47D5-9A30-8CD7DE763605}">
      <dgm:prSet/>
      <dgm:spPr/>
      <dgm:t>
        <a:bodyPr/>
        <a:lstStyle/>
        <a:p>
          <a:r>
            <a:rPr lang="ca-ES" dirty="0"/>
            <a:t>Label Fusion Choice &amp; Takeaways</a:t>
          </a:r>
          <a:endParaRPr lang="en-US" dirty="0"/>
        </a:p>
      </dgm:t>
    </dgm:pt>
    <dgm:pt modelId="{372A03DB-F2E5-4B71-8182-87C63879A56B}" type="parTrans" cxnId="{D81E3564-242A-4791-8B77-C237311D5BB1}">
      <dgm:prSet/>
      <dgm:spPr/>
      <dgm:t>
        <a:bodyPr/>
        <a:lstStyle/>
        <a:p>
          <a:endParaRPr lang="es-ES"/>
        </a:p>
      </dgm:t>
    </dgm:pt>
    <dgm:pt modelId="{49D9151B-5AD5-4E37-A087-B887AE08C4B4}" type="sibTrans" cxnId="{D81E3564-242A-4791-8B77-C237311D5BB1}">
      <dgm:prSet/>
      <dgm:spPr/>
      <dgm:t>
        <a:bodyPr/>
        <a:lstStyle/>
        <a:p>
          <a:endParaRPr lang="es-ES"/>
        </a:p>
      </dgm:t>
    </dgm:pt>
    <dgm:pt modelId="{937DEBA7-EBC8-402F-B26A-DD1946D9BB48}" type="pres">
      <dgm:prSet presAssocID="{4BD1D15C-7C86-4580-BE55-F34C977933AE}" presName="linear" presStyleCnt="0">
        <dgm:presLayoutVars>
          <dgm:animLvl val="lvl"/>
          <dgm:resizeHandles val="exact"/>
        </dgm:presLayoutVars>
      </dgm:prSet>
      <dgm:spPr/>
    </dgm:pt>
    <dgm:pt modelId="{5FE1771A-A8B1-4E81-97F5-AD2DA7E344EE}" type="pres">
      <dgm:prSet presAssocID="{361BCD4A-6979-4229-94BE-4B6B4992D3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B9C6D0F-DFED-416E-99B2-E71ED5BB2898}" type="pres">
      <dgm:prSet presAssocID="{539C0DCE-ED64-4D83-B3AF-B166DEDCA224}" presName="spacer" presStyleCnt="0"/>
      <dgm:spPr/>
    </dgm:pt>
    <dgm:pt modelId="{FEB7A37C-CD4A-436B-A851-C563DCDB4B3E}" type="pres">
      <dgm:prSet presAssocID="{18DABCDA-1BDF-4CDF-8B12-073AE47FBC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6B78E1F-9D1F-4884-AA0C-6DF308649E4E}" type="pres">
      <dgm:prSet presAssocID="{74D4D251-75A7-49C1-B824-0E8BE89F5687}" presName="spacer" presStyleCnt="0"/>
      <dgm:spPr/>
    </dgm:pt>
    <dgm:pt modelId="{27A98A9A-3401-440A-8CC6-546DF0FA2CB4}" type="pres">
      <dgm:prSet presAssocID="{09B64724-6A59-479B-851F-7E52B99ED0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AC2AE5B-0CA0-44CC-9052-EDE7533663B9}" type="pres">
      <dgm:prSet presAssocID="{7F92F5D2-8DCD-43D2-9399-D7E956C14EF4}" presName="spacer" presStyleCnt="0"/>
      <dgm:spPr/>
    </dgm:pt>
    <dgm:pt modelId="{02FD74D9-5F4E-4431-88B8-3F6FEEAC005D}" type="pres">
      <dgm:prSet presAssocID="{69D7E378-B811-4868-A366-91218D0A75D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69B6736-421F-42AC-81B0-F26817581498}" type="pres">
      <dgm:prSet presAssocID="{C5DB7FFA-DA48-4021-9EC9-37DAEEA2172C}" presName="spacer" presStyleCnt="0"/>
      <dgm:spPr/>
    </dgm:pt>
    <dgm:pt modelId="{533D1F71-0B5D-4591-BC71-6DC872878E67}" type="pres">
      <dgm:prSet presAssocID="{44B8CD07-6E14-4666-9E16-4F27CC2BCA6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D8ED29-8783-4BFB-86BB-49CBBE17F5E8}" type="pres">
      <dgm:prSet presAssocID="{3E43EDF1-41C3-4DDD-98C4-408205A58F9B}" presName="spacer" presStyleCnt="0"/>
      <dgm:spPr/>
    </dgm:pt>
    <dgm:pt modelId="{308A0D4D-CDF5-460F-BD1C-4FD7F78A0699}" type="pres">
      <dgm:prSet presAssocID="{31B7C95E-B11F-47D5-9A30-8CD7DE7636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9FCE2B-88AA-405A-A8ED-53EAA605B08F}" srcId="{4BD1D15C-7C86-4580-BE55-F34C977933AE}" destId="{361BCD4A-6979-4229-94BE-4B6B4992D354}" srcOrd="0" destOrd="0" parTransId="{56B993F5-BBDA-491D-A7F6-7D72E5D0E6F4}" sibTransId="{539C0DCE-ED64-4D83-B3AF-B166DEDCA224}"/>
    <dgm:cxn modelId="{D81E3564-242A-4791-8B77-C237311D5BB1}" srcId="{4BD1D15C-7C86-4580-BE55-F34C977933AE}" destId="{31B7C95E-B11F-47D5-9A30-8CD7DE763605}" srcOrd="5" destOrd="0" parTransId="{372A03DB-F2E5-4B71-8182-87C63879A56B}" sibTransId="{49D9151B-5AD5-4E37-A087-B887AE08C4B4}"/>
    <dgm:cxn modelId="{5DF1B15A-3B5D-4B0B-8B10-93027AEBF98C}" srcId="{4BD1D15C-7C86-4580-BE55-F34C977933AE}" destId="{44B8CD07-6E14-4666-9E16-4F27CC2BCA63}" srcOrd="4" destOrd="0" parTransId="{9FF95AEA-BDFB-46AE-85D5-2FB13CC2C51A}" sibTransId="{3E43EDF1-41C3-4DDD-98C4-408205A58F9B}"/>
    <dgm:cxn modelId="{E943D15A-9DD0-44BF-82D3-B048A007292F}" srcId="{4BD1D15C-7C86-4580-BE55-F34C977933AE}" destId="{18DABCDA-1BDF-4CDF-8B12-073AE47FBCC6}" srcOrd="1" destOrd="0" parTransId="{9FBD3C46-2D8A-44CB-AF87-4ACFF4247902}" sibTransId="{74D4D251-75A7-49C1-B824-0E8BE89F5687}"/>
    <dgm:cxn modelId="{CFF23788-C490-4C13-90B2-BD7FEDDC5B93}" type="presOf" srcId="{361BCD4A-6979-4229-94BE-4B6B4992D354}" destId="{5FE1771A-A8B1-4E81-97F5-AD2DA7E344EE}" srcOrd="0" destOrd="0" presId="urn:microsoft.com/office/officeart/2005/8/layout/vList2"/>
    <dgm:cxn modelId="{39634E8B-E88B-4AC0-B4E5-12E39DF15BF8}" type="presOf" srcId="{4BD1D15C-7C86-4580-BE55-F34C977933AE}" destId="{937DEBA7-EBC8-402F-B26A-DD1946D9BB48}" srcOrd="0" destOrd="0" presId="urn:microsoft.com/office/officeart/2005/8/layout/vList2"/>
    <dgm:cxn modelId="{FC0F5297-2106-43A3-B80D-E36820598AA4}" srcId="{4BD1D15C-7C86-4580-BE55-F34C977933AE}" destId="{09B64724-6A59-479B-851F-7E52B99ED0A3}" srcOrd="2" destOrd="0" parTransId="{C5983C37-ADF9-4E8B-AB52-06854D6F083B}" sibTransId="{7F92F5D2-8DCD-43D2-9399-D7E956C14EF4}"/>
    <dgm:cxn modelId="{8197D698-8C56-4E6D-9C72-AD392BD7EF16}" srcId="{4BD1D15C-7C86-4580-BE55-F34C977933AE}" destId="{69D7E378-B811-4868-A366-91218D0A75D1}" srcOrd="3" destOrd="0" parTransId="{39F07D6E-4939-4917-81AB-B0F62723ADB8}" sibTransId="{C5DB7FFA-DA48-4021-9EC9-37DAEEA2172C}"/>
    <dgm:cxn modelId="{0EF3A8A0-10A5-43AA-ADE3-53A55D7717E0}" type="presOf" srcId="{18DABCDA-1BDF-4CDF-8B12-073AE47FBCC6}" destId="{FEB7A37C-CD4A-436B-A851-C563DCDB4B3E}" srcOrd="0" destOrd="0" presId="urn:microsoft.com/office/officeart/2005/8/layout/vList2"/>
    <dgm:cxn modelId="{9EBD01B0-D6B9-401E-8B15-8132A0970696}" type="presOf" srcId="{69D7E378-B811-4868-A366-91218D0A75D1}" destId="{02FD74D9-5F4E-4431-88B8-3F6FEEAC005D}" srcOrd="0" destOrd="0" presId="urn:microsoft.com/office/officeart/2005/8/layout/vList2"/>
    <dgm:cxn modelId="{7CFFCDC7-15F2-483A-ADE4-B71B495825C4}" type="presOf" srcId="{44B8CD07-6E14-4666-9E16-4F27CC2BCA63}" destId="{533D1F71-0B5D-4591-BC71-6DC872878E67}" srcOrd="0" destOrd="0" presId="urn:microsoft.com/office/officeart/2005/8/layout/vList2"/>
    <dgm:cxn modelId="{7A69BFDB-97CF-4FBC-BACD-DE3DB4B3A40E}" type="presOf" srcId="{09B64724-6A59-479B-851F-7E52B99ED0A3}" destId="{27A98A9A-3401-440A-8CC6-546DF0FA2CB4}" srcOrd="0" destOrd="0" presId="urn:microsoft.com/office/officeart/2005/8/layout/vList2"/>
    <dgm:cxn modelId="{FF7E3BEC-D7C9-4009-B2AB-08B0F46121D3}" type="presOf" srcId="{31B7C95E-B11F-47D5-9A30-8CD7DE763605}" destId="{308A0D4D-CDF5-460F-BD1C-4FD7F78A0699}" srcOrd="0" destOrd="0" presId="urn:microsoft.com/office/officeart/2005/8/layout/vList2"/>
    <dgm:cxn modelId="{70F95A0F-C3C8-4571-8716-9FA84E30E18E}" type="presParOf" srcId="{937DEBA7-EBC8-402F-B26A-DD1946D9BB48}" destId="{5FE1771A-A8B1-4E81-97F5-AD2DA7E344EE}" srcOrd="0" destOrd="0" presId="urn:microsoft.com/office/officeart/2005/8/layout/vList2"/>
    <dgm:cxn modelId="{6CF6A04A-0586-415C-9E2A-E989FFEF5C82}" type="presParOf" srcId="{937DEBA7-EBC8-402F-B26A-DD1946D9BB48}" destId="{8B9C6D0F-DFED-416E-99B2-E71ED5BB2898}" srcOrd="1" destOrd="0" presId="urn:microsoft.com/office/officeart/2005/8/layout/vList2"/>
    <dgm:cxn modelId="{D662176C-A3CA-465A-A34E-962D7F0A8CF0}" type="presParOf" srcId="{937DEBA7-EBC8-402F-B26A-DD1946D9BB48}" destId="{FEB7A37C-CD4A-436B-A851-C563DCDB4B3E}" srcOrd="2" destOrd="0" presId="urn:microsoft.com/office/officeart/2005/8/layout/vList2"/>
    <dgm:cxn modelId="{98A99F7E-837F-4689-B315-62C8C5CDE7AA}" type="presParOf" srcId="{937DEBA7-EBC8-402F-B26A-DD1946D9BB48}" destId="{36B78E1F-9D1F-4884-AA0C-6DF308649E4E}" srcOrd="3" destOrd="0" presId="urn:microsoft.com/office/officeart/2005/8/layout/vList2"/>
    <dgm:cxn modelId="{84C3C3BA-1C46-45F6-A877-F9EE572DB7E6}" type="presParOf" srcId="{937DEBA7-EBC8-402F-B26A-DD1946D9BB48}" destId="{27A98A9A-3401-440A-8CC6-546DF0FA2CB4}" srcOrd="4" destOrd="0" presId="urn:microsoft.com/office/officeart/2005/8/layout/vList2"/>
    <dgm:cxn modelId="{0F5C1FD7-C90C-4707-88AF-C53E8FC18111}" type="presParOf" srcId="{937DEBA7-EBC8-402F-B26A-DD1946D9BB48}" destId="{FAC2AE5B-0CA0-44CC-9052-EDE7533663B9}" srcOrd="5" destOrd="0" presId="urn:microsoft.com/office/officeart/2005/8/layout/vList2"/>
    <dgm:cxn modelId="{43936C4D-66AB-4CE7-B45A-34A454A36F8E}" type="presParOf" srcId="{937DEBA7-EBC8-402F-B26A-DD1946D9BB48}" destId="{02FD74D9-5F4E-4431-88B8-3F6FEEAC005D}" srcOrd="6" destOrd="0" presId="urn:microsoft.com/office/officeart/2005/8/layout/vList2"/>
    <dgm:cxn modelId="{33B12415-E084-435C-8B25-0451C7B849F7}" type="presParOf" srcId="{937DEBA7-EBC8-402F-B26A-DD1946D9BB48}" destId="{B69B6736-421F-42AC-81B0-F26817581498}" srcOrd="7" destOrd="0" presId="urn:microsoft.com/office/officeart/2005/8/layout/vList2"/>
    <dgm:cxn modelId="{EAD47E7F-B545-4712-A4FF-4706EABC13DB}" type="presParOf" srcId="{937DEBA7-EBC8-402F-B26A-DD1946D9BB48}" destId="{533D1F71-0B5D-4591-BC71-6DC872878E67}" srcOrd="8" destOrd="0" presId="urn:microsoft.com/office/officeart/2005/8/layout/vList2"/>
    <dgm:cxn modelId="{67BF9DA5-436C-4F9B-8568-A3428B8A13A1}" type="presParOf" srcId="{937DEBA7-EBC8-402F-B26A-DD1946D9BB48}" destId="{EAD8ED29-8783-4BFB-86BB-49CBBE17F5E8}" srcOrd="9" destOrd="0" presId="urn:microsoft.com/office/officeart/2005/8/layout/vList2"/>
    <dgm:cxn modelId="{0279E5E1-C478-4F9D-A923-E05D25EA35D4}" type="presParOf" srcId="{937DEBA7-EBC8-402F-B26A-DD1946D9BB48}" destId="{308A0D4D-CDF5-460F-BD1C-4FD7F78A069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771A-A8B1-4E81-97F5-AD2DA7E344EE}">
      <dsp:nvSpPr>
        <dsp:cNvPr id="0" name=""/>
        <dsp:cNvSpPr/>
      </dsp:nvSpPr>
      <dsp:spPr>
        <a:xfrm>
          <a:off x="0" y="685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Motivation</a:t>
          </a:r>
          <a:endParaRPr lang="en-US" sz="2800" kern="1200"/>
        </a:p>
      </dsp:txBody>
      <dsp:txXfrm>
        <a:off x="33583" y="102146"/>
        <a:ext cx="10448434" cy="620794"/>
      </dsp:txXfrm>
    </dsp:sp>
    <dsp:sp modelId="{FEB7A37C-CD4A-436B-A851-C563DCDB4B3E}">
      <dsp:nvSpPr>
        <dsp:cNvPr id="0" name=""/>
        <dsp:cNvSpPr/>
      </dsp:nvSpPr>
      <dsp:spPr>
        <a:xfrm>
          <a:off x="0" y="8371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Label fusion techniques</a:t>
          </a:r>
          <a:endParaRPr lang="en-US" sz="2800" kern="1200"/>
        </a:p>
      </dsp:txBody>
      <dsp:txXfrm>
        <a:off x="33583" y="870746"/>
        <a:ext cx="10448434" cy="620794"/>
      </dsp:txXfrm>
    </dsp:sp>
    <dsp:sp modelId="{27A98A9A-3401-440A-8CC6-546DF0FA2CB4}">
      <dsp:nvSpPr>
        <dsp:cNvPr id="0" name=""/>
        <dsp:cNvSpPr/>
      </dsp:nvSpPr>
      <dsp:spPr>
        <a:xfrm>
          <a:off x="0" y="16057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Method wrt Disagreement</a:t>
          </a:r>
          <a:endParaRPr lang="en-US" sz="2800" kern="1200" dirty="0"/>
        </a:p>
      </dsp:txBody>
      <dsp:txXfrm>
        <a:off x="33583" y="1639346"/>
        <a:ext cx="10448434" cy="620794"/>
      </dsp:txXfrm>
    </dsp:sp>
    <dsp:sp modelId="{02FD74D9-5F4E-4431-88B8-3F6FEEAC005D}">
      <dsp:nvSpPr>
        <dsp:cNvPr id="0" name=""/>
        <dsp:cNvSpPr/>
      </dsp:nvSpPr>
      <dsp:spPr>
        <a:xfrm>
          <a:off x="0" y="23743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Soft vs Hard on Training/Validation</a:t>
          </a:r>
          <a:endParaRPr lang="en-US" sz="2800" kern="1200" dirty="0"/>
        </a:p>
      </dsp:txBody>
      <dsp:txXfrm>
        <a:off x="33583" y="2407946"/>
        <a:ext cx="10448434" cy="620794"/>
      </dsp:txXfrm>
    </dsp:sp>
    <dsp:sp modelId="{533D1F71-0B5D-4591-BC71-6DC872878E67}">
      <dsp:nvSpPr>
        <dsp:cNvPr id="0" name=""/>
        <dsp:cNvSpPr/>
      </dsp:nvSpPr>
      <dsp:spPr>
        <a:xfrm>
          <a:off x="0" y="31429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Impact on Calibration</a:t>
          </a:r>
          <a:endParaRPr lang="en-US" sz="2800" kern="1200"/>
        </a:p>
      </dsp:txBody>
      <dsp:txXfrm>
        <a:off x="33583" y="3176546"/>
        <a:ext cx="10448434" cy="620794"/>
      </dsp:txXfrm>
    </dsp:sp>
    <dsp:sp modelId="{308A0D4D-CDF5-460F-BD1C-4FD7F78A0699}">
      <dsp:nvSpPr>
        <dsp:cNvPr id="0" name=""/>
        <dsp:cNvSpPr/>
      </dsp:nvSpPr>
      <dsp:spPr>
        <a:xfrm>
          <a:off x="0" y="39115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Label Fusion Choice &amp; Takeaways</a:t>
          </a:r>
          <a:endParaRPr lang="en-US" sz="2800" kern="1200" dirty="0"/>
        </a:p>
      </dsp:txBody>
      <dsp:txXfrm>
        <a:off x="33583" y="3945146"/>
        <a:ext cx="10448434" cy="6207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771A-A8B1-4E81-97F5-AD2DA7E344EE}">
      <dsp:nvSpPr>
        <dsp:cNvPr id="0" name=""/>
        <dsp:cNvSpPr/>
      </dsp:nvSpPr>
      <dsp:spPr>
        <a:xfrm>
          <a:off x="0" y="685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Motivation</a:t>
          </a:r>
          <a:endParaRPr lang="en-US" sz="2800" kern="1200"/>
        </a:p>
      </dsp:txBody>
      <dsp:txXfrm>
        <a:off x="33583" y="102146"/>
        <a:ext cx="10448434" cy="620794"/>
      </dsp:txXfrm>
    </dsp:sp>
    <dsp:sp modelId="{FEB7A37C-CD4A-436B-A851-C563DCDB4B3E}">
      <dsp:nvSpPr>
        <dsp:cNvPr id="0" name=""/>
        <dsp:cNvSpPr/>
      </dsp:nvSpPr>
      <dsp:spPr>
        <a:xfrm>
          <a:off x="0" y="8371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>
              <a:solidFill>
                <a:schemeClr val="bg1"/>
              </a:solidFill>
            </a:rPr>
            <a:t>Label fusion techniques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33583" y="870746"/>
        <a:ext cx="10448434" cy="620794"/>
      </dsp:txXfrm>
    </dsp:sp>
    <dsp:sp modelId="{27A98A9A-3401-440A-8CC6-546DF0FA2CB4}">
      <dsp:nvSpPr>
        <dsp:cNvPr id="0" name=""/>
        <dsp:cNvSpPr/>
      </dsp:nvSpPr>
      <dsp:spPr>
        <a:xfrm>
          <a:off x="0" y="16057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Method wrt Disagreement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33583" y="1639346"/>
        <a:ext cx="10448434" cy="620794"/>
      </dsp:txXfrm>
    </dsp:sp>
    <dsp:sp modelId="{02FD74D9-5F4E-4431-88B8-3F6FEEAC005D}">
      <dsp:nvSpPr>
        <dsp:cNvPr id="0" name=""/>
        <dsp:cNvSpPr/>
      </dsp:nvSpPr>
      <dsp:spPr>
        <a:xfrm>
          <a:off x="0" y="23743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Soft vs Hard on Training/Validation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33583" y="2407946"/>
        <a:ext cx="10448434" cy="620794"/>
      </dsp:txXfrm>
    </dsp:sp>
    <dsp:sp modelId="{533D1F71-0B5D-4591-BC71-6DC872878E67}">
      <dsp:nvSpPr>
        <dsp:cNvPr id="0" name=""/>
        <dsp:cNvSpPr/>
      </dsp:nvSpPr>
      <dsp:spPr>
        <a:xfrm>
          <a:off x="0" y="31429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>
              <a:solidFill>
                <a:schemeClr val="bg1"/>
              </a:solidFill>
            </a:rPr>
            <a:t>Impact on Calibration</a:t>
          </a:r>
          <a:endParaRPr lang="en-US" sz="2800" kern="1200">
            <a:solidFill>
              <a:schemeClr val="bg1"/>
            </a:solidFill>
          </a:endParaRPr>
        </a:p>
      </dsp:txBody>
      <dsp:txXfrm>
        <a:off x="33583" y="3176546"/>
        <a:ext cx="10448434" cy="620794"/>
      </dsp:txXfrm>
    </dsp:sp>
    <dsp:sp modelId="{308A0D4D-CDF5-460F-BD1C-4FD7F78A0699}">
      <dsp:nvSpPr>
        <dsp:cNvPr id="0" name=""/>
        <dsp:cNvSpPr/>
      </dsp:nvSpPr>
      <dsp:spPr>
        <a:xfrm>
          <a:off x="0" y="3911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Label Fusion Choice &amp; Takeaways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33583" y="3945146"/>
        <a:ext cx="10448434" cy="6207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60E65-C887-4628-A6B8-7D1A1EC19CA1}">
      <dsp:nvSpPr>
        <dsp:cNvPr id="0" name=""/>
        <dsp:cNvSpPr/>
      </dsp:nvSpPr>
      <dsp:spPr>
        <a:xfrm>
          <a:off x="0" y="215055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5DBF2-EAC2-4C6E-B4BB-256F15795DA9}">
      <dsp:nvSpPr>
        <dsp:cNvPr id="0" name=""/>
        <dsp:cNvSpPr/>
      </dsp:nvSpPr>
      <dsp:spPr>
        <a:xfrm>
          <a:off x="328612" y="527237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700" kern="1200"/>
            <a:t>How do we merge, model or exploit multiple labels?</a:t>
          </a:r>
          <a:endParaRPr lang="en-US" sz="2700" kern="1200"/>
        </a:p>
      </dsp:txBody>
      <dsp:txXfrm>
        <a:off x="383617" y="582242"/>
        <a:ext cx="2847502" cy="1768010"/>
      </dsp:txXfrm>
    </dsp:sp>
    <dsp:sp modelId="{DCA4F210-AC7B-47EA-AC24-70452CF36335}">
      <dsp:nvSpPr>
        <dsp:cNvPr id="0" name=""/>
        <dsp:cNvSpPr/>
      </dsp:nvSpPr>
      <dsp:spPr>
        <a:xfrm>
          <a:off x="3614737" y="215055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067B7-6602-4CE9-9B5F-B5248165EC1B}">
      <dsp:nvSpPr>
        <dsp:cNvPr id="0" name=""/>
        <dsp:cNvSpPr/>
      </dsp:nvSpPr>
      <dsp:spPr>
        <a:xfrm>
          <a:off x="3943350" y="527237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700" kern="1200"/>
            <a:t>What is the impact on training and validation?</a:t>
          </a:r>
          <a:endParaRPr lang="en-US" sz="2700" kern="1200"/>
        </a:p>
      </dsp:txBody>
      <dsp:txXfrm>
        <a:off x="3998355" y="582242"/>
        <a:ext cx="2847502" cy="1768010"/>
      </dsp:txXfrm>
    </dsp:sp>
    <dsp:sp modelId="{1F5720F7-B4F5-4608-9836-1F4271C819D7}">
      <dsp:nvSpPr>
        <dsp:cNvPr id="0" name=""/>
        <dsp:cNvSpPr/>
      </dsp:nvSpPr>
      <dsp:spPr>
        <a:xfrm>
          <a:off x="7229475" y="215055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AB41D-0DA0-4296-AF84-A24C85E8737B}">
      <dsp:nvSpPr>
        <dsp:cNvPr id="0" name=""/>
        <dsp:cNvSpPr/>
      </dsp:nvSpPr>
      <dsp:spPr>
        <a:xfrm>
          <a:off x="7558087" y="527237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700" kern="1200"/>
            <a:t>How does this affect calibration and reliability?</a:t>
          </a:r>
          <a:endParaRPr lang="en-US" sz="2700" kern="1200"/>
        </a:p>
      </dsp:txBody>
      <dsp:txXfrm>
        <a:off x="7613092" y="582242"/>
        <a:ext cx="2847502" cy="17680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771A-A8B1-4E81-97F5-AD2DA7E344EE}">
      <dsp:nvSpPr>
        <dsp:cNvPr id="0" name=""/>
        <dsp:cNvSpPr/>
      </dsp:nvSpPr>
      <dsp:spPr>
        <a:xfrm>
          <a:off x="0" y="68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Motivation</a:t>
          </a:r>
          <a:endParaRPr lang="en-US" sz="2800" kern="1200"/>
        </a:p>
      </dsp:txBody>
      <dsp:txXfrm>
        <a:off x="33583" y="102146"/>
        <a:ext cx="10448434" cy="620794"/>
      </dsp:txXfrm>
    </dsp:sp>
    <dsp:sp modelId="{FEB7A37C-CD4A-436B-A851-C563DCDB4B3E}">
      <dsp:nvSpPr>
        <dsp:cNvPr id="0" name=""/>
        <dsp:cNvSpPr/>
      </dsp:nvSpPr>
      <dsp:spPr>
        <a:xfrm>
          <a:off x="0" y="8371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Label fusion techniques</a:t>
          </a:r>
          <a:endParaRPr lang="en-US" sz="2800" kern="1200"/>
        </a:p>
      </dsp:txBody>
      <dsp:txXfrm>
        <a:off x="33583" y="870746"/>
        <a:ext cx="10448434" cy="620794"/>
      </dsp:txXfrm>
    </dsp:sp>
    <dsp:sp modelId="{27A98A9A-3401-440A-8CC6-546DF0FA2CB4}">
      <dsp:nvSpPr>
        <dsp:cNvPr id="0" name=""/>
        <dsp:cNvSpPr/>
      </dsp:nvSpPr>
      <dsp:spPr>
        <a:xfrm>
          <a:off x="0" y="16057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Method wrt Disagreement</a:t>
          </a:r>
          <a:endParaRPr lang="en-US" sz="2800" kern="1200" dirty="0"/>
        </a:p>
      </dsp:txBody>
      <dsp:txXfrm>
        <a:off x="33583" y="1639346"/>
        <a:ext cx="10448434" cy="620794"/>
      </dsp:txXfrm>
    </dsp:sp>
    <dsp:sp modelId="{02FD74D9-5F4E-4431-88B8-3F6FEEAC005D}">
      <dsp:nvSpPr>
        <dsp:cNvPr id="0" name=""/>
        <dsp:cNvSpPr/>
      </dsp:nvSpPr>
      <dsp:spPr>
        <a:xfrm>
          <a:off x="0" y="23743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Soft vs Hard on Training/Validation</a:t>
          </a:r>
          <a:endParaRPr lang="en-US" sz="2800" kern="1200" dirty="0"/>
        </a:p>
      </dsp:txBody>
      <dsp:txXfrm>
        <a:off x="33583" y="2407946"/>
        <a:ext cx="10448434" cy="620794"/>
      </dsp:txXfrm>
    </dsp:sp>
    <dsp:sp modelId="{533D1F71-0B5D-4591-BC71-6DC872878E67}">
      <dsp:nvSpPr>
        <dsp:cNvPr id="0" name=""/>
        <dsp:cNvSpPr/>
      </dsp:nvSpPr>
      <dsp:spPr>
        <a:xfrm>
          <a:off x="0" y="31429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Impact on Calibration</a:t>
          </a:r>
          <a:endParaRPr lang="en-US" sz="2800" kern="1200"/>
        </a:p>
      </dsp:txBody>
      <dsp:txXfrm>
        <a:off x="33583" y="3176546"/>
        <a:ext cx="10448434" cy="620794"/>
      </dsp:txXfrm>
    </dsp:sp>
    <dsp:sp modelId="{308A0D4D-CDF5-460F-BD1C-4FD7F78A0699}">
      <dsp:nvSpPr>
        <dsp:cNvPr id="0" name=""/>
        <dsp:cNvSpPr/>
      </dsp:nvSpPr>
      <dsp:spPr>
        <a:xfrm>
          <a:off x="0" y="3911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Label Fusion Choice &amp; Takeaways</a:t>
          </a:r>
          <a:endParaRPr lang="en-US" sz="2800" kern="1200" dirty="0"/>
        </a:p>
      </dsp:txBody>
      <dsp:txXfrm>
        <a:off x="33583" y="3945146"/>
        <a:ext cx="10448434" cy="6207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494D8-35AA-475E-9F5C-85A1F3F8BF33}">
      <dsp:nvSpPr>
        <dsp:cNvPr id="0" name=""/>
        <dsp:cNvSpPr/>
      </dsp:nvSpPr>
      <dsp:spPr>
        <a:xfrm>
          <a:off x="24645" y="11"/>
          <a:ext cx="3270721" cy="1962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3500" kern="1200"/>
            <a:t>Naive Extremes</a:t>
          </a:r>
          <a:endParaRPr lang="en-US" sz="3500" kern="1200"/>
        </a:p>
      </dsp:txBody>
      <dsp:txXfrm>
        <a:off x="24645" y="11"/>
        <a:ext cx="3270721" cy="1962432"/>
      </dsp:txXfrm>
    </dsp:sp>
    <dsp:sp modelId="{94631E17-0943-4E9E-8507-3F33A7BC35E6}">
      <dsp:nvSpPr>
        <dsp:cNvPr id="0" name=""/>
        <dsp:cNvSpPr/>
      </dsp:nvSpPr>
      <dsp:spPr>
        <a:xfrm>
          <a:off x="3622439" y="11"/>
          <a:ext cx="3270721" cy="1962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3500" kern="1200" dirty="0"/>
            <a:t>Simple Consensus</a:t>
          </a:r>
          <a:endParaRPr lang="en-US" sz="3500" kern="1200" dirty="0"/>
        </a:p>
      </dsp:txBody>
      <dsp:txXfrm>
        <a:off x="3622439" y="11"/>
        <a:ext cx="3270721" cy="1962432"/>
      </dsp:txXfrm>
    </dsp:sp>
    <dsp:sp modelId="{303F8641-21AB-4A59-8A75-CAF35B0E87C8}">
      <dsp:nvSpPr>
        <dsp:cNvPr id="0" name=""/>
        <dsp:cNvSpPr/>
      </dsp:nvSpPr>
      <dsp:spPr>
        <a:xfrm>
          <a:off x="7220232" y="11"/>
          <a:ext cx="3270721" cy="1962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3500" kern="1200" dirty="0"/>
            <a:t>Random Sampling</a:t>
          </a:r>
          <a:endParaRPr lang="en-US" sz="3500" kern="1200" dirty="0"/>
        </a:p>
      </dsp:txBody>
      <dsp:txXfrm>
        <a:off x="7220232" y="11"/>
        <a:ext cx="3270721" cy="1962432"/>
      </dsp:txXfrm>
    </dsp:sp>
    <dsp:sp modelId="{076BFE3E-134C-41F9-B488-92B5D9145296}">
      <dsp:nvSpPr>
        <dsp:cNvPr id="0" name=""/>
        <dsp:cNvSpPr/>
      </dsp:nvSpPr>
      <dsp:spPr>
        <a:xfrm>
          <a:off x="24645" y="2289516"/>
          <a:ext cx="3270721" cy="1962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3500" kern="1200" dirty="0"/>
            <a:t>Soft Labels</a:t>
          </a:r>
          <a:endParaRPr lang="en-US" sz="3500" kern="1200" dirty="0"/>
        </a:p>
      </dsp:txBody>
      <dsp:txXfrm>
        <a:off x="24645" y="2289516"/>
        <a:ext cx="3270721" cy="1962432"/>
      </dsp:txXfrm>
    </dsp:sp>
    <dsp:sp modelId="{D0475F4A-AC53-490B-A37D-F252A609AE3E}">
      <dsp:nvSpPr>
        <dsp:cNvPr id="0" name=""/>
        <dsp:cNvSpPr/>
      </dsp:nvSpPr>
      <dsp:spPr>
        <a:xfrm>
          <a:off x="3622439" y="2289516"/>
          <a:ext cx="3270721" cy="1962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3500" kern="1200" dirty="0"/>
            <a:t>Probabilistic Modeling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(STAPLE)</a:t>
          </a:r>
        </a:p>
      </dsp:txBody>
      <dsp:txXfrm>
        <a:off x="3622439" y="2289516"/>
        <a:ext cx="3270721" cy="1962432"/>
      </dsp:txXfrm>
    </dsp:sp>
    <dsp:sp modelId="{B0995AE2-4512-461D-8A3E-8DE7AC1038B7}">
      <dsp:nvSpPr>
        <dsp:cNvPr id="0" name=""/>
        <dsp:cNvSpPr/>
      </dsp:nvSpPr>
      <dsp:spPr>
        <a:xfrm>
          <a:off x="7220232" y="2289516"/>
          <a:ext cx="3270721" cy="1962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3500" kern="1200" dirty="0"/>
            <a:t>Other Methods</a:t>
          </a:r>
          <a:endParaRPr lang="en-US" sz="3500" kern="1200" dirty="0"/>
        </a:p>
      </dsp:txBody>
      <dsp:txXfrm>
        <a:off x="7220232" y="2289516"/>
        <a:ext cx="3270721" cy="19624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771A-A8B1-4E81-97F5-AD2DA7E344EE}">
      <dsp:nvSpPr>
        <dsp:cNvPr id="0" name=""/>
        <dsp:cNvSpPr/>
      </dsp:nvSpPr>
      <dsp:spPr>
        <a:xfrm>
          <a:off x="0" y="68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Motivation</a:t>
          </a:r>
          <a:endParaRPr lang="en-US" sz="2800" kern="1200"/>
        </a:p>
      </dsp:txBody>
      <dsp:txXfrm>
        <a:off x="33583" y="102146"/>
        <a:ext cx="10448434" cy="620794"/>
      </dsp:txXfrm>
    </dsp:sp>
    <dsp:sp modelId="{FEB7A37C-CD4A-436B-A851-C563DCDB4B3E}">
      <dsp:nvSpPr>
        <dsp:cNvPr id="0" name=""/>
        <dsp:cNvSpPr/>
      </dsp:nvSpPr>
      <dsp:spPr>
        <a:xfrm>
          <a:off x="0" y="8371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Label fusion techniques</a:t>
          </a:r>
          <a:endParaRPr lang="en-US" sz="2800" kern="1200"/>
        </a:p>
      </dsp:txBody>
      <dsp:txXfrm>
        <a:off x="33583" y="870746"/>
        <a:ext cx="10448434" cy="620794"/>
      </dsp:txXfrm>
    </dsp:sp>
    <dsp:sp modelId="{27A98A9A-3401-440A-8CC6-546DF0FA2CB4}">
      <dsp:nvSpPr>
        <dsp:cNvPr id="0" name=""/>
        <dsp:cNvSpPr/>
      </dsp:nvSpPr>
      <dsp:spPr>
        <a:xfrm>
          <a:off x="0" y="16057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Method wrt Disagreement</a:t>
          </a:r>
          <a:endParaRPr lang="en-US" sz="2800" kern="1200" dirty="0"/>
        </a:p>
      </dsp:txBody>
      <dsp:txXfrm>
        <a:off x="33583" y="1639346"/>
        <a:ext cx="10448434" cy="620794"/>
      </dsp:txXfrm>
    </dsp:sp>
    <dsp:sp modelId="{02FD74D9-5F4E-4431-88B8-3F6FEEAC005D}">
      <dsp:nvSpPr>
        <dsp:cNvPr id="0" name=""/>
        <dsp:cNvSpPr/>
      </dsp:nvSpPr>
      <dsp:spPr>
        <a:xfrm>
          <a:off x="0" y="23743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Soft vs Hard on Training/Validation</a:t>
          </a:r>
          <a:endParaRPr lang="en-US" sz="2800" kern="1200" dirty="0"/>
        </a:p>
      </dsp:txBody>
      <dsp:txXfrm>
        <a:off x="33583" y="2407946"/>
        <a:ext cx="10448434" cy="620794"/>
      </dsp:txXfrm>
    </dsp:sp>
    <dsp:sp modelId="{533D1F71-0B5D-4591-BC71-6DC872878E67}">
      <dsp:nvSpPr>
        <dsp:cNvPr id="0" name=""/>
        <dsp:cNvSpPr/>
      </dsp:nvSpPr>
      <dsp:spPr>
        <a:xfrm>
          <a:off x="0" y="31429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Impact on Calibration</a:t>
          </a:r>
          <a:endParaRPr lang="en-US" sz="2800" kern="1200"/>
        </a:p>
      </dsp:txBody>
      <dsp:txXfrm>
        <a:off x="33583" y="3176546"/>
        <a:ext cx="10448434" cy="620794"/>
      </dsp:txXfrm>
    </dsp:sp>
    <dsp:sp modelId="{308A0D4D-CDF5-460F-BD1C-4FD7F78A0699}">
      <dsp:nvSpPr>
        <dsp:cNvPr id="0" name=""/>
        <dsp:cNvSpPr/>
      </dsp:nvSpPr>
      <dsp:spPr>
        <a:xfrm>
          <a:off x="0" y="3911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Label Fusion Choice &amp; Takeaways</a:t>
          </a:r>
          <a:endParaRPr lang="en-US" sz="2800" kern="1200" dirty="0"/>
        </a:p>
      </dsp:txBody>
      <dsp:txXfrm>
        <a:off x="33583" y="3945146"/>
        <a:ext cx="10448434" cy="6207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771A-A8B1-4E81-97F5-AD2DA7E344EE}">
      <dsp:nvSpPr>
        <dsp:cNvPr id="0" name=""/>
        <dsp:cNvSpPr/>
      </dsp:nvSpPr>
      <dsp:spPr>
        <a:xfrm>
          <a:off x="0" y="68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Motivation</a:t>
          </a:r>
          <a:endParaRPr lang="en-US" sz="2800" kern="1200"/>
        </a:p>
      </dsp:txBody>
      <dsp:txXfrm>
        <a:off x="33583" y="102146"/>
        <a:ext cx="10448434" cy="620794"/>
      </dsp:txXfrm>
    </dsp:sp>
    <dsp:sp modelId="{FEB7A37C-CD4A-436B-A851-C563DCDB4B3E}">
      <dsp:nvSpPr>
        <dsp:cNvPr id="0" name=""/>
        <dsp:cNvSpPr/>
      </dsp:nvSpPr>
      <dsp:spPr>
        <a:xfrm>
          <a:off x="0" y="8371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Label fusion techniques</a:t>
          </a:r>
          <a:endParaRPr lang="en-US" sz="2800" kern="1200"/>
        </a:p>
      </dsp:txBody>
      <dsp:txXfrm>
        <a:off x="33583" y="870746"/>
        <a:ext cx="10448434" cy="620794"/>
      </dsp:txXfrm>
    </dsp:sp>
    <dsp:sp modelId="{27A98A9A-3401-440A-8CC6-546DF0FA2CB4}">
      <dsp:nvSpPr>
        <dsp:cNvPr id="0" name=""/>
        <dsp:cNvSpPr/>
      </dsp:nvSpPr>
      <dsp:spPr>
        <a:xfrm>
          <a:off x="0" y="16057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Method wrt Disagreement</a:t>
          </a:r>
          <a:endParaRPr lang="en-US" sz="2800" kern="1200" dirty="0"/>
        </a:p>
      </dsp:txBody>
      <dsp:txXfrm>
        <a:off x="33583" y="1639346"/>
        <a:ext cx="10448434" cy="620794"/>
      </dsp:txXfrm>
    </dsp:sp>
    <dsp:sp modelId="{02FD74D9-5F4E-4431-88B8-3F6FEEAC005D}">
      <dsp:nvSpPr>
        <dsp:cNvPr id="0" name=""/>
        <dsp:cNvSpPr/>
      </dsp:nvSpPr>
      <dsp:spPr>
        <a:xfrm>
          <a:off x="0" y="23743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Soft vs Hard on Training/Validation</a:t>
          </a:r>
          <a:endParaRPr lang="en-US" sz="2800" kern="1200" dirty="0"/>
        </a:p>
      </dsp:txBody>
      <dsp:txXfrm>
        <a:off x="33583" y="2407946"/>
        <a:ext cx="10448434" cy="620794"/>
      </dsp:txXfrm>
    </dsp:sp>
    <dsp:sp modelId="{533D1F71-0B5D-4591-BC71-6DC872878E67}">
      <dsp:nvSpPr>
        <dsp:cNvPr id="0" name=""/>
        <dsp:cNvSpPr/>
      </dsp:nvSpPr>
      <dsp:spPr>
        <a:xfrm>
          <a:off x="0" y="31429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Impact on Calibration</a:t>
          </a:r>
          <a:endParaRPr lang="en-US" sz="2800" kern="1200"/>
        </a:p>
      </dsp:txBody>
      <dsp:txXfrm>
        <a:off x="33583" y="3176546"/>
        <a:ext cx="10448434" cy="620794"/>
      </dsp:txXfrm>
    </dsp:sp>
    <dsp:sp modelId="{308A0D4D-CDF5-460F-BD1C-4FD7F78A0699}">
      <dsp:nvSpPr>
        <dsp:cNvPr id="0" name=""/>
        <dsp:cNvSpPr/>
      </dsp:nvSpPr>
      <dsp:spPr>
        <a:xfrm>
          <a:off x="0" y="3911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Label Fusion Choice &amp; Takeaways</a:t>
          </a:r>
          <a:endParaRPr lang="en-US" sz="2800" kern="1200" dirty="0"/>
        </a:p>
      </dsp:txBody>
      <dsp:txXfrm>
        <a:off x="33583" y="3945146"/>
        <a:ext cx="10448434" cy="6207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771A-A8B1-4E81-97F5-AD2DA7E344EE}">
      <dsp:nvSpPr>
        <dsp:cNvPr id="0" name=""/>
        <dsp:cNvSpPr/>
      </dsp:nvSpPr>
      <dsp:spPr>
        <a:xfrm>
          <a:off x="0" y="68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Motivation</a:t>
          </a:r>
          <a:endParaRPr lang="en-US" sz="2800" kern="1200"/>
        </a:p>
      </dsp:txBody>
      <dsp:txXfrm>
        <a:off x="33583" y="102146"/>
        <a:ext cx="10448434" cy="620794"/>
      </dsp:txXfrm>
    </dsp:sp>
    <dsp:sp modelId="{FEB7A37C-CD4A-436B-A851-C563DCDB4B3E}">
      <dsp:nvSpPr>
        <dsp:cNvPr id="0" name=""/>
        <dsp:cNvSpPr/>
      </dsp:nvSpPr>
      <dsp:spPr>
        <a:xfrm>
          <a:off x="0" y="8371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Label fusion techniques</a:t>
          </a:r>
          <a:endParaRPr lang="en-US" sz="2800" kern="1200"/>
        </a:p>
      </dsp:txBody>
      <dsp:txXfrm>
        <a:off x="33583" y="870746"/>
        <a:ext cx="10448434" cy="620794"/>
      </dsp:txXfrm>
    </dsp:sp>
    <dsp:sp modelId="{27A98A9A-3401-440A-8CC6-546DF0FA2CB4}">
      <dsp:nvSpPr>
        <dsp:cNvPr id="0" name=""/>
        <dsp:cNvSpPr/>
      </dsp:nvSpPr>
      <dsp:spPr>
        <a:xfrm>
          <a:off x="0" y="16057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Method wrt Disagreement</a:t>
          </a:r>
          <a:endParaRPr lang="en-US" sz="2800" kern="1200" dirty="0"/>
        </a:p>
      </dsp:txBody>
      <dsp:txXfrm>
        <a:off x="33583" y="1639346"/>
        <a:ext cx="10448434" cy="620794"/>
      </dsp:txXfrm>
    </dsp:sp>
    <dsp:sp modelId="{02FD74D9-5F4E-4431-88B8-3F6FEEAC005D}">
      <dsp:nvSpPr>
        <dsp:cNvPr id="0" name=""/>
        <dsp:cNvSpPr/>
      </dsp:nvSpPr>
      <dsp:spPr>
        <a:xfrm>
          <a:off x="0" y="23743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Impact on model Training and Validation</a:t>
          </a:r>
          <a:endParaRPr lang="en-US" sz="2800" kern="1200"/>
        </a:p>
      </dsp:txBody>
      <dsp:txXfrm>
        <a:off x="33583" y="2407946"/>
        <a:ext cx="10448434" cy="620794"/>
      </dsp:txXfrm>
    </dsp:sp>
    <dsp:sp modelId="{533D1F71-0B5D-4591-BC71-6DC872878E67}">
      <dsp:nvSpPr>
        <dsp:cNvPr id="0" name=""/>
        <dsp:cNvSpPr/>
      </dsp:nvSpPr>
      <dsp:spPr>
        <a:xfrm>
          <a:off x="0" y="31429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Impact on Calibration</a:t>
          </a:r>
          <a:endParaRPr lang="en-US" sz="2800" kern="1200"/>
        </a:p>
      </dsp:txBody>
      <dsp:txXfrm>
        <a:off x="33583" y="3176546"/>
        <a:ext cx="10448434" cy="620794"/>
      </dsp:txXfrm>
    </dsp:sp>
    <dsp:sp modelId="{308A0D4D-CDF5-460F-BD1C-4FD7F78A0699}">
      <dsp:nvSpPr>
        <dsp:cNvPr id="0" name=""/>
        <dsp:cNvSpPr/>
      </dsp:nvSpPr>
      <dsp:spPr>
        <a:xfrm>
          <a:off x="0" y="3911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Label Fusion Choice &amp; Takeaways</a:t>
          </a:r>
          <a:endParaRPr lang="en-US" sz="2800" kern="1200" dirty="0"/>
        </a:p>
      </dsp:txBody>
      <dsp:txXfrm>
        <a:off x="33583" y="3945146"/>
        <a:ext cx="10448434" cy="6207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771A-A8B1-4E81-97F5-AD2DA7E344EE}">
      <dsp:nvSpPr>
        <dsp:cNvPr id="0" name=""/>
        <dsp:cNvSpPr/>
      </dsp:nvSpPr>
      <dsp:spPr>
        <a:xfrm>
          <a:off x="0" y="685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Motivation</a:t>
          </a:r>
          <a:endParaRPr lang="en-US" sz="2800" kern="1200"/>
        </a:p>
      </dsp:txBody>
      <dsp:txXfrm>
        <a:off x="33583" y="102146"/>
        <a:ext cx="10448434" cy="620794"/>
      </dsp:txXfrm>
    </dsp:sp>
    <dsp:sp modelId="{FEB7A37C-CD4A-436B-A851-C563DCDB4B3E}">
      <dsp:nvSpPr>
        <dsp:cNvPr id="0" name=""/>
        <dsp:cNvSpPr/>
      </dsp:nvSpPr>
      <dsp:spPr>
        <a:xfrm>
          <a:off x="0" y="8371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Label fusion techniques</a:t>
          </a:r>
          <a:endParaRPr lang="en-US" sz="2800" kern="1200"/>
        </a:p>
      </dsp:txBody>
      <dsp:txXfrm>
        <a:off x="33583" y="870746"/>
        <a:ext cx="10448434" cy="620794"/>
      </dsp:txXfrm>
    </dsp:sp>
    <dsp:sp modelId="{27A98A9A-3401-440A-8CC6-546DF0FA2CB4}">
      <dsp:nvSpPr>
        <dsp:cNvPr id="0" name=""/>
        <dsp:cNvSpPr/>
      </dsp:nvSpPr>
      <dsp:spPr>
        <a:xfrm>
          <a:off x="0" y="16057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Method wrt Disagreement</a:t>
          </a:r>
          <a:endParaRPr lang="en-US" sz="2800" kern="1200" dirty="0"/>
        </a:p>
      </dsp:txBody>
      <dsp:txXfrm>
        <a:off x="33583" y="1639346"/>
        <a:ext cx="10448434" cy="620794"/>
      </dsp:txXfrm>
    </dsp:sp>
    <dsp:sp modelId="{02FD74D9-5F4E-4431-88B8-3F6FEEAC005D}">
      <dsp:nvSpPr>
        <dsp:cNvPr id="0" name=""/>
        <dsp:cNvSpPr/>
      </dsp:nvSpPr>
      <dsp:spPr>
        <a:xfrm>
          <a:off x="0" y="23743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Soft vs Hard on Training/Validation</a:t>
          </a:r>
          <a:endParaRPr lang="en-US" sz="2800" kern="1200" dirty="0"/>
        </a:p>
      </dsp:txBody>
      <dsp:txXfrm>
        <a:off x="33583" y="2407946"/>
        <a:ext cx="10448434" cy="620794"/>
      </dsp:txXfrm>
    </dsp:sp>
    <dsp:sp modelId="{533D1F71-0B5D-4591-BC71-6DC872878E67}">
      <dsp:nvSpPr>
        <dsp:cNvPr id="0" name=""/>
        <dsp:cNvSpPr/>
      </dsp:nvSpPr>
      <dsp:spPr>
        <a:xfrm>
          <a:off x="0" y="3142963"/>
          <a:ext cx="10515600" cy="68796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/>
            <a:t>Impact on Calibration</a:t>
          </a:r>
          <a:endParaRPr lang="en-US" sz="2800" kern="1200"/>
        </a:p>
      </dsp:txBody>
      <dsp:txXfrm>
        <a:off x="33583" y="3176546"/>
        <a:ext cx="10448434" cy="620794"/>
      </dsp:txXfrm>
    </dsp:sp>
    <dsp:sp modelId="{308A0D4D-CDF5-460F-BD1C-4FD7F78A0699}">
      <dsp:nvSpPr>
        <dsp:cNvPr id="0" name=""/>
        <dsp:cNvSpPr/>
      </dsp:nvSpPr>
      <dsp:spPr>
        <a:xfrm>
          <a:off x="0" y="3911563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2800" kern="1200" dirty="0"/>
            <a:t>Label Fusion Choice &amp; Takeaways</a:t>
          </a:r>
          <a:endParaRPr lang="en-US" sz="2800" kern="1200" dirty="0"/>
        </a:p>
      </dsp:txBody>
      <dsp:txXfrm>
        <a:off x="33583" y="3945146"/>
        <a:ext cx="10448434" cy="620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20BC2-7254-47EF-B123-C8255157A2EA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20EAD-ECA5-45A9-A96F-18DD4091518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80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9323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s-ES" sz="2800" dirty="0"/>
              <a:t>Medical </a:t>
            </a:r>
            <a:r>
              <a:rPr lang="es-ES" sz="2800" dirty="0" err="1"/>
              <a:t>images</a:t>
            </a:r>
            <a:r>
              <a:rPr lang="es-ES" sz="2800" dirty="0"/>
              <a:t> -&gt; data </a:t>
            </a:r>
            <a:r>
              <a:rPr lang="es-ES" sz="2800" dirty="0" err="1"/>
              <a:t>uncertainty</a:t>
            </a:r>
            <a:r>
              <a:rPr lang="es-ES" sz="2800" dirty="0"/>
              <a:t> -&gt; no </a:t>
            </a:r>
            <a:r>
              <a:rPr lang="es-ES" sz="2800" dirty="0" err="1"/>
              <a:t>correct</a:t>
            </a:r>
            <a:r>
              <a:rPr lang="es-ES" sz="2800" dirty="0"/>
              <a:t> </a:t>
            </a:r>
            <a:r>
              <a:rPr lang="es-ES" sz="2800" dirty="0" err="1"/>
              <a:t>unique</a:t>
            </a:r>
            <a:r>
              <a:rPr lang="es-ES" sz="2800" dirty="0"/>
              <a:t> </a:t>
            </a:r>
            <a:r>
              <a:rPr lang="es-ES" sz="2800" dirty="0" err="1"/>
              <a:t>label</a:t>
            </a:r>
            <a:r>
              <a:rPr lang="es-ES" sz="2800" dirty="0"/>
              <a:t> (</a:t>
            </a:r>
            <a:r>
              <a:rPr lang="es-ES" sz="2800" dirty="0" err="1"/>
              <a:t>ambiguous</a:t>
            </a:r>
            <a:r>
              <a:rPr lang="es-ES" sz="2800" dirty="0"/>
              <a:t>, </a:t>
            </a:r>
            <a:r>
              <a:rPr lang="es-ES" sz="2800" dirty="0" err="1"/>
              <a:t>boundaries</a:t>
            </a:r>
            <a:r>
              <a:rPr lang="es-ES" sz="2800" dirty="0"/>
              <a:t> </a:t>
            </a:r>
            <a:r>
              <a:rPr lang="es-ES" sz="2800" dirty="0" err="1"/>
              <a:t>blurred</a:t>
            </a:r>
            <a:r>
              <a:rPr lang="es-ES" sz="2800" dirty="0"/>
              <a:t>) -&gt; </a:t>
            </a:r>
            <a:r>
              <a:rPr lang="es-ES" sz="2800" dirty="0" err="1"/>
              <a:t>aleatoric</a:t>
            </a:r>
            <a:r>
              <a:rPr lang="es-ES" sz="2800" dirty="0"/>
              <a:t> </a:t>
            </a:r>
            <a:r>
              <a:rPr lang="es-ES" sz="2800" dirty="0" err="1"/>
              <a:t>uncertainty</a:t>
            </a:r>
            <a:r>
              <a:rPr lang="es-ES" sz="2800" dirty="0"/>
              <a:t> -&gt; </a:t>
            </a:r>
            <a:r>
              <a:rPr lang="es-ES" sz="2800" dirty="0" err="1"/>
              <a:t>inherent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data </a:t>
            </a:r>
            <a:r>
              <a:rPr lang="es-ES" sz="2800" dirty="0" err="1"/>
              <a:t>itself</a:t>
            </a:r>
            <a:endParaRPr lang="es-ES" sz="2800" dirty="0"/>
          </a:p>
          <a:p>
            <a:pPr lvl="1"/>
            <a:r>
              <a:rPr lang="es-ES" sz="2800" dirty="0"/>
              <a:t>Direct </a:t>
            </a:r>
            <a:r>
              <a:rPr lang="es-ES" sz="2800" dirty="0" err="1"/>
              <a:t>consequence</a:t>
            </a:r>
            <a:r>
              <a:rPr lang="es-ES" sz="2800" dirty="0"/>
              <a:t> -&gt; </a:t>
            </a:r>
            <a:r>
              <a:rPr lang="es-ES" sz="2800" dirty="0" err="1"/>
              <a:t>interrater</a:t>
            </a:r>
            <a:r>
              <a:rPr lang="es-ES" sz="2800" dirty="0"/>
              <a:t> </a:t>
            </a:r>
            <a:r>
              <a:rPr lang="es-ES" sz="2800" dirty="0" err="1"/>
              <a:t>variability</a:t>
            </a:r>
            <a:r>
              <a:rPr lang="es-ES" sz="2800" dirty="0"/>
              <a:t> -&gt; </a:t>
            </a:r>
            <a:r>
              <a:rPr lang="es-ES" sz="2800" dirty="0" err="1"/>
              <a:t>if</a:t>
            </a:r>
            <a:r>
              <a:rPr lang="es-ES" sz="2800" dirty="0"/>
              <a:t> </a:t>
            </a:r>
            <a:r>
              <a:rPr lang="es-ES" sz="2800" dirty="0" err="1"/>
              <a:t>we</a:t>
            </a:r>
            <a:r>
              <a:rPr lang="es-ES" sz="2800" dirty="0"/>
              <a:t> </a:t>
            </a:r>
            <a:r>
              <a:rPr lang="es-ES" sz="2800" dirty="0" err="1"/>
              <a:t>ask</a:t>
            </a:r>
            <a:r>
              <a:rPr lang="es-ES" sz="2800" dirty="0"/>
              <a:t> </a:t>
            </a:r>
            <a:r>
              <a:rPr lang="es-ES" sz="2800" dirty="0" err="1"/>
              <a:t>radiologists</a:t>
            </a:r>
            <a:r>
              <a:rPr lang="es-ES" sz="2800" dirty="0"/>
              <a:t> </a:t>
            </a:r>
            <a:r>
              <a:rPr lang="es-ES" sz="2800" dirty="0" err="1"/>
              <a:t>they</a:t>
            </a:r>
            <a:r>
              <a:rPr lang="es-ES" sz="2800" dirty="0"/>
              <a:t> Will </a:t>
            </a:r>
            <a:r>
              <a:rPr lang="es-ES" sz="2800" dirty="0" err="1"/>
              <a:t>often</a:t>
            </a:r>
            <a:r>
              <a:rPr lang="es-ES" sz="2800" dirty="0"/>
              <a:t> </a:t>
            </a:r>
            <a:r>
              <a:rPr lang="es-ES" sz="2800" dirty="0" err="1"/>
              <a:t>disagree</a:t>
            </a:r>
            <a:r>
              <a:rPr lang="es-ES" sz="2800" dirty="0"/>
              <a:t> (tumor </a:t>
            </a:r>
            <a:r>
              <a:rPr lang="es-ES" sz="2800" dirty="0" err="1"/>
              <a:t>margins</a:t>
            </a:r>
            <a:r>
              <a:rPr lang="es-ES" sz="2800" dirty="0"/>
              <a:t>, </a:t>
            </a:r>
            <a:r>
              <a:rPr lang="es-ES" sz="2800" dirty="0" err="1"/>
              <a:t>small</a:t>
            </a:r>
            <a:r>
              <a:rPr lang="es-ES" sz="2800" dirty="0"/>
              <a:t> </a:t>
            </a:r>
            <a:r>
              <a:rPr lang="es-ES" sz="2800" dirty="0" err="1"/>
              <a:t>structures</a:t>
            </a:r>
            <a:r>
              <a:rPr lang="es-ES" sz="2800" dirty="0"/>
              <a:t>…) -&gt; </a:t>
            </a:r>
            <a:r>
              <a:rPr lang="es-ES" sz="2800" dirty="0" err="1"/>
              <a:t>these</a:t>
            </a:r>
            <a:r>
              <a:rPr lang="es-ES" sz="2800" dirty="0"/>
              <a:t> are </a:t>
            </a:r>
            <a:r>
              <a:rPr lang="es-ES" sz="2800" dirty="0" err="1"/>
              <a:t>reflextions</a:t>
            </a:r>
            <a:r>
              <a:rPr lang="es-ES" sz="2800" dirty="0"/>
              <a:t> </a:t>
            </a:r>
            <a:r>
              <a:rPr lang="es-ES" sz="2800" dirty="0" err="1"/>
              <a:t>of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ambiguity</a:t>
            </a:r>
            <a:r>
              <a:rPr lang="es-ES" sz="2800" dirty="0"/>
              <a:t> in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image</a:t>
            </a:r>
            <a:r>
              <a:rPr lang="es-ES" sz="2800" dirty="0"/>
              <a:t> &amp; </a:t>
            </a:r>
            <a:r>
              <a:rPr lang="es-ES" sz="2800" dirty="0" err="1"/>
              <a:t>different</a:t>
            </a:r>
            <a:r>
              <a:rPr lang="es-ES" sz="2800" dirty="0"/>
              <a:t> </a:t>
            </a:r>
            <a:r>
              <a:rPr lang="es-ES" sz="2800" dirty="0" err="1"/>
              <a:t>ways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interpret</a:t>
            </a:r>
            <a:r>
              <a:rPr lang="es-ES" sz="2800" dirty="0"/>
              <a:t> </a:t>
            </a:r>
            <a:r>
              <a:rPr lang="es-ES" sz="2800" dirty="0" err="1"/>
              <a:t>it</a:t>
            </a:r>
            <a:r>
              <a:rPr lang="es-ES" sz="2800" dirty="0"/>
              <a:t> -&gt; </a:t>
            </a:r>
            <a:r>
              <a:rPr lang="es-ES" sz="2800" dirty="0" err="1"/>
              <a:t>variability</a:t>
            </a:r>
            <a:r>
              <a:rPr lang="es-ES" sz="2800" dirty="0"/>
              <a:t> </a:t>
            </a:r>
            <a:r>
              <a:rPr lang="es-ES" sz="2800" dirty="0" err="1"/>
              <a:t>among</a:t>
            </a:r>
            <a:r>
              <a:rPr lang="es-ES" sz="2800" dirty="0"/>
              <a:t> </a:t>
            </a:r>
            <a:r>
              <a:rPr lang="es-ES" sz="2800" dirty="0" err="1"/>
              <a:t>annotatoris</a:t>
            </a:r>
            <a:r>
              <a:rPr lang="es-ES" sz="2800" dirty="0"/>
              <a:t> </a:t>
            </a:r>
            <a:r>
              <a:rPr lang="es-ES" sz="2800" dirty="0" err="1"/>
              <a:t>is</a:t>
            </a:r>
            <a:r>
              <a:rPr lang="es-ES" sz="2800" dirty="0"/>
              <a:t> </a:t>
            </a:r>
            <a:r>
              <a:rPr lang="es-ES" sz="2800" dirty="0" err="1"/>
              <a:t>telling</a:t>
            </a:r>
            <a:r>
              <a:rPr lang="es-ES" sz="2800" dirty="0"/>
              <a:t> </a:t>
            </a:r>
            <a:r>
              <a:rPr lang="es-ES" sz="2800" dirty="0" err="1"/>
              <a:t>us</a:t>
            </a:r>
            <a:r>
              <a:rPr lang="es-ES" sz="2800" dirty="0"/>
              <a:t> </a:t>
            </a:r>
            <a:r>
              <a:rPr lang="es-ES" sz="2800" dirty="0" err="1"/>
              <a:t>something</a:t>
            </a:r>
            <a:r>
              <a:rPr lang="es-ES" sz="2800" dirty="0"/>
              <a:t> </a:t>
            </a:r>
            <a:r>
              <a:rPr lang="es-ES" sz="2800" dirty="0" err="1"/>
              <a:t>relevant</a:t>
            </a:r>
            <a:r>
              <a:rPr lang="es-ES" sz="2800" dirty="0"/>
              <a:t> &amp; </a:t>
            </a:r>
            <a:r>
              <a:rPr lang="es-ES" sz="2800" dirty="0" err="1"/>
              <a:t>valuable</a:t>
            </a:r>
            <a:r>
              <a:rPr lang="es-ES" sz="2800" dirty="0"/>
              <a:t> </a:t>
            </a:r>
            <a:r>
              <a:rPr lang="es-ES" sz="2800" dirty="0" err="1"/>
              <a:t>about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data</a:t>
            </a:r>
          </a:p>
          <a:p>
            <a:pPr lvl="1"/>
            <a:r>
              <a:rPr lang="es-ES" sz="2800" dirty="0" err="1"/>
              <a:t>Rather</a:t>
            </a:r>
            <a:r>
              <a:rPr lang="es-ES" sz="2800" dirty="0"/>
              <a:t> tan </a:t>
            </a:r>
            <a:r>
              <a:rPr lang="es-ES" sz="2800" dirty="0" err="1"/>
              <a:t>ignoring</a:t>
            </a:r>
            <a:r>
              <a:rPr lang="es-ES" sz="2800" dirty="0"/>
              <a:t> </a:t>
            </a:r>
            <a:r>
              <a:rPr lang="es-ES" sz="2800" dirty="0" err="1"/>
              <a:t>it</a:t>
            </a:r>
            <a:r>
              <a:rPr lang="es-ES" sz="2800" dirty="0"/>
              <a:t> </a:t>
            </a:r>
            <a:r>
              <a:rPr lang="es-ES" sz="2800" dirty="0" err="1"/>
              <a:t>we</a:t>
            </a:r>
            <a:r>
              <a:rPr lang="es-ES" sz="2800" dirty="0"/>
              <a:t> </a:t>
            </a:r>
            <a:r>
              <a:rPr lang="es-ES" sz="2800" dirty="0" err="1"/>
              <a:t>should</a:t>
            </a:r>
            <a:r>
              <a:rPr lang="es-ES" sz="2800" dirty="0"/>
              <a:t> </a:t>
            </a:r>
            <a:r>
              <a:rPr lang="es-ES" sz="2800" dirty="0" err="1"/>
              <a:t>exploit</a:t>
            </a:r>
            <a:r>
              <a:rPr lang="es-ES" sz="2800" dirty="0"/>
              <a:t> </a:t>
            </a:r>
            <a:r>
              <a:rPr lang="es-ES" sz="2800" dirty="0" err="1"/>
              <a:t>it</a:t>
            </a:r>
            <a:r>
              <a:rPr lang="es-ES" sz="2800" dirty="0"/>
              <a:t> -&gt;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level</a:t>
            </a:r>
            <a:r>
              <a:rPr lang="es-ES" sz="2800" dirty="0"/>
              <a:t> </a:t>
            </a:r>
            <a:r>
              <a:rPr lang="es-ES" sz="2800" dirty="0" err="1"/>
              <a:t>of</a:t>
            </a:r>
            <a:r>
              <a:rPr lang="es-ES" sz="2800" dirty="0"/>
              <a:t> </a:t>
            </a:r>
            <a:r>
              <a:rPr lang="es-ES" sz="2800" dirty="0" err="1"/>
              <a:t>disagreement</a:t>
            </a:r>
            <a:r>
              <a:rPr lang="es-ES" sz="2800" dirty="0"/>
              <a:t> can guide </a:t>
            </a:r>
            <a:r>
              <a:rPr lang="es-ES" sz="2800" dirty="0" err="1"/>
              <a:t>how</a:t>
            </a:r>
            <a:r>
              <a:rPr lang="es-ES" sz="2800" dirty="0"/>
              <a:t> </a:t>
            </a:r>
            <a:r>
              <a:rPr lang="es-ES" sz="2800" dirty="0" err="1"/>
              <a:t>we</a:t>
            </a:r>
            <a:r>
              <a:rPr lang="es-ES" sz="2800" dirty="0"/>
              <a:t> </a:t>
            </a:r>
            <a:r>
              <a:rPr lang="es-ES" sz="2800" dirty="0" err="1"/>
              <a:t>process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tables and </a:t>
            </a:r>
            <a:r>
              <a:rPr lang="es-ES" sz="2800" dirty="0" err="1"/>
              <a:t>how</a:t>
            </a:r>
            <a:r>
              <a:rPr lang="es-ES" sz="2800" dirty="0"/>
              <a:t> </a:t>
            </a:r>
            <a:r>
              <a:rPr lang="es-ES" sz="2800" dirty="0" err="1"/>
              <a:t>we</a:t>
            </a:r>
            <a:r>
              <a:rPr lang="es-ES" sz="2800" dirty="0"/>
              <a:t> </a:t>
            </a:r>
            <a:r>
              <a:rPr lang="es-ES" sz="2800" dirty="0" err="1"/>
              <a:t>train</a:t>
            </a:r>
            <a:r>
              <a:rPr lang="es-ES" sz="2800" dirty="0"/>
              <a:t> </a:t>
            </a:r>
            <a:r>
              <a:rPr lang="es-ES" sz="2800" dirty="0" err="1"/>
              <a:t>our</a:t>
            </a:r>
            <a:r>
              <a:rPr lang="es-ES" sz="2800" dirty="0"/>
              <a:t> </a:t>
            </a:r>
            <a:r>
              <a:rPr lang="es-ES" sz="2800" dirty="0" err="1"/>
              <a:t>models</a:t>
            </a:r>
            <a:r>
              <a:rPr lang="es-ES" sz="2800" dirty="0"/>
              <a:t> -&gt;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aligning</a:t>
            </a:r>
            <a:r>
              <a:rPr lang="es-ES" sz="2800" dirty="0"/>
              <a:t> </a:t>
            </a:r>
            <a:r>
              <a:rPr lang="es-ES" sz="2800" dirty="0" err="1"/>
              <a:t>our</a:t>
            </a:r>
            <a:r>
              <a:rPr lang="es-ES" sz="2800" dirty="0"/>
              <a:t> </a:t>
            </a:r>
            <a:r>
              <a:rPr lang="es-ES" sz="2800" dirty="0" err="1"/>
              <a:t>strategy</a:t>
            </a:r>
            <a:r>
              <a:rPr lang="es-ES" sz="2800" dirty="0"/>
              <a:t> </a:t>
            </a:r>
            <a:r>
              <a:rPr lang="es-ES" sz="2800" dirty="0" err="1"/>
              <a:t>of</a:t>
            </a:r>
            <a:r>
              <a:rPr lang="es-ES" sz="2800" dirty="0"/>
              <a:t> </a:t>
            </a:r>
            <a:r>
              <a:rPr lang="es-ES" sz="2800" dirty="0" err="1"/>
              <a:t>dealing</a:t>
            </a:r>
            <a:r>
              <a:rPr lang="es-ES" sz="2800" dirty="0"/>
              <a:t> </a:t>
            </a:r>
            <a:r>
              <a:rPr lang="es-ES" sz="2800" dirty="0" err="1"/>
              <a:t>with</a:t>
            </a:r>
            <a:r>
              <a:rPr lang="es-ES" sz="2800" dirty="0"/>
              <a:t> </a:t>
            </a:r>
            <a:r>
              <a:rPr lang="es-ES" sz="2800" dirty="0" err="1"/>
              <a:t>multirater</a:t>
            </a:r>
            <a:r>
              <a:rPr lang="es-ES" sz="2800" dirty="0"/>
              <a:t> </a:t>
            </a:r>
            <a:r>
              <a:rPr lang="es-ES" sz="2800" dirty="0" err="1"/>
              <a:t>annotations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level</a:t>
            </a:r>
            <a:r>
              <a:rPr lang="es-ES" sz="2800" dirty="0"/>
              <a:t> </a:t>
            </a:r>
            <a:r>
              <a:rPr lang="es-ES" sz="2800" dirty="0" err="1"/>
              <a:t>of</a:t>
            </a:r>
            <a:r>
              <a:rPr lang="es-ES" sz="2800" dirty="0"/>
              <a:t> </a:t>
            </a:r>
            <a:r>
              <a:rPr lang="es-ES" sz="2800" dirty="0" err="1"/>
              <a:t>disagreement</a:t>
            </a:r>
            <a:r>
              <a:rPr lang="es-ES" sz="2800" dirty="0"/>
              <a:t> </a:t>
            </a:r>
            <a:r>
              <a:rPr lang="es-ES" sz="2800" dirty="0" err="1"/>
              <a:t>we</a:t>
            </a:r>
            <a:r>
              <a:rPr lang="es-ES" sz="2800" dirty="0"/>
              <a:t> can </a:t>
            </a:r>
            <a:r>
              <a:rPr lang="es-ES" sz="2800" dirty="0" err="1"/>
              <a:t>build</a:t>
            </a:r>
            <a:r>
              <a:rPr lang="es-ES" sz="2800" dirty="0"/>
              <a:t> </a:t>
            </a:r>
            <a:r>
              <a:rPr lang="es-ES" sz="2800" dirty="0" err="1"/>
              <a:t>models</a:t>
            </a:r>
            <a:r>
              <a:rPr lang="es-ES" sz="2800" dirty="0"/>
              <a:t> + </a:t>
            </a:r>
            <a:r>
              <a:rPr lang="es-ES" sz="2800" dirty="0" err="1"/>
              <a:t>accurate</a:t>
            </a:r>
            <a:r>
              <a:rPr lang="es-ES" sz="2800" dirty="0"/>
              <a:t> and </a:t>
            </a:r>
            <a:r>
              <a:rPr lang="es-ES" sz="2800" dirty="0" err="1"/>
              <a:t>better</a:t>
            </a:r>
            <a:r>
              <a:rPr lang="es-ES" sz="2800" dirty="0"/>
              <a:t> </a:t>
            </a:r>
            <a:r>
              <a:rPr lang="es-ES" sz="2800" dirty="0" err="1"/>
              <a:t>calibrated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real </a:t>
            </a:r>
            <a:r>
              <a:rPr lang="es-ES" sz="2800" dirty="0" err="1"/>
              <a:t>uncertainty</a:t>
            </a:r>
            <a:endParaRPr lang="es-ES" sz="2800" dirty="0"/>
          </a:p>
          <a:p>
            <a:pPr lvl="1"/>
            <a:endParaRPr lang="es-ES" sz="2800" dirty="0"/>
          </a:p>
          <a:p>
            <a:pPr lvl="1"/>
            <a:r>
              <a:rPr lang="es-ES" sz="2800" dirty="0"/>
              <a:t>TREATING </a:t>
            </a:r>
            <a:r>
              <a:rPr lang="es-ES" sz="2800" dirty="0" err="1"/>
              <a:t>disagreement</a:t>
            </a:r>
            <a:r>
              <a:rPr lang="es-ES" sz="2800" dirty="0"/>
              <a:t> as a </a:t>
            </a:r>
            <a:r>
              <a:rPr lang="es-ES" sz="2800" dirty="0" err="1"/>
              <a:t>signal</a:t>
            </a:r>
            <a:r>
              <a:rPr lang="es-ES" sz="2800" dirty="0"/>
              <a:t>, </a:t>
            </a:r>
            <a:r>
              <a:rPr lang="es-ES" sz="2800" dirty="0" err="1"/>
              <a:t>not</a:t>
            </a:r>
            <a:r>
              <a:rPr lang="es-ES" sz="2800" dirty="0"/>
              <a:t> a </a:t>
            </a:r>
            <a:r>
              <a:rPr lang="es-ES" sz="2800" dirty="0" err="1"/>
              <a:t>noise</a:t>
            </a:r>
            <a:endParaRPr lang="es-ES" sz="2800" dirty="0"/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4731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967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200" dirty="0" err="1"/>
              <a:t>Still</a:t>
            </a:r>
            <a:r>
              <a:rPr lang="es-ES" sz="2200" dirty="0"/>
              <a:t> a </a:t>
            </a:r>
            <a:r>
              <a:rPr lang="es-ES" sz="2200" dirty="0" err="1"/>
              <a:t>hard</a:t>
            </a:r>
            <a:r>
              <a:rPr lang="es-ES" sz="2200" dirty="0"/>
              <a:t> </a:t>
            </a:r>
            <a:r>
              <a:rPr lang="es-ES" sz="2200" dirty="0" err="1"/>
              <a:t>label</a:t>
            </a:r>
            <a:r>
              <a:rPr lang="es-ES" sz="2200" dirty="0"/>
              <a:t> </a:t>
            </a:r>
            <a:r>
              <a:rPr lang="es-ES" sz="2200" dirty="0">
                <a:sym typeface="Wingdings" panose="05000000000000000000" pitchFamily="2" charset="2"/>
              </a:rPr>
              <a:t> </a:t>
            </a:r>
            <a:r>
              <a:rPr lang="es-ES" sz="2200" dirty="0" err="1">
                <a:sym typeface="Wingdings" panose="05000000000000000000" pitchFamily="2" charset="2"/>
              </a:rPr>
              <a:t>c</a:t>
            </a:r>
            <a:r>
              <a:rPr lang="es-ES" sz="2200" dirty="0" err="1"/>
              <a:t>ollapses</a:t>
            </a:r>
            <a:r>
              <a:rPr lang="es-ES" sz="2200" dirty="0"/>
              <a:t> </a:t>
            </a:r>
            <a:r>
              <a:rPr lang="es-ES" sz="2200" dirty="0" err="1"/>
              <a:t>disagreement</a:t>
            </a:r>
            <a:r>
              <a:rPr lang="es-ES" sz="2200" dirty="0"/>
              <a:t> </a:t>
            </a:r>
            <a:r>
              <a:rPr lang="es-ES" sz="2200" dirty="0" err="1"/>
              <a:t>into</a:t>
            </a:r>
            <a:r>
              <a:rPr lang="es-ES" sz="2200" dirty="0"/>
              <a:t> </a:t>
            </a:r>
            <a:r>
              <a:rPr lang="es-ES" sz="2200" dirty="0" err="1"/>
              <a:t>binary</a:t>
            </a:r>
            <a:r>
              <a:rPr lang="es-ES" sz="2200" dirty="0"/>
              <a:t> </a:t>
            </a:r>
            <a:r>
              <a:rPr lang="es-ES" sz="2200" dirty="0" err="1"/>
              <a:t>decision</a:t>
            </a:r>
            <a:endParaRPr lang="ca-ES" sz="2200" dirty="0"/>
          </a:p>
          <a:p>
            <a:endParaRPr lang="ca-ES" sz="2200" dirty="0"/>
          </a:p>
          <a:p>
            <a:r>
              <a:rPr lang="ca-ES" sz="2200" dirty="0"/>
              <a:t>Advanced version of MV: Weighted voting</a:t>
            </a:r>
          </a:p>
          <a:p>
            <a:pPr lvl="1"/>
            <a:r>
              <a:rPr lang="ca-ES" sz="2200" dirty="0">
                <a:sym typeface="Wingdings" panose="05000000000000000000" pitchFamily="2" charset="2"/>
              </a:rPr>
              <a:t>Can be data-driven (past accuracy) or expertise-driven</a:t>
            </a:r>
          </a:p>
          <a:p>
            <a:pPr lvl="2"/>
            <a:r>
              <a:rPr lang="ca-ES" sz="2200" dirty="0"/>
              <a:t>Some raters are more experienced </a:t>
            </a:r>
            <a:r>
              <a:rPr lang="ca-ES" sz="2200" dirty="0">
                <a:sym typeface="Wingdings" panose="05000000000000000000" pitchFamily="2" charset="2"/>
              </a:rPr>
              <a:t> weight their votes higher</a:t>
            </a:r>
          </a:p>
          <a:p>
            <a:pPr lvl="1"/>
            <a:r>
              <a:rPr lang="ca-ES" sz="2200" dirty="0">
                <a:sym typeface="Wingdings" panose="05000000000000000000" pitchFamily="2" charset="2"/>
              </a:rPr>
              <a:t>Classification &amp; Segmentation variants exist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9125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you’re introducing randomness into which label is used each time, the </a:t>
            </a:r>
            <a:r>
              <a:rPr lang="en-US" b="1" dirty="0"/>
              <a:t>effective training target changes from step to step.</a:t>
            </a:r>
            <a:endParaRPr lang="en-US" dirty="0"/>
          </a:p>
          <a:p>
            <a:r>
              <a:rPr lang="en-US" dirty="0"/>
              <a:t>This increases the </a:t>
            </a:r>
            <a:r>
              <a:rPr lang="en-US" b="1" dirty="0"/>
              <a:t>variance of the gradient</a:t>
            </a:r>
            <a:r>
              <a:rPr lang="en-US" dirty="0"/>
              <a:t> (your loss surface is noisier), which can slow convergence or make training less stable unless you average over many epochs.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697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consensus encodes real-world interrater disagreement, whereas SVLS imposes artificial spatial smoothing to regularize training.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4739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1. </a:t>
            </a:r>
            <a:r>
              <a:rPr lang="es-ES" b="1" dirty="0" err="1"/>
              <a:t>Initialize</a:t>
            </a:r>
            <a:r>
              <a:rPr lang="es-ES" dirty="0"/>
              <a:t>: </a:t>
            </a:r>
            <a:r>
              <a:rPr lang="es-ES" dirty="0" err="1"/>
              <a:t>guess</a:t>
            </a:r>
            <a:r>
              <a:rPr lang="es-ES" dirty="0"/>
              <a:t> true </a:t>
            </a:r>
            <a:r>
              <a:rPr lang="es-ES" dirty="0" err="1"/>
              <a:t>mask</a:t>
            </a:r>
            <a:r>
              <a:rPr lang="es-ES" dirty="0"/>
              <a:t> (</a:t>
            </a:r>
            <a:r>
              <a:rPr lang="es-ES" dirty="0" err="1"/>
              <a:t>e.g</a:t>
            </a:r>
            <a:r>
              <a:rPr lang="es-ES" dirty="0"/>
              <a:t>., </a:t>
            </a:r>
            <a:r>
              <a:rPr lang="es-ES" dirty="0" err="1"/>
              <a:t>majority</a:t>
            </a:r>
            <a:r>
              <a:rPr lang="es-ES" dirty="0"/>
              <a:t> vote).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8522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E-step:</a:t>
            </a:r>
            <a:r>
              <a:rPr lang="en-US" dirty="0"/>
              <a:t> Given the current estimates of each annotator’s sensitivity and specificity, compute the probability that each voxel belongs to the true structure (probabilistic “truth” map).</a:t>
            </a:r>
          </a:p>
          <a:p>
            <a:r>
              <a:rPr lang="en-US" b="1" dirty="0"/>
              <a:t>M-step:</a:t>
            </a:r>
            <a:r>
              <a:rPr lang="en-US" dirty="0"/>
              <a:t> Given that probabilistic “truth” map, update each annotator’s sensitivity and specificity to best explain their labels.</a:t>
            </a:r>
          </a:p>
          <a:p>
            <a:r>
              <a:rPr lang="en-US" b="1" dirty="0"/>
              <a:t>Iterate:</a:t>
            </a:r>
            <a:r>
              <a:rPr lang="en-US" dirty="0"/>
              <a:t> Repeat E and M until convergence; the final probability map is the consensus estimate of the “true” segmentation.</a:t>
            </a:r>
          </a:p>
          <a:p>
            <a:endParaRPr lang="es-ES" dirty="0"/>
          </a:p>
          <a:p>
            <a:r>
              <a:rPr lang="es-ES" dirty="0" err="1"/>
              <a:t>Iterate</a:t>
            </a:r>
            <a:r>
              <a:rPr lang="es-ES" dirty="0"/>
              <a:t> </a:t>
            </a:r>
            <a:r>
              <a:rPr lang="es-ES" dirty="0" err="1"/>
              <a:t>until</a:t>
            </a:r>
            <a:r>
              <a:rPr lang="es-ES" dirty="0"/>
              <a:t> </a:t>
            </a:r>
            <a:r>
              <a:rPr lang="es-ES" dirty="0" err="1"/>
              <a:t>convergence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043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“STAPLE </a:t>
            </a:r>
            <a:r>
              <a:rPr lang="es-ES" dirty="0" err="1"/>
              <a:t>alternates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</a:t>
            </a:r>
            <a:r>
              <a:rPr lang="es-ES" dirty="0" err="1"/>
              <a:t>estimating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hidden</a:t>
            </a:r>
            <a:r>
              <a:rPr lang="es-ES" dirty="0"/>
              <a:t> ‘true’ </a:t>
            </a:r>
            <a:r>
              <a:rPr lang="es-ES" dirty="0" err="1"/>
              <a:t>segmentation</a:t>
            </a:r>
            <a:r>
              <a:rPr lang="es-ES" dirty="0"/>
              <a:t> and </a:t>
            </a: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rater’s</a:t>
            </a:r>
            <a:r>
              <a:rPr lang="es-ES" dirty="0"/>
              <a:t> </a:t>
            </a:r>
            <a:r>
              <a:rPr lang="es-ES" dirty="0" err="1"/>
              <a:t>reliability</a:t>
            </a:r>
            <a:r>
              <a:rPr lang="es-ES" dirty="0"/>
              <a:t>, </a:t>
            </a:r>
            <a:r>
              <a:rPr lang="es-ES" dirty="0" err="1"/>
              <a:t>producing</a:t>
            </a:r>
            <a:r>
              <a:rPr lang="es-ES" dirty="0"/>
              <a:t> a </a:t>
            </a:r>
            <a:r>
              <a:rPr lang="es-ES" dirty="0" err="1"/>
              <a:t>probabilistic</a:t>
            </a:r>
            <a:r>
              <a:rPr lang="es-ES" dirty="0"/>
              <a:t> </a:t>
            </a:r>
            <a:r>
              <a:rPr lang="es-ES" dirty="0" err="1"/>
              <a:t>consensus</a:t>
            </a:r>
            <a:r>
              <a:rPr lang="es-ES" dirty="0"/>
              <a:t> </a:t>
            </a:r>
            <a:r>
              <a:rPr lang="es-ES" dirty="0" err="1"/>
              <a:t>map</a:t>
            </a:r>
            <a:r>
              <a:rPr lang="es-ES" dirty="0"/>
              <a:t>.”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061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1960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When raters largely agree, simple fusion methods like majority voting may be sufficient. But when disagreement is high, we may need more sophisticated approaches — probabilistic models, soft labels, or even training strategies that directly model each annotator.</a:t>
            </a:r>
            <a:endParaRPr lang="en-US" b="0" dirty="0"/>
          </a:p>
          <a:p>
            <a:pPr marL="228600" indent="-228600">
              <a:buAutoNum type="arabicPeriod"/>
            </a:pPr>
            <a:r>
              <a:rPr lang="en-US" b="0" dirty="0"/>
              <a:t>BUT when disagreement is high, the choice is critical since completely the opposite happens</a:t>
            </a:r>
          </a:p>
          <a:p>
            <a:pPr marL="228600" indent="-228600">
              <a:buAutoNum type="arabicPeriod"/>
            </a:pPr>
            <a:r>
              <a:rPr lang="en-US" b="0" dirty="0"/>
              <a:t>Using union or intersection as a baseline might be correct but never train an actual model that you want it to work with this naïve extremes -&gt; will end up over or under segmenting</a:t>
            </a:r>
          </a:p>
          <a:p>
            <a:endParaRPr lang="en-US" dirty="0"/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5354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Overall, c</a:t>
            </a:r>
            <a:r>
              <a:rPr lang="en-US" dirty="0"/>
              <a:t>alibration benefits most from </a:t>
            </a:r>
            <a:r>
              <a:rPr lang="en-US" b="1" dirty="0"/>
              <a:t>soft labels/random sampling</a:t>
            </a:r>
            <a:r>
              <a:rPr lang="en-US" dirty="0"/>
              <a:t> in high-disagreement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328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4866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531C-E33C-8CDE-A247-C16D2DD0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04A0D-D38D-8DAC-D735-D81B3C741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9C0B6-F70D-639F-C4EE-ADAE60DE7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fusion isn’t just preprocessing — it defines the probability target your model learns, which directly shapes calibration.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FEB65-2B30-D854-E38F-D23E09301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20EAD-ECA5-45A9-A96F-18DD40915183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174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A8CF8-B61D-6D2C-CC09-4E1EF2E9C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3F201-CFDA-F6FD-522C-D45F8493E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8A0ED-1E13-2AC4-828B-FC946707A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choice of fusion model isn’t only about accuracy or theory. It’s also shaped by </a:t>
            </a:r>
            <a:r>
              <a:rPr lang="en-US" b="1" dirty="0"/>
              <a:t>practical constraints</a:t>
            </a:r>
            <a:r>
              <a:rPr lang="en-US" dirty="0"/>
              <a:t> — how much data you have, how much time you can spend computing, and what your ultimate goal is.</a:t>
            </a:r>
          </a:p>
          <a:p>
            <a:r>
              <a:rPr lang="en-US" dirty="0"/>
              <a:t>For example, if you’re working with a large dataset of clear structures and you just need a binary mask quickly, majority voting or union may be perfectly fine. But if you’re dealing with subtle, ill-defined boundaries and you care about calibrated confidence, it’s worth investing the time in a probabilistic or soft-label approach.</a:t>
            </a:r>
          </a:p>
          <a:p>
            <a:r>
              <a:rPr lang="en-US" dirty="0"/>
              <a:t>In short, there’s no single ‘best’ fusion method — the optimal choice depends on </a:t>
            </a:r>
            <a:r>
              <a:rPr lang="en-US" b="1" dirty="0"/>
              <a:t>disagreement level, computational resources, and the intended use of the model.</a:t>
            </a:r>
            <a:endParaRPr lang="en-US" dirty="0"/>
          </a:p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34153-6A10-5C46-2A7D-E89D0F451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20EAD-ECA5-45A9-A96F-18DD40915183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546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0EAD-ECA5-45A9-A96F-18DD40915183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0887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86A58-CF9F-97FA-74C6-1349CA937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D0C81-B4F6-772A-3D2C-49E877128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54FF5-99B7-7900-A168-B44EB5FA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E6977-7837-DA89-BC44-508AF937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65D8F-6B98-035D-0896-726F85E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304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F8A8-A36D-0E51-CE48-2045E450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62D74-B036-46CC-79BC-FDA12F367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431C3-877F-80FC-6E9B-C8424AD2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481B8-D3DD-1409-0818-E7E395D3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FD548-1961-324B-91C5-AAAA63D4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377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4077-554E-383B-9306-2080C210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0393E-6BD6-D853-CEF7-3821596FC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37B9-894F-5D00-7F8D-EDD3DE90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17DCD-89C2-962A-93DE-AF95FBBA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E557-A9E5-C697-545F-3FE48A7B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471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FC84-8793-AC07-1C20-C67E63E3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B5F4E-F939-085B-C129-E8CAC55EF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426D4-2A23-E618-02DE-A601E3F4D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E1F6-4D82-1C19-2E84-44FB07BF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C1048-BFD1-0B00-20D7-DF6C2B2D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DE2FB-C2DB-C296-A1EB-3D8C6BC1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6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87DF-5C4F-A644-AB00-E341108F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649DF-DF8E-3542-2B8F-8C18EFCEB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6690A-DCA9-5757-E923-7B4137338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54B2F-0D4E-1A7E-D8F4-C2BC43A5B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9CBA0-FCCF-A7E0-972F-BAE8237D6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1968B-C222-82E5-9448-AEC7ED147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EF330-54A0-A2E9-7CF4-BDD3BBA3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4E4EC-AD41-A75E-4794-B870295E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580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1AC9-341A-F3D1-B6B4-7EB388CF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F3AD8-547A-6F7C-3EEA-9F7FB0D0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5073-BD77-68C2-F4BE-CD7F230E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D2081-1082-499D-1DEC-551D5954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925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7293D-3410-F7EB-D049-CDF58DDA8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8EA30-AC0B-99C3-3DB1-B0AF8CB6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545B3-F67C-88CB-C61A-BD477EF9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95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CE37-466B-E298-2CD1-A55B23E9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BA709-5D71-C640-B157-A4AD0BE4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D99CA-57D6-C313-0B04-7E61C50F3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EC614-E247-3B8D-A650-64FC3F72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31FD7-A903-D1A2-E295-72882D9C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94CB4-7B66-F453-BE3A-5073CB68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234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9F53-71AA-D08F-3A4A-52B1E146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FAA91-4ED6-94FF-5621-82CB9EBDD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9E2D3-9C37-8C20-8F9A-266B294C4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FD0D4-CD25-5B15-A6EA-FC42C486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EE141-0788-EE71-589A-2A0B8AE75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2B439-5F12-105E-0A41-B358CAB7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492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6781-BA51-5F40-7BB3-84E8C6C2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A5811-F21B-6EFD-328E-4F46714D2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FE52B-C7F6-88ED-824C-ED022A3A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49E89-C563-C632-4FC2-E35809D8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03FF1-8504-6B6D-81BE-03BD0140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4682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83631A-E9C4-77E5-5760-40404C600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51ECC-ED9E-D335-F121-AF0750EA1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65B8-1C63-6F9D-977F-9C4E5DB0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14ABF-39EC-AF4D-DD0E-25E79F58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83A0-B05A-34F8-7AC0-58D94204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893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6F5E7-295B-4CD9-734F-EECE25C96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FA618-30E6-2772-CB58-1A6A885EF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8F397-32BC-DC92-455E-D1D56889C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8405C-C51F-487F-A32B-2556453FD9E1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57476-1055-C474-9A27-5FD596D53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525F5-80A2-2822-26BA-3EEEAFF76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A27C2-B422-4183-9C8B-CB86F08D45E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552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B396-9598-EA7E-A6AF-F2917B7D3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/>
              <a:t>Multi Rater Modelling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65C05-F323-19E0-DD10-07DF32F737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a-ES" dirty="0"/>
              <a:t>Meritxell Riera i Marín, PhD candidate</a:t>
            </a:r>
            <a:endParaRPr lang="es-E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0649936-9713-376F-5AEA-6516082C5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249" y="5870945"/>
            <a:ext cx="3923072" cy="63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hallenge CURVAS PDACVI - Sycai Medical">
            <a:extLst>
              <a:ext uri="{FF2B5EF4-FFF2-40B4-BE49-F238E27FC236}">
                <a16:creationId xmlns:a16="http://schemas.microsoft.com/office/drawing/2014/main" id="{5ED8449D-6494-F07C-8736-336F28C73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600" y="5866139"/>
            <a:ext cx="2396152" cy="63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MICCAI 2025 - 28. International Conference On Medical Image Computing &amp;  Computer Assisted Intervention">
            <a:extLst>
              <a:ext uri="{FF2B5EF4-FFF2-40B4-BE49-F238E27FC236}">
                <a16:creationId xmlns:a16="http://schemas.microsoft.com/office/drawing/2014/main" id="{9FB93A7B-3712-6B02-3756-25F32859E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4919" y="88491"/>
            <a:ext cx="2218805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43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E8ADA-0783-D049-517E-CBC6B396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3917CE-CDB3-E1C1-8D81-CBEFC21D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1BFD8-799F-CA15-1D73-1952535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Outline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70D784D0-BE60-0116-6516-AB9262662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1037D02-7755-B49F-181B-415845740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697831"/>
              </p:ext>
            </p:extLst>
          </p:nvPr>
        </p:nvGraphicFramePr>
        <p:xfrm>
          <a:off x="838200" y="1824787"/>
          <a:ext cx="10515600" cy="4668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8716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E3766-F911-5AC2-1BF0-8CEA947F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D662D29-E7D9-8B48-69B2-757717DD6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C338DE-D791-BDC0-60EF-E0C4C6FBF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Outline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88E3B7C-187A-F7F5-8062-934E27D1D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451ED38-A7F1-A10A-D638-B0F812F61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722312"/>
              </p:ext>
            </p:extLst>
          </p:nvPr>
        </p:nvGraphicFramePr>
        <p:xfrm>
          <a:off x="838200" y="1824787"/>
          <a:ext cx="10515600" cy="4668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911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23A3E-8737-F74E-4B4E-EAF38521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AFD134-794A-78C2-CAF7-BB6C00598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03236-89C7-399B-5989-0452A593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Motivation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B1BFCEF-D3F5-AE28-192A-CB1BA3D7A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C86847-70BF-3468-1E7C-FCB1CD596B3F}"/>
              </a:ext>
            </a:extLst>
          </p:cNvPr>
          <p:cNvSpPr/>
          <p:nvPr/>
        </p:nvSpPr>
        <p:spPr>
          <a:xfrm>
            <a:off x="1168401" y="2313980"/>
            <a:ext cx="2923632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2200" dirty="0"/>
              <a:t>Data Uncertainty</a:t>
            </a:r>
            <a:endParaRPr lang="es-ES" sz="2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B1CB7F-36D7-1475-ACD8-D1A2B78C9C66}"/>
              </a:ext>
            </a:extLst>
          </p:cNvPr>
          <p:cNvSpPr/>
          <p:nvPr/>
        </p:nvSpPr>
        <p:spPr>
          <a:xfrm>
            <a:off x="1168401" y="3429087"/>
            <a:ext cx="2923632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2200" dirty="0"/>
              <a:t>Interrater Variability</a:t>
            </a:r>
            <a:endParaRPr lang="es-ES" sz="2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1AB878-4A26-3F5D-391C-2073977E77F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630217" y="3104555"/>
            <a:ext cx="0" cy="324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AE4F6-6ECB-6570-68D1-2283D88B12F3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630217" y="4219662"/>
            <a:ext cx="0" cy="320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D7FB6-72D2-ABFC-E136-8599099FF340}"/>
              </a:ext>
            </a:extLst>
          </p:cNvPr>
          <p:cNvSpPr/>
          <p:nvPr/>
        </p:nvSpPr>
        <p:spPr>
          <a:xfrm>
            <a:off x="1168401" y="4539690"/>
            <a:ext cx="2923632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2200" dirty="0"/>
              <a:t>Exploit this variability</a:t>
            </a:r>
            <a:endParaRPr lang="es-ES" sz="2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8AFE89-C90D-3D68-1C0F-2EB364770EFF}"/>
              </a:ext>
            </a:extLst>
          </p:cNvPr>
          <p:cNvSpPr txBox="1"/>
          <p:nvPr/>
        </p:nvSpPr>
        <p:spPr>
          <a:xfrm>
            <a:off x="4462988" y="3450221"/>
            <a:ext cx="58931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/>
              <a:t>Disagreement is common – ill-defined boundaries (e.g. Tumor margins)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D3CE9A-A8FD-97FC-DA1A-710B8515972F}"/>
              </a:ext>
            </a:extLst>
          </p:cNvPr>
          <p:cNvSpPr txBox="1"/>
          <p:nvPr/>
        </p:nvSpPr>
        <p:spPr>
          <a:xfrm>
            <a:off x="4462987" y="4560824"/>
            <a:ext cx="58931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/>
              <a:t>Depending on the disagreement, different approaches might be required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3FE7B5-AF76-AF83-F6D3-BDC62B6B106B}"/>
              </a:ext>
            </a:extLst>
          </p:cNvPr>
          <p:cNvSpPr txBox="1"/>
          <p:nvPr/>
        </p:nvSpPr>
        <p:spPr>
          <a:xfrm>
            <a:off x="4462986" y="2339618"/>
            <a:ext cx="58931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/>
              <a:t>In Medical Imaging, there is inherent ambiguity in the annotations </a:t>
            </a:r>
            <a:r>
              <a:rPr lang="ca-ES" sz="2200" dirty="0">
                <a:sym typeface="Wingdings" panose="05000000000000000000" pitchFamily="2" charset="2"/>
              </a:rPr>
              <a:t> aleatoric uncertainty</a:t>
            </a:r>
            <a:endParaRPr lang="ca-ES" sz="2200" dirty="0"/>
          </a:p>
        </p:txBody>
      </p:sp>
    </p:spTree>
    <p:extLst>
      <p:ext uri="{BB962C8B-B14F-4D97-AF65-F5344CB8AC3E}">
        <p14:creationId xmlns:p14="http://schemas.microsoft.com/office/powerpoint/2010/main" val="204278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9978-471B-F1AB-70CB-0A00B4EC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FC5A8C-F938-5312-68FD-EA507D3CD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29" y="280263"/>
            <a:ext cx="10511942" cy="20826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789391-C66F-342A-9766-E7A7A87C6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65"/>
          <a:stretch>
            <a:fillRect/>
          </a:stretch>
        </p:blipFill>
        <p:spPr>
          <a:xfrm>
            <a:off x="840029" y="2374916"/>
            <a:ext cx="10515600" cy="201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6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B4CE-46DD-111F-95F3-394C3577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A52E26-CEB5-934D-B5BA-78F3F6CA0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29" y="280263"/>
            <a:ext cx="10511942" cy="20826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E0EF9A-0119-92AB-B521-833A87068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65"/>
          <a:stretch>
            <a:fillRect/>
          </a:stretch>
        </p:blipFill>
        <p:spPr>
          <a:xfrm>
            <a:off x="840029" y="2374916"/>
            <a:ext cx="10515600" cy="20122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0F8770-380E-E927-2FA7-4626F1CE1C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454"/>
          <a:stretch>
            <a:fillRect/>
          </a:stretch>
        </p:blipFill>
        <p:spPr>
          <a:xfrm>
            <a:off x="840029" y="4481942"/>
            <a:ext cx="10511942" cy="200079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9623FE-F074-AB04-1330-CC2889679CE5}"/>
              </a:ext>
            </a:extLst>
          </p:cNvPr>
          <p:cNvSpPr/>
          <p:nvPr/>
        </p:nvSpPr>
        <p:spPr>
          <a:xfrm>
            <a:off x="773123" y="4410381"/>
            <a:ext cx="10612273" cy="2176830"/>
          </a:xfrm>
          <a:prstGeom prst="roundRect">
            <a:avLst/>
          </a:prstGeom>
          <a:noFill/>
          <a:ln w="38100">
            <a:solidFill>
              <a:srgbClr val="F929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" name="Picture 4" descr="169+ Thousand Red Alert Sign Royalty-Free Images, Stock Photos &amp; Pictures |  Shutterstock">
            <a:extLst>
              <a:ext uri="{FF2B5EF4-FFF2-40B4-BE49-F238E27FC236}">
                <a16:creationId xmlns:a16="http://schemas.microsoft.com/office/drawing/2014/main" id="{5497D874-6B64-FFAB-9E33-409B9B4962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9" t="9123" r="19009" b="15764"/>
          <a:stretch>
            <a:fillRect/>
          </a:stretch>
        </p:blipFill>
        <p:spPr bwMode="auto">
          <a:xfrm>
            <a:off x="22302" y="5090209"/>
            <a:ext cx="708425" cy="70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16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883A-948B-EAD6-D083-8EFCFDF4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C5C335-E98A-2476-70A8-EC669562B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29" y="280263"/>
            <a:ext cx="10511942" cy="20826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50DAB8-5472-225F-7368-D955E14B5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65"/>
          <a:stretch>
            <a:fillRect/>
          </a:stretch>
        </p:blipFill>
        <p:spPr>
          <a:xfrm>
            <a:off x="840029" y="2374916"/>
            <a:ext cx="10515600" cy="20122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899C61-1173-0ACB-8552-791203B152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454"/>
          <a:stretch>
            <a:fillRect/>
          </a:stretch>
        </p:blipFill>
        <p:spPr>
          <a:xfrm>
            <a:off x="840029" y="4481942"/>
            <a:ext cx="10511942" cy="200079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1BB836-8325-0592-3FE1-1DC0C8B5EFB1}"/>
              </a:ext>
            </a:extLst>
          </p:cNvPr>
          <p:cNvSpPr/>
          <p:nvPr/>
        </p:nvSpPr>
        <p:spPr>
          <a:xfrm>
            <a:off x="773123" y="4410381"/>
            <a:ext cx="10612273" cy="2176830"/>
          </a:xfrm>
          <a:prstGeom prst="roundRect">
            <a:avLst/>
          </a:prstGeom>
          <a:noFill/>
          <a:ln w="38100">
            <a:solidFill>
              <a:srgbClr val="F929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4" descr="169+ Thousand Red Alert Sign Royalty-Free Images, Stock Photos &amp; Pictures |  Shutterstock">
            <a:extLst>
              <a:ext uri="{FF2B5EF4-FFF2-40B4-BE49-F238E27FC236}">
                <a16:creationId xmlns:a16="http://schemas.microsoft.com/office/drawing/2014/main" id="{67C36E69-0C0C-7CD6-69CE-CE0BC24F9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9" t="9123" r="19009" b="15764"/>
          <a:stretch>
            <a:fillRect/>
          </a:stretch>
        </p:blipFill>
        <p:spPr bwMode="auto">
          <a:xfrm>
            <a:off x="22302" y="5090209"/>
            <a:ext cx="708425" cy="70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49039716-0EDD-07CE-60A1-FB293635BCA6}"/>
              </a:ext>
            </a:extLst>
          </p:cNvPr>
          <p:cNvSpPr/>
          <p:nvPr/>
        </p:nvSpPr>
        <p:spPr>
          <a:xfrm>
            <a:off x="9387236" y="4649484"/>
            <a:ext cx="1748552" cy="169862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7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ABF68-ABA0-9046-F79C-BBCDC26E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1F6BAF-A6A9-E484-6F41-ADCE0647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13120-7AB7-FF63-CA9B-F73EE1E2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Motivation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C066483-5D26-8F39-A6B9-DD7B0A1AF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04F09-5482-3B41-9364-8DCD7C03CD75}"/>
              </a:ext>
            </a:extLst>
          </p:cNvPr>
          <p:cNvSpPr txBox="1"/>
          <p:nvPr/>
        </p:nvSpPr>
        <p:spPr>
          <a:xfrm>
            <a:off x="2460739" y="2144654"/>
            <a:ext cx="7463845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ca-ES" sz="2200" dirty="0"/>
              <a:t>Naively choosing one annotation (either raw or created from others) can bias training and evaluation.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43BBAE-A3D2-63C0-350B-6D4EEB466715}"/>
              </a:ext>
            </a:extLst>
          </p:cNvPr>
          <p:cNvSpPr/>
          <p:nvPr/>
        </p:nvSpPr>
        <p:spPr>
          <a:xfrm>
            <a:off x="2460739" y="2055813"/>
            <a:ext cx="7463845" cy="9471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42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DD7CA-B31B-1117-E1AF-13C13E9EA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698E15-2451-7BB0-598D-16E762D41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7C74F-F5CF-B1C8-4DFD-1280876C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Motivation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22ACB748-50A4-81D2-6900-EE3F87BFC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E8FC17A-7AB0-8D5E-4FDF-6229C76A53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42801"/>
              </p:ext>
            </p:extLst>
          </p:nvPr>
        </p:nvGraphicFramePr>
        <p:xfrm>
          <a:off x="838200" y="3434799"/>
          <a:ext cx="10515600" cy="2620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D71C410-34B0-8B08-25D7-88780CBFAD30}"/>
              </a:ext>
            </a:extLst>
          </p:cNvPr>
          <p:cNvSpPr txBox="1"/>
          <p:nvPr/>
        </p:nvSpPr>
        <p:spPr>
          <a:xfrm>
            <a:off x="2460739" y="2144654"/>
            <a:ext cx="7463845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ca-ES" sz="2200" dirty="0"/>
              <a:t>Naively choosing one annotation (either raw or created from others) can bias training and evaluation.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6B4B55-DB77-EEA1-78E3-19E82B65ED12}"/>
              </a:ext>
            </a:extLst>
          </p:cNvPr>
          <p:cNvSpPr/>
          <p:nvPr/>
        </p:nvSpPr>
        <p:spPr>
          <a:xfrm>
            <a:off x="2460739" y="2055813"/>
            <a:ext cx="7463845" cy="9471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8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C3537-8A64-6D44-2B37-E1755F9E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6C2E6F-9714-F230-5B81-1010F91EF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5BD5F-8308-1872-9DEC-6981B3CF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Outline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762DE4D0-7AEC-8EE2-6521-956146B29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3381FBE-1EFD-D681-5CC0-ACD433282D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762780"/>
              </p:ext>
            </p:extLst>
          </p:nvPr>
        </p:nvGraphicFramePr>
        <p:xfrm>
          <a:off x="838200" y="1824787"/>
          <a:ext cx="10515600" cy="4668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714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E2422-276C-AE46-AEF7-B63A84B6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39A7E5-3CAF-C88A-5D59-DAE5134FE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1AC96-0DE6-C8BE-6E86-043941E7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Overview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2756CAB-F819-D0D2-C587-A8E6FABA2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F874BE2-41FB-C059-D12E-3C016E41B8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9433511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767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5B43D-4B62-CC62-309F-DCFF0E39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54991F-E380-4BDF-325E-760722D74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CBDFF-BA9C-2DE6-0A1C-8039B1E1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Naive Extremes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86CEDB6-3839-CFB8-BE5C-6C153CD81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39E53-A892-6394-6FD9-8D90AEC85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7701"/>
            <a:ext cx="4932094" cy="2249348"/>
          </a:xfrm>
        </p:spPr>
        <p:txBody>
          <a:bodyPr>
            <a:normAutofit lnSpcReduction="10000"/>
          </a:bodyPr>
          <a:lstStyle/>
          <a:p>
            <a:r>
              <a:rPr lang="ca-ES" sz="2200" dirty="0"/>
              <a:t>Union, “captures everything”</a:t>
            </a:r>
          </a:p>
          <a:p>
            <a:pPr lvl="1"/>
            <a:r>
              <a:rPr lang="ca-ES" sz="2200" dirty="0"/>
              <a:t>High sensitivity, low specificity</a:t>
            </a:r>
          </a:p>
          <a:p>
            <a:pPr lvl="1"/>
            <a:r>
              <a:rPr lang="ca-ES" sz="2200" dirty="0"/>
              <a:t>Oversemgent</a:t>
            </a:r>
          </a:p>
          <a:p>
            <a:r>
              <a:rPr lang="ca-ES" sz="2200" dirty="0"/>
              <a:t>Intersection, “only agree when sure”</a:t>
            </a:r>
          </a:p>
          <a:p>
            <a:pPr lvl="1"/>
            <a:r>
              <a:rPr lang="ca-ES" sz="2200" dirty="0"/>
              <a:t>Low sensitivity, high specificity</a:t>
            </a:r>
          </a:p>
          <a:p>
            <a:pPr lvl="1"/>
            <a:r>
              <a:rPr lang="ca-ES" sz="2200" dirty="0"/>
              <a:t>Undersegment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E3D13-1107-2425-9DD3-E9BC9EA51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987"/>
          <a:stretch>
            <a:fillRect/>
          </a:stretch>
        </p:blipFill>
        <p:spPr>
          <a:xfrm>
            <a:off x="5860026" y="1924411"/>
            <a:ext cx="6245647" cy="20490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8BF20A-2901-F733-AF4D-23F204606E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5" t="24988" r="33525" b="50000"/>
          <a:stretch>
            <a:fillRect/>
          </a:stretch>
        </p:blipFill>
        <p:spPr>
          <a:xfrm>
            <a:off x="6957255" y="3915226"/>
            <a:ext cx="4051187" cy="2052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54751-59FE-DBF9-E3C8-ACB080C8DB74}"/>
              </a:ext>
            </a:extLst>
          </p:cNvPr>
          <p:cNvSpPr txBox="1"/>
          <p:nvPr/>
        </p:nvSpPr>
        <p:spPr>
          <a:xfrm>
            <a:off x="1315221" y="4820217"/>
            <a:ext cx="50494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>
                <a:sym typeface="Wingdings" panose="05000000000000000000" pitchFamily="2" charset="2"/>
              </a:rPr>
              <a:t>Oversimplify uncertainty  either too permissive or too conservative</a:t>
            </a:r>
          </a:p>
        </p:txBody>
      </p:sp>
      <p:pic>
        <p:nvPicPr>
          <p:cNvPr id="9" name="Picture 4" descr="28,900+ White Tick Icon Stock Illustrations, Royalty-Free Vector Graphics &amp;  Clip Art - iStock">
            <a:extLst>
              <a:ext uri="{FF2B5EF4-FFF2-40B4-BE49-F238E27FC236}">
                <a16:creationId xmlns:a16="http://schemas.microsoft.com/office/drawing/2014/main" id="{EE7E1C72-7EE9-A0F7-742D-11E600F14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3921864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Cross Icon, Cross Symbol ...">
            <a:extLst>
              <a:ext uri="{FF2B5EF4-FFF2-40B4-BE49-F238E27FC236}">
                <a16:creationId xmlns:a16="http://schemas.microsoft.com/office/drawing/2014/main" id="{B73D32B9-D375-204B-6F6F-C6A7EAC1B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4881773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02AF39-AF70-6642-05BC-A3519650D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30" y="5528104"/>
            <a:ext cx="1044742" cy="10447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D4EBC0-F4BE-C9D5-4261-3DF72D8FDF31}"/>
              </a:ext>
            </a:extLst>
          </p:cNvPr>
          <p:cNvSpPr txBox="1"/>
          <p:nvPr/>
        </p:nvSpPr>
        <p:spPr>
          <a:xfrm>
            <a:off x="1315367" y="4024832"/>
            <a:ext cx="60939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/>
              <a:t>Easy to understand/implement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BBEE0C-DAE3-7507-00BB-288227864F67}"/>
              </a:ext>
            </a:extLst>
          </p:cNvPr>
          <p:cNvSpPr txBox="1"/>
          <p:nvPr/>
        </p:nvSpPr>
        <p:spPr>
          <a:xfrm>
            <a:off x="1315367" y="5793945"/>
            <a:ext cx="60939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>
                <a:sym typeface="Wingdings" panose="05000000000000000000" pitchFamily="2" charset="2"/>
              </a:rPr>
              <a:t>Often used as baselines</a:t>
            </a:r>
          </a:p>
        </p:txBody>
      </p:sp>
    </p:spTree>
    <p:extLst>
      <p:ext uri="{BB962C8B-B14F-4D97-AF65-F5344CB8AC3E}">
        <p14:creationId xmlns:p14="http://schemas.microsoft.com/office/powerpoint/2010/main" val="1647571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A2C76-785B-E425-23CD-2A99F9BB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3DDA5-4CF4-969E-2431-94033955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Simple Consensus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863EE-1E81-7685-B1EF-8E76A4A65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5028758" cy="1609067"/>
          </a:xfrm>
        </p:spPr>
        <p:txBody>
          <a:bodyPr>
            <a:normAutofit/>
          </a:bodyPr>
          <a:lstStyle/>
          <a:p>
            <a:r>
              <a:rPr lang="ca-ES" sz="2200" dirty="0"/>
              <a:t>Majority Voting (MV)</a:t>
            </a:r>
          </a:p>
          <a:p>
            <a:r>
              <a:rPr lang="ca-ES" sz="2200" dirty="0"/>
              <a:t>Median = MV</a:t>
            </a:r>
          </a:p>
          <a:p>
            <a:pPr lvl="1"/>
            <a:r>
              <a:rPr lang="ca-ES" sz="2200" dirty="0"/>
              <a:t>Binary Cases</a:t>
            </a:r>
          </a:p>
          <a:p>
            <a:pPr lvl="1"/>
            <a:r>
              <a:rPr lang="ca-ES" sz="2200" dirty="0"/>
              <a:t>Odd number of raters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9D6F36-A514-6770-CD1A-3B34F589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079" t="24776" r="1838" b="50000"/>
          <a:stretch>
            <a:fillRect/>
          </a:stretch>
        </p:blipFill>
        <p:spPr>
          <a:xfrm>
            <a:off x="6981646" y="3905803"/>
            <a:ext cx="4002404" cy="20664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A45972-2C46-985A-3078-608C7F8AD4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987"/>
          <a:stretch>
            <a:fillRect/>
          </a:stretch>
        </p:blipFill>
        <p:spPr>
          <a:xfrm>
            <a:off x="5860026" y="1924411"/>
            <a:ext cx="6245647" cy="2049070"/>
          </a:xfrm>
          <a:prstGeom prst="rect">
            <a:avLst/>
          </a:prstGeom>
        </p:spPr>
      </p:pic>
      <p:pic>
        <p:nvPicPr>
          <p:cNvPr id="6" name="Picture 4" descr="28,900+ White Tick Icon Stock Illustrations, Royalty-Free Vector Graphics &amp;  Clip Art - iStock">
            <a:extLst>
              <a:ext uri="{FF2B5EF4-FFF2-40B4-BE49-F238E27FC236}">
                <a16:creationId xmlns:a16="http://schemas.microsoft.com/office/drawing/2014/main" id="{9753D2AA-8AE0-5535-474B-5CB1508E3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3921864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ross Icon, Cross Symbol ...">
            <a:extLst>
              <a:ext uri="{FF2B5EF4-FFF2-40B4-BE49-F238E27FC236}">
                <a16:creationId xmlns:a16="http://schemas.microsoft.com/office/drawing/2014/main" id="{181A52B8-B91C-DD6B-57F9-5A1E41BFB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4881773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CD5F1E-F0F8-979A-95DB-26CE8EAE24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30" y="5528104"/>
            <a:ext cx="1044742" cy="10447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9C7043-308A-51EC-83F1-5CF4DD4D8CB6}"/>
              </a:ext>
            </a:extLst>
          </p:cNvPr>
          <p:cNvSpPr txBox="1"/>
          <p:nvPr/>
        </p:nvSpPr>
        <p:spPr>
          <a:xfrm>
            <a:off x="1315367" y="5706325"/>
            <a:ext cx="50772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 err="1"/>
              <a:t>Weighted</a:t>
            </a:r>
            <a:r>
              <a:rPr lang="es-ES" sz="2200" dirty="0"/>
              <a:t> </a:t>
            </a:r>
            <a:r>
              <a:rPr lang="es-ES" sz="2200" dirty="0" err="1"/>
              <a:t>voting</a:t>
            </a:r>
            <a:r>
              <a:rPr lang="es-ES" sz="2200" dirty="0"/>
              <a:t> </a:t>
            </a:r>
            <a:r>
              <a:rPr lang="es-ES" sz="2200" dirty="0">
                <a:sym typeface="Wingdings" panose="05000000000000000000" pitchFamily="2" charset="2"/>
              </a:rPr>
              <a:t> </a:t>
            </a:r>
            <a:r>
              <a:rPr lang="es-ES" sz="2200" dirty="0" err="1">
                <a:sym typeface="Wingdings" panose="05000000000000000000" pitchFamily="2" charset="2"/>
              </a:rPr>
              <a:t>a</a:t>
            </a:r>
            <a:r>
              <a:rPr lang="es-ES" sz="2200" dirty="0" err="1"/>
              <a:t>cknowledges</a:t>
            </a:r>
            <a:r>
              <a:rPr lang="es-ES" sz="2200" dirty="0"/>
              <a:t> </a:t>
            </a:r>
            <a:r>
              <a:rPr lang="es-ES" sz="2200" dirty="0" err="1"/>
              <a:t>rater</a:t>
            </a:r>
            <a:r>
              <a:rPr lang="es-ES" sz="2200" dirty="0"/>
              <a:t> </a:t>
            </a:r>
            <a:r>
              <a:rPr lang="es-ES" sz="2200" dirty="0" err="1"/>
              <a:t>expertise</a:t>
            </a:r>
            <a:r>
              <a:rPr lang="es-ES" sz="2200" dirty="0"/>
              <a:t> (</a:t>
            </a:r>
            <a:r>
              <a:rPr lang="es-ES" sz="2200" dirty="0" err="1"/>
              <a:t>e.g</a:t>
            </a:r>
            <a:r>
              <a:rPr lang="es-ES" sz="2200" dirty="0"/>
              <a:t>. juniors versus seniors)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B9F42A-2A03-2EEC-8862-8909C5B7500C}"/>
              </a:ext>
            </a:extLst>
          </p:cNvPr>
          <p:cNvSpPr txBox="1"/>
          <p:nvPr/>
        </p:nvSpPr>
        <p:spPr>
          <a:xfrm>
            <a:off x="1315367" y="4764646"/>
            <a:ext cx="4843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200" dirty="0" err="1"/>
              <a:t>Still</a:t>
            </a:r>
            <a:r>
              <a:rPr lang="es-ES" sz="2200" dirty="0"/>
              <a:t> a </a:t>
            </a:r>
            <a:r>
              <a:rPr lang="es-ES" sz="2200" dirty="0" err="1"/>
              <a:t>hard</a:t>
            </a:r>
            <a:r>
              <a:rPr lang="es-ES" sz="2200" dirty="0"/>
              <a:t> </a:t>
            </a:r>
            <a:r>
              <a:rPr lang="es-ES" sz="2200" dirty="0" err="1"/>
              <a:t>label</a:t>
            </a:r>
            <a:r>
              <a:rPr lang="es-ES" sz="2200" dirty="0"/>
              <a:t> </a:t>
            </a:r>
            <a:r>
              <a:rPr lang="es-ES" sz="2200" dirty="0">
                <a:sym typeface="Wingdings" panose="05000000000000000000" pitchFamily="2" charset="2"/>
              </a:rPr>
              <a:t> ignores </a:t>
            </a:r>
            <a:r>
              <a:rPr lang="es-ES" sz="2200" dirty="0" err="1">
                <a:sym typeface="Wingdings" panose="05000000000000000000" pitchFamily="2" charset="2"/>
              </a:rPr>
              <a:t>degree</a:t>
            </a:r>
            <a:r>
              <a:rPr lang="es-ES" sz="2200" dirty="0">
                <a:sym typeface="Wingdings" panose="05000000000000000000" pitchFamily="2" charset="2"/>
              </a:rPr>
              <a:t> </a:t>
            </a:r>
            <a:r>
              <a:rPr lang="es-ES" sz="2200" dirty="0" err="1">
                <a:sym typeface="Wingdings" panose="05000000000000000000" pitchFamily="2" charset="2"/>
              </a:rPr>
              <a:t>of</a:t>
            </a:r>
            <a:r>
              <a:rPr lang="es-ES" sz="2200" dirty="0">
                <a:sym typeface="Wingdings" panose="05000000000000000000" pitchFamily="2" charset="2"/>
              </a:rPr>
              <a:t> </a:t>
            </a:r>
            <a:r>
              <a:rPr lang="es-ES" sz="2200" dirty="0" err="1">
                <a:sym typeface="Wingdings" panose="05000000000000000000" pitchFamily="2" charset="2"/>
              </a:rPr>
              <a:t>uncertainty</a:t>
            </a:r>
            <a:endParaRPr lang="es-ES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14A402-1330-65E1-9982-4B61C1431B1C}"/>
              </a:ext>
            </a:extLst>
          </p:cNvPr>
          <p:cNvSpPr txBox="1"/>
          <p:nvPr/>
        </p:nvSpPr>
        <p:spPr>
          <a:xfrm>
            <a:off x="1315367" y="4064442"/>
            <a:ext cx="40024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/>
              <a:t>Robust to outliers</a:t>
            </a: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3081155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C46E4-7233-F4FB-2FEE-5EB6FD51F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BD5D08-AC77-B8D3-77CD-131537F31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C438F-64C1-77F1-2E4A-F586F5381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Random Sampling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5930B8E-B60A-FB9F-584B-7AC9A4754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48C07-FF44-6874-995A-21077FCD0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9384"/>
            <a:ext cx="5796777" cy="1831180"/>
          </a:xfrm>
        </p:spPr>
        <p:txBody>
          <a:bodyPr>
            <a:noAutofit/>
          </a:bodyPr>
          <a:lstStyle/>
          <a:p>
            <a:r>
              <a:rPr lang="ca-ES" sz="2200" dirty="0"/>
              <a:t>Instead of collapsing raters </a:t>
            </a:r>
            <a:r>
              <a:rPr lang="ca-ES" sz="2200" dirty="0">
                <a:sym typeface="Wingdings" panose="05000000000000000000" pitchFamily="2" charset="2"/>
              </a:rPr>
              <a:t></a:t>
            </a:r>
            <a:r>
              <a:rPr lang="ca-ES" sz="2200" dirty="0"/>
              <a:t> sample one rater’s label at random each epoch/iteration</a:t>
            </a:r>
          </a:p>
          <a:p>
            <a:r>
              <a:rPr lang="ca-ES" sz="2200" dirty="0"/>
              <a:t>Preserves diversity across raters</a:t>
            </a:r>
          </a:p>
          <a:p>
            <a:r>
              <a:rPr lang="ca-ES" sz="2200" dirty="0"/>
              <a:t>Forces model to “see” all annotation styles over training</a:t>
            </a:r>
          </a:p>
        </p:txBody>
      </p:sp>
      <p:pic>
        <p:nvPicPr>
          <p:cNvPr id="1028" name="Picture 4" descr="28,900+ White Tick Icon Stock Illustrations, Royalty-Free Vector Graphics &amp;  Clip Art - iStock">
            <a:extLst>
              <a:ext uri="{FF2B5EF4-FFF2-40B4-BE49-F238E27FC236}">
                <a16:creationId xmlns:a16="http://schemas.microsoft.com/office/drawing/2014/main" id="{1673A128-8D4A-BABE-7687-99D0547A9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3921864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ross Icon, Cross Symbol ...">
            <a:extLst>
              <a:ext uri="{FF2B5EF4-FFF2-40B4-BE49-F238E27FC236}">
                <a16:creationId xmlns:a16="http://schemas.microsoft.com/office/drawing/2014/main" id="{53140150-B965-ABC3-FC96-528D5F242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4881773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664B62-9939-456E-82EB-0CE87BBE83B5}"/>
              </a:ext>
            </a:extLst>
          </p:cNvPr>
          <p:cNvSpPr txBox="1"/>
          <p:nvPr/>
        </p:nvSpPr>
        <p:spPr>
          <a:xfrm>
            <a:off x="1315367" y="5734889"/>
            <a:ext cx="60939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/>
              <a:t>Often used as a regularizer </a:t>
            </a:r>
            <a:r>
              <a:rPr lang="ca-ES" sz="2200" dirty="0">
                <a:sym typeface="Wingdings" panose="05000000000000000000" pitchFamily="2" charset="2"/>
              </a:rPr>
              <a:t> prevents overfitting to a single GT</a:t>
            </a:r>
            <a:endParaRPr lang="es-ES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0B7397-8156-3D6D-262E-AEB7A19C2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30" y="5528104"/>
            <a:ext cx="1044742" cy="1044742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CF2EA8AB-162E-9578-1A04-55EEE2B23854}"/>
              </a:ext>
            </a:extLst>
          </p:cNvPr>
          <p:cNvGrpSpPr/>
          <p:nvPr/>
        </p:nvGrpSpPr>
        <p:grpSpPr>
          <a:xfrm>
            <a:off x="7600688" y="2202959"/>
            <a:ext cx="4054347" cy="3314701"/>
            <a:chOff x="1708148" y="1435099"/>
            <a:chExt cx="4054347" cy="331470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CE5374A-EB16-5FDB-A0EF-103DC7792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1708150" y="1435100"/>
              <a:ext cx="2022475" cy="5524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E64414B-9001-101A-7678-0138AFA6A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1708149" y="1987550"/>
              <a:ext cx="2022475" cy="55245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3D0E245-22AC-90CC-E698-B45A9A7B4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1708149" y="2540000"/>
              <a:ext cx="2022475" cy="55245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B02BF09-8D3D-848D-18C6-9688DE7EE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3730625" y="1435100"/>
              <a:ext cx="2022475" cy="55245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54AF297-2003-E3EB-1B39-ED530B20E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3730624" y="1987550"/>
              <a:ext cx="2022475" cy="55245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25C3B45-A84F-DC72-3854-A23A7630E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3730624" y="2540000"/>
              <a:ext cx="2022475" cy="55245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ED4E427-D6AB-B02A-FBE6-27260B7EC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1708149" y="3092450"/>
              <a:ext cx="2022475" cy="55245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7CF29C4-A166-ADBB-8048-A16958E40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1708148" y="3644900"/>
              <a:ext cx="2022475" cy="5524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0E217DE-E0AB-D753-611C-49B5D8985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1708148" y="4197350"/>
              <a:ext cx="2022475" cy="55245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5FE4FDC-07C8-8C1E-5995-F5B1B84FE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3730623" y="3092450"/>
              <a:ext cx="2022475" cy="55245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81DC60E-EB4A-67AA-9D56-6E92FE813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3730622" y="3644900"/>
              <a:ext cx="2022475" cy="55245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B81529A9-2FD9-C609-3BD1-5FBB375FC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4" t="3532" r="1314" b="76214"/>
            <a:stretch>
              <a:fillRect/>
            </a:stretch>
          </p:blipFill>
          <p:spPr>
            <a:xfrm>
              <a:off x="3730622" y="4197350"/>
              <a:ext cx="2022475" cy="552450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ACB0DE9-8FD9-B6E0-6729-C41B712C3467}"/>
                </a:ext>
              </a:extLst>
            </p:cNvPr>
            <p:cNvSpPr/>
            <p:nvPr/>
          </p:nvSpPr>
          <p:spPr>
            <a:xfrm>
              <a:off x="2351396" y="1987551"/>
              <a:ext cx="692887" cy="55245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B68BA3E-C163-B41D-2021-F8F7B810D6FF}"/>
                </a:ext>
              </a:extLst>
            </p:cNvPr>
            <p:cNvSpPr/>
            <p:nvPr/>
          </p:nvSpPr>
          <p:spPr>
            <a:xfrm>
              <a:off x="4373871" y="2540000"/>
              <a:ext cx="692887" cy="55245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51F640E-42DB-2B1C-4439-6CC77C85B845}"/>
                </a:ext>
              </a:extLst>
            </p:cNvPr>
            <p:cNvSpPr/>
            <p:nvPr/>
          </p:nvSpPr>
          <p:spPr>
            <a:xfrm>
              <a:off x="3012916" y="3092450"/>
              <a:ext cx="692887" cy="55245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E7F8E4A-38BE-6900-9E8F-1944B467EEC8}"/>
                </a:ext>
              </a:extLst>
            </p:cNvPr>
            <p:cNvSpPr/>
            <p:nvPr/>
          </p:nvSpPr>
          <p:spPr>
            <a:xfrm>
              <a:off x="5060210" y="1435100"/>
              <a:ext cx="692887" cy="55245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88BB9AB8-8F78-3B48-762C-F2C68DE62781}"/>
                </a:ext>
              </a:extLst>
            </p:cNvPr>
            <p:cNvSpPr/>
            <p:nvPr/>
          </p:nvSpPr>
          <p:spPr>
            <a:xfrm>
              <a:off x="3755445" y="1987550"/>
              <a:ext cx="664524" cy="552450"/>
            </a:xfrm>
            <a:prstGeom prst="round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6AE4425-57DF-B660-F90C-88DEC9BE323C}"/>
                </a:ext>
              </a:extLst>
            </p:cNvPr>
            <p:cNvSpPr/>
            <p:nvPr/>
          </p:nvSpPr>
          <p:spPr>
            <a:xfrm>
              <a:off x="3744365" y="3644900"/>
              <a:ext cx="664524" cy="552450"/>
            </a:xfrm>
            <a:prstGeom prst="round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0E7CD01-37A2-DFB6-44DB-F1B1F5B14398}"/>
                </a:ext>
              </a:extLst>
            </p:cNvPr>
            <p:cNvSpPr/>
            <p:nvPr/>
          </p:nvSpPr>
          <p:spPr>
            <a:xfrm>
              <a:off x="2377710" y="2539999"/>
              <a:ext cx="664524" cy="552450"/>
            </a:xfrm>
            <a:prstGeom prst="round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FA246FE-A4BE-B95A-6521-BBDD2F4A5726}"/>
                </a:ext>
              </a:extLst>
            </p:cNvPr>
            <p:cNvSpPr/>
            <p:nvPr/>
          </p:nvSpPr>
          <p:spPr>
            <a:xfrm>
              <a:off x="1721890" y="4197349"/>
              <a:ext cx="664524" cy="552450"/>
            </a:xfrm>
            <a:prstGeom prst="round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F3DA625-2202-D766-31A3-013260E3EDDE}"/>
                </a:ext>
              </a:extLst>
            </p:cNvPr>
            <p:cNvSpPr/>
            <p:nvPr/>
          </p:nvSpPr>
          <p:spPr>
            <a:xfrm>
              <a:off x="1721890" y="1435100"/>
              <a:ext cx="664524" cy="552450"/>
            </a:xfrm>
            <a:prstGeom prst="roundRect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210F70E-CAD2-823A-7126-6AF0457BA085}"/>
                </a:ext>
              </a:extLst>
            </p:cNvPr>
            <p:cNvSpPr/>
            <p:nvPr/>
          </p:nvSpPr>
          <p:spPr>
            <a:xfrm>
              <a:off x="1708151" y="2539999"/>
              <a:ext cx="664524" cy="552450"/>
            </a:xfrm>
            <a:prstGeom prst="roundRect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FBC302D-40F1-E25F-4D01-2244B51AB3E8}"/>
                </a:ext>
              </a:extLst>
            </p:cNvPr>
            <p:cNvSpPr/>
            <p:nvPr/>
          </p:nvSpPr>
          <p:spPr>
            <a:xfrm>
              <a:off x="5097971" y="2539999"/>
              <a:ext cx="664524" cy="552450"/>
            </a:xfrm>
            <a:prstGeom prst="roundRect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250F033-A2D3-F49B-6B6F-95B347B6655B}"/>
                </a:ext>
              </a:extLst>
            </p:cNvPr>
            <p:cNvSpPr/>
            <p:nvPr/>
          </p:nvSpPr>
          <p:spPr>
            <a:xfrm>
              <a:off x="5088573" y="3644898"/>
              <a:ext cx="664524" cy="552450"/>
            </a:xfrm>
            <a:prstGeom prst="roundRect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CF6FC8B-BC2B-8FC6-9E01-C57959FC8F3A}"/>
                </a:ext>
              </a:extLst>
            </p:cNvPr>
            <p:cNvSpPr/>
            <p:nvPr/>
          </p:nvSpPr>
          <p:spPr>
            <a:xfrm>
              <a:off x="3073679" y="4186198"/>
              <a:ext cx="664524" cy="552450"/>
            </a:xfrm>
            <a:prstGeom prst="round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BAB00A84-524C-6810-F4C6-66CD9232DD4A}"/>
                </a:ext>
              </a:extLst>
            </p:cNvPr>
            <p:cNvSpPr/>
            <p:nvPr/>
          </p:nvSpPr>
          <p:spPr>
            <a:xfrm>
              <a:off x="3079987" y="1435099"/>
              <a:ext cx="664524" cy="552450"/>
            </a:xfrm>
            <a:prstGeom prst="round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BE46245-F98D-689C-6584-54B143527D96}"/>
                </a:ext>
              </a:extLst>
            </p:cNvPr>
            <p:cNvSpPr/>
            <p:nvPr/>
          </p:nvSpPr>
          <p:spPr>
            <a:xfrm>
              <a:off x="5088573" y="3092448"/>
              <a:ext cx="664524" cy="552450"/>
            </a:xfrm>
            <a:prstGeom prst="round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0F9145A-24B2-43FA-236C-627363EBD88C}"/>
                </a:ext>
              </a:extLst>
            </p:cNvPr>
            <p:cNvSpPr/>
            <p:nvPr/>
          </p:nvSpPr>
          <p:spPr>
            <a:xfrm>
              <a:off x="1721888" y="3644898"/>
              <a:ext cx="664524" cy="552450"/>
            </a:xfrm>
            <a:prstGeom prst="round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5D6AE7F-A038-E18B-B0BB-C3845E161CBF}"/>
              </a:ext>
            </a:extLst>
          </p:cNvPr>
          <p:cNvSpPr txBox="1"/>
          <p:nvPr/>
        </p:nvSpPr>
        <p:spPr>
          <a:xfrm>
            <a:off x="1315367" y="3860308"/>
            <a:ext cx="6094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a-ES" sz="2200" dirty="0"/>
              <a:t>Simple, no fusion required</a:t>
            </a:r>
          </a:p>
          <a:p>
            <a:pPr marL="0" indent="0">
              <a:buNone/>
            </a:pPr>
            <a:r>
              <a:rPr lang="ca-ES" sz="2200" dirty="0"/>
              <a:t>Effective when disagreement is high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9F62D6-B4C2-D9B7-1968-F6BF831CC6D4}"/>
              </a:ext>
            </a:extLst>
          </p:cNvPr>
          <p:cNvSpPr txBox="1"/>
          <p:nvPr/>
        </p:nvSpPr>
        <p:spPr>
          <a:xfrm>
            <a:off x="1315221" y="4820218"/>
            <a:ext cx="6094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a-ES" sz="2200" dirty="0"/>
              <a:t>Adds variance </a:t>
            </a:r>
            <a:r>
              <a:rPr lang="ca-ES" sz="2200" dirty="0">
                <a:sym typeface="Wingdings" panose="05000000000000000000" pitchFamily="2" charset="2"/>
              </a:rPr>
              <a:t> r</a:t>
            </a:r>
            <a:r>
              <a:rPr lang="ca-ES" sz="2200" dirty="0"/>
              <a:t>equires long training to balance exposure to all raters</a:t>
            </a:r>
          </a:p>
        </p:txBody>
      </p:sp>
    </p:spTree>
    <p:extLst>
      <p:ext uri="{BB962C8B-B14F-4D97-AF65-F5344CB8AC3E}">
        <p14:creationId xmlns:p14="http://schemas.microsoft.com/office/powerpoint/2010/main" val="10635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BC06F-F4BB-06E4-3DFA-D93094D6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40E52C-B5DD-5056-9B73-D0179A298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DDBD-522C-46AE-9817-A2B412EF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Soft labels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96F686DE-B7DE-E5E5-F974-957E5D36A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3332-BA3C-8B1D-4978-2BAEC1A7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5257800" cy="1852783"/>
          </a:xfrm>
        </p:spPr>
        <p:txBody>
          <a:bodyPr>
            <a:normAutofit/>
          </a:bodyPr>
          <a:lstStyle/>
          <a:p>
            <a:r>
              <a:rPr lang="ca-ES" sz="2200" dirty="0">
                <a:latin typeface="Aptos (body)"/>
              </a:rPr>
              <a:t>Soft Consensus: </a:t>
            </a:r>
            <a:r>
              <a:rPr lang="es-ES" altLang="es-ES" sz="2200" dirty="0" err="1">
                <a:latin typeface="Aptos (body)"/>
              </a:rPr>
              <a:t>Instead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dirty="0" err="1">
                <a:latin typeface="Aptos (body)"/>
              </a:rPr>
              <a:t>of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dirty="0" err="1">
                <a:latin typeface="Aptos (body)"/>
              </a:rPr>
              <a:t>forcing</a:t>
            </a:r>
            <a:r>
              <a:rPr lang="es-ES" altLang="es-ES" sz="2200" dirty="0">
                <a:latin typeface="Aptos (body)"/>
              </a:rPr>
              <a:t> a </a:t>
            </a:r>
            <a:r>
              <a:rPr lang="es-ES" altLang="es-ES" sz="2200" dirty="0" err="1">
                <a:latin typeface="Aptos (body)"/>
              </a:rPr>
              <a:t>hard</a:t>
            </a:r>
            <a:r>
              <a:rPr lang="es-ES" altLang="es-ES" sz="2200" dirty="0">
                <a:latin typeface="Aptos (body)"/>
              </a:rPr>
              <a:t> “</a:t>
            </a:r>
            <a:r>
              <a:rPr lang="es-ES" altLang="es-ES" sz="2200" dirty="0" err="1">
                <a:latin typeface="Aptos (body)"/>
              </a:rPr>
              <a:t>truth</a:t>
            </a:r>
            <a:r>
              <a:rPr lang="es-ES" altLang="es-ES" sz="2200" dirty="0">
                <a:latin typeface="Aptos (body)"/>
              </a:rPr>
              <a:t>,” use </a:t>
            </a:r>
            <a:r>
              <a:rPr lang="es-ES" altLang="es-ES" sz="2200" b="1" dirty="0" err="1">
                <a:latin typeface="Aptos (body)"/>
              </a:rPr>
              <a:t>soft</a:t>
            </a:r>
            <a:r>
              <a:rPr lang="es-ES" altLang="es-ES" sz="2200" b="1" dirty="0">
                <a:latin typeface="Aptos (body)"/>
              </a:rPr>
              <a:t> </a:t>
            </a:r>
            <a:r>
              <a:rPr lang="es-ES" altLang="es-ES" sz="2200" b="1" dirty="0" err="1">
                <a:latin typeface="Aptos (body)"/>
              </a:rPr>
              <a:t>probabilities</a:t>
            </a:r>
            <a:r>
              <a:rPr lang="es-ES" altLang="es-ES" sz="2200" dirty="0">
                <a:latin typeface="Aptos (body)"/>
              </a:rPr>
              <a:t> (</a:t>
            </a:r>
            <a:r>
              <a:rPr lang="es-ES" altLang="es-ES" sz="2200" dirty="0" err="1">
                <a:latin typeface="Aptos (body)"/>
              </a:rPr>
              <a:t>fraction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dirty="0" err="1">
                <a:latin typeface="Aptos (body)"/>
              </a:rPr>
              <a:t>of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dirty="0" err="1">
                <a:latin typeface="Aptos (body)"/>
              </a:rPr>
              <a:t>raters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dirty="0" err="1">
                <a:latin typeface="Aptos (body)"/>
              </a:rPr>
              <a:t>agreeing</a:t>
            </a:r>
            <a:r>
              <a:rPr lang="es-ES" altLang="es-ES" sz="2200" dirty="0">
                <a:latin typeface="Aptos (body)"/>
              </a:rPr>
              <a:t>).</a:t>
            </a:r>
          </a:p>
          <a:p>
            <a:r>
              <a:rPr lang="es-ES" altLang="es-ES" sz="2200" dirty="0">
                <a:latin typeface="Aptos (body)"/>
              </a:rPr>
              <a:t>Can </a:t>
            </a:r>
            <a:r>
              <a:rPr lang="es-ES" altLang="es-ES" sz="2200" dirty="0" err="1">
                <a:latin typeface="Aptos (body)"/>
              </a:rPr>
              <a:t>add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b="1" dirty="0" err="1">
                <a:latin typeface="Aptos (body)"/>
              </a:rPr>
              <a:t>spatial</a:t>
            </a:r>
            <a:r>
              <a:rPr lang="es-ES" altLang="es-ES" sz="2200" b="1" dirty="0">
                <a:latin typeface="Aptos (body)"/>
              </a:rPr>
              <a:t> </a:t>
            </a:r>
            <a:r>
              <a:rPr lang="es-ES" altLang="es-ES" sz="2200" b="1" dirty="0" err="1">
                <a:latin typeface="Aptos (body)"/>
              </a:rPr>
              <a:t>smoothing</a:t>
            </a:r>
            <a:r>
              <a:rPr lang="es-ES" altLang="es-ES" sz="2200" dirty="0">
                <a:latin typeface="Aptos (body)"/>
              </a:rPr>
              <a:t> → </a:t>
            </a:r>
            <a:r>
              <a:rPr lang="es-ES" altLang="es-ES" sz="2200" dirty="0" err="1">
                <a:latin typeface="Aptos (body)"/>
              </a:rPr>
              <a:t>uncertainty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dirty="0" err="1">
                <a:latin typeface="Aptos (body)"/>
              </a:rPr>
              <a:t>higher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dirty="0" err="1">
                <a:latin typeface="Aptos (body)"/>
              </a:rPr>
              <a:t>near</a:t>
            </a:r>
            <a:r>
              <a:rPr lang="es-ES" altLang="es-ES" sz="2200" dirty="0">
                <a:latin typeface="Aptos (body)"/>
              </a:rPr>
              <a:t> </a:t>
            </a:r>
            <a:r>
              <a:rPr lang="es-ES" altLang="es-ES" sz="2200" dirty="0" err="1">
                <a:latin typeface="Aptos (body)"/>
              </a:rPr>
              <a:t>boundaries</a:t>
            </a:r>
            <a:r>
              <a:rPr lang="es-ES" altLang="es-ES" sz="2200" dirty="0">
                <a:latin typeface="Aptos (body)"/>
              </a:rPr>
              <a:t>.</a:t>
            </a:r>
            <a:endParaRPr lang="es-ES" sz="2200" dirty="0">
              <a:latin typeface="Aptos (body)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0651B-1454-E9D5-F306-B4EE08933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012" t="75541"/>
          <a:stretch>
            <a:fillRect/>
          </a:stretch>
        </p:blipFill>
        <p:spPr>
          <a:xfrm>
            <a:off x="6922149" y="4055364"/>
            <a:ext cx="4121400" cy="2003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7195E2-78C1-CE18-E4D5-8318844E64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987"/>
          <a:stretch>
            <a:fillRect/>
          </a:stretch>
        </p:blipFill>
        <p:spPr>
          <a:xfrm>
            <a:off x="5860026" y="1924411"/>
            <a:ext cx="6245647" cy="2049070"/>
          </a:xfrm>
          <a:prstGeom prst="rect">
            <a:avLst/>
          </a:prstGeom>
        </p:spPr>
      </p:pic>
      <p:pic>
        <p:nvPicPr>
          <p:cNvPr id="11" name="Picture 4" descr="28,900+ White Tick Icon Stock Illustrations, Royalty-Free Vector Graphics &amp;  Clip Art - iStock">
            <a:extLst>
              <a:ext uri="{FF2B5EF4-FFF2-40B4-BE49-F238E27FC236}">
                <a16:creationId xmlns:a16="http://schemas.microsoft.com/office/drawing/2014/main" id="{7A825418-8A2C-79EA-F0E5-74C08432B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3921864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Cross Icon, Cross Symbol ...">
            <a:extLst>
              <a:ext uri="{FF2B5EF4-FFF2-40B4-BE49-F238E27FC236}">
                <a16:creationId xmlns:a16="http://schemas.microsoft.com/office/drawing/2014/main" id="{619567A0-F3A6-DFA7-2D9E-4458FC285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4881773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D00668-4043-3EE7-687F-B8C7969761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30" y="5528104"/>
            <a:ext cx="1044742" cy="10447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3C6156-2753-CA56-D53C-26C89E04D2C3}"/>
              </a:ext>
            </a:extLst>
          </p:cNvPr>
          <p:cNvSpPr txBox="1"/>
          <p:nvPr/>
        </p:nvSpPr>
        <p:spPr>
          <a:xfrm>
            <a:off x="1315367" y="5691261"/>
            <a:ext cx="50613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Closer to the </a:t>
            </a:r>
            <a:r>
              <a:rPr lang="en-US" sz="2200" b="1" dirty="0"/>
              <a:t>real distribution of expert uncertainty</a:t>
            </a:r>
            <a:r>
              <a:rPr lang="en-US" sz="2200" dirty="0"/>
              <a:t>, can help calibration</a:t>
            </a:r>
            <a:endParaRPr lang="es-ES" sz="2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270C53-6BAD-40B4-B615-595F0F82846C}"/>
              </a:ext>
            </a:extLst>
          </p:cNvPr>
          <p:cNvSpPr txBox="1"/>
          <p:nvPr/>
        </p:nvSpPr>
        <p:spPr>
          <a:xfrm>
            <a:off x="1315367" y="4028916"/>
            <a:ext cx="60939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 err="1">
                <a:latin typeface="Aptos (body)"/>
              </a:rPr>
              <a:t>Uncertainty-aware</a:t>
            </a:r>
            <a:r>
              <a:rPr lang="es-ES" sz="2200" dirty="0">
                <a:latin typeface="Aptos (body)"/>
              </a:rPr>
              <a:t> </a:t>
            </a:r>
            <a:r>
              <a:rPr lang="es-ES" sz="2200" dirty="0" err="1">
                <a:latin typeface="Aptos (body)"/>
              </a:rPr>
              <a:t>labels</a:t>
            </a:r>
            <a:endParaRPr lang="es-ES" sz="2200" dirty="0">
              <a:latin typeface="Aptos (body)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BB0BB9-381A-C7FA-2EA6-23333CFA04D0}"/>
              </a:ext>
            </a:extLst>
          </p:cNvPr>
          <p:cNvSpPr txBox="1"/>
          <p:nvPr/>
        </p:nvSpPr>
        <p:spPr>
          <a:xfrm>
            <a:off x="9149765" y="6002879"/>
            <a:ext cx="1893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800" dirty="0">
                <a:latin typeface="Aptos (body)"/>
              </a:rPr>
              <a:t>Spatially Varying Label Smoothing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4EC20-BEDF-904A-8080-AF3A965DB651}"/>
              </a:ext>
            </a:extLst>
          </p:cNvPr>
          <p:cNvSpPr txBox="1"/>
          <p:nvPr/>
        </p:nvSpPr>
        <p:spPr>
          <a:xfrm>
            <a:off x="1315367" y="4809676"/>
            <a:ext cx="51455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 err="1">
                <a:latin typeface="Aptos (body)"/>
              </a:rPr>
              <a:t>Harder</a:t>
            </a:r>
            <a:r>
              <a:rPr lang="es-ES" sz="2200" dirty="0">
                <a:latin typeface="Aptos (body)"/>
              </a:rPr>
              <a:t> </a:t>
            </a:r>
            <a:r>
              <a:rPr lang="es-ES" sz="2200" dirty="0" err="1">
                <a:latin typeface="Aptos (body)"/>
              </a:rPr>
              <a:t>evaluation</a:t>
            </a:r>
            <a:r>
              <a:rPr lang="es-ES" sz="2200" dirty="0">
                <a:latin typeface="Aptos (body)"/>
              </a:rPr>
              <a:t> </a:t>
            </a:r>
            <a:r>
              <a:rPr lang="es-ES" sz="2200" dirty="0">
                <a:latin typeface="Aptos (body)"/>
                <a:sym typeface="Wingdings" panose="05000000000000000000" pitchFamily="2" charset="2"/>
              </a:rPr>
              <a:t> </a:t>
            </a:r>
            <a:r>
              <a:rPr lang="es-ES" sz="2200" dirty="0" err="1">
                <a:latin typeface="Aptos (body)"/>
                <a:sym typeface="Wingdings" panose="05000000000000000000" pitchFamily="2" charset="2"/>
              </a:rPr>
              <a:t>soft</a:t>
            </a:r>
            <a:r>
              <a:rPr lang="es-ES" sz="2200" dirty="0">
                <a:latin typeface="Aptos (body)"/>
                <a:sym typeface="Wingdings" panose="05000000000000000000" pitchFamily="2" charset="2"/>
              </a:rPr>
              <a:t> compatible </a:t>
            </a:r>
            <a:r>
              <a:rPr lang="es-ES" sz="2200" dirty="0" err="1">
                <a:latin typeface="Aptos (body)"/>
                <a:sym typeface="Wingdings" panose="05000000000000000000" pitchFamily="2" charset="2"/>
              </a:rPr>
              <a:t>metrics</a:t>
            </a:r>
            <a:endParaRPr lang="es-ES" sz="2200" dirty="0"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3775102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4B858-38EA-6F7C-976E-02DD6AFF1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355BE9-FCCF-6DAE-1FAF-AAA370D72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F872B-892D-D382-3351-1E5E5513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STAPLE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AFF41DA-6A20-083C-A9A6-E85ADFF09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EDCD7-1F34-BA92-2DAC-182B7F795C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70" t="2647" r="1412" b="74987"/>
          <a:stretch>
            <a:fillRect/>
          </a:stretch>
        </p:blipFill>
        <p:spPr>
          <a:xfrm>
            <a:off x="1071990" y="5103281"/>
            <a:ext cx="1879111" cy="1700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6BF84-E86D-CB09-381E-F16C2581D9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12" t="2647" r="33870" b="74986"/>
          <a:stretch>
            <a:fillRect/>
          </a:stretch>
        </p:blipFill>
        <p:spPr>
          <a:xfrm>
            <a:off x="1071990" y="3409015"/>
            <a:ext cx="1879111" cy="1700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F3E2BA-23FA-A635-AE55-D8F9F1FF23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8" r="66170" b="74987"/>
          <a:stretch>
            <a:fillRect/>
          </a:stretch>
        </p:blipFill>
        <p:spPr>
          <a:xfrm>
            <a:off x="990101" y="1797693"/>
            <a:ext cx="1961000" cy="16175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FCD049-B3A4-C568-DD23-62C8D3C028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176" r="66170" b="24459"/>
          <a:stretch>
            <a:fillRect/>
          </a:stretch>
        </p:blipFill>
        <p:spPr>
          <a:xfrm>
            <a:off x="6556326" y="1809480"/>
            <a:ext cx="2112901" cy="18322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D94B062-4A47-189F-528C-C99C643C7830}"/>
              </a:ext>
            </a:extLst>
          </p:cNvPr>
          <p:cNvSpPr txBox="1"/>
          <p:nvPr/>
        </p:nvSpPr>
        <p:spPr>
          <a:xfrm>
            <a:off x="3579153" y="2063883"/>
            <a:ext cx="22636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Initialize: </a:t>
            </a:r>
            <a:r>
              <a:rPr kumimoji="0" lang="ca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guess true mask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 Majority voting)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601147-4368-5173-02EB-9EAE5FF4FCCB}"/>
              </a:ext>
            </a:extLst>
          </p:cNvPr>
          <p:cNvCxnSpPr>
            <a:stCxn id="19" idx="3"/>
            <a:endCxn id="18" idx="1"/>
          </p:cNvCxnSpPr>
          <p:nvPr/>
        </p:nvCxnSpPr>
        <p:spPr>
          <a:xfrm flipV="1">
            <a:off x="5842773" y="2725602"/>
            <a:ext cx="7135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239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56C5B-0231-4C6F-5AD3-B16339AB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21DAB3-EDF0-BF17-C2D7-118423D3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5B883-94C8-9C7E-EF5F-63F3A8FA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STAPLE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69576FE-C0E2-D6B0-0195-5B50884CC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374C5-87EC-1DB6-669C-645012070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70" t="2647" r="1412" b="74987"/>
          <a:stretch>
            <a:fillRect/>
          </a:stretch>
        </p:blipFill>
        <p:spPr>
          <a:xfrm>
            <a:off x="1071990" y="5103281"/>
            <a:ext cx="1879111" cy="1700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61684E-2CF6-E8D5-E9BE-B2FD77B89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12" t="2647" r="33870" b="74986"/>
          <a:stretch>
            <a:fillRect/>
          </a:stretch>
        </p:blipFill>
        <p:spPr>
          <a:xfrm>
            <a:off x="1071990" y="3409015"/>
            <a:ext cx="1879111" cy="1700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4F3D5C-FDEA-76CD-23D8-9B5E4418BB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8" r="66170" b="74987"/>
          <a:stretch>
            <a:fillRect/>
          </a:stretch>
        </p:blipFill>
        <p:spPr>
          <a:xfrm>
            <a:off x="990101" y="1797693"/>
            <a:ext cx="1961000" cy="16175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95DFE7-A996-E7DC-C307-76C2B117AA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176" r="66170" b="24459"/>
          <a:stretch>
            <a:fillRect/>
          </a:stretch>
        </p:blipFill>
        <p:spPr>
          <a:xfrm>
            <a:off x="6556326" y="1809480"/>
            <a:ext cx="2112901" cy="18322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4F536DD-3787-DAD5-373C-ADCC0DA49CA8}"/>
              </a:ext>
            </a:extLst>
          </p:cNvPr>
          <p:cNvSpPr txBox="1"/>
          <p:nvPr/>
        </p:nvSpPr>
        <p:spPr>
          <a:xfrm>
            <a:off x="3579153" y="2063883"/>
            <a:ext cx="22636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Initialize: </a:t>
            </a:r>
            <a:r>
              <a:rPr kumimoji="0" lang="ca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guess true mask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 Majority voting)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574AE8-1BEA-D293-C1BF-846E5C70DD3E}"/>
              </a:ext>
            </a:extLst>
          </p:cNvPr>
          <p:cNvCxnSpPr>
            <a:stCxn id="16" idx="3"/>
            <a:endCxn id="14" idx="1"/>
          </p:cNvCxnSpPr>
          <p:nvPr/>
        </p:nvCxnSpPr>
        <p:spPr>
          <a:xfrm flipV="1">
            <a:off x="5842773" y="2725602"/>
            <a:ext cx="7135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FF737E09-A861-ADB1-F344-C3936F5D0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692" y="4580820"/>
            <a:ext cx="235016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M-step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given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current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“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truth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,”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update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spec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rater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E51D4-C5D0-66A6-9E48-5F30DFA42971}"/>
              </a:ext>
            </a:extLst>
          </p:cNvPr>
          <p:cNvSpPr txBox="1"/>
          <p:nvPr/>
        </p:nvSpPr>
        <p:spPr>
          <a:xfrm>
            <a:off x="3438506" y="4580820"/>
            <a:ext cx="27543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E-step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given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spec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compute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probability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voxel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“true” →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probabilistic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map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9F90D9AB-9109-7DAB-195D-8DAA3835AB54}"/>
              </a:ext>
            </a:extLst>
          </p:cNvPr>
          <p:cNvSpPr/>
          <p:nvPr/>
        </p:nvSpPr>
        <p:spPr>
          <a:xfrm>
            <a:off x="4860721" y="5967434"/>
            <a:ext cx="2467510" cy="52544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6" name="Arrow: Curved Up 5">
            <a:extLst>
              <a:ext uri="{FF2B5EF4-FFF2-40B4-BE49-F238E27FC236}">
                <a16:creationId xmlns:a16="http://schemas.microsoft.com/office/drawing/2014/main" id="{F368A196-CA51-6C7A-870D-120F0848A01B}"/>
              </a:ext>
            </a:extLst>
          </p:cNvPr>
          <p:cNvSpPr/>
          <p:nvPr/>
        </p:nvSpPr>
        <p:spPr>
          <a:xfrm rot="10800000">
            <a:off x="4710963" y="3919101"/>
            <a:ext cx="2467510" cy="52544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462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B63DE-AAFB-B67B-0591-1C731971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4471E9-9339-0B50-98E2-AA2A54F8A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8E360-66BC-1C26-4D9D-241D378E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STAPLE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4C5CC64-FF0D-FD5B-61F1-40C2E886B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309401-1B5E-1A06-FB6A-1DA738FB5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70" t="2647" r="1412" b="74987"/>
          <a:stretch>
            <a:fillRect/>
          </a:stretch>
        </p:blipFill>
        <p:spPr>
          <a:xfrm>
            <a:off x="1071990" y="5103281"/>
            <a:ext cx="1879111" cy="1700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94D4D0-63F8-636D-97A8-43D4B974B5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12" t="2647" r="33870" b="74986"/>
          <a:stretch>
            <a:fillRect/>
          </a:stretch>
        </p:blipFill>
        <p:spPr>
          <a:xfrm>
            <a:off x="1071990" y="3409015"/>
            <a:ext cx="1879111" cy="1700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7863D4-D687-A0A2-AEEE-ABB049E505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8" r="66170" b="74987"/>
          <a:stretch>
            <a:fillRect/>
          </a:stretch>
        </p:blipFill>
        <p:spPr>
          <a:xfrm>
            <a:off x="990101" y="1797693"/>
            <a:ext cx="1961000" cy="1617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60F955-39FC-3B49-D54E-FF4BE0DA76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680" t="50000" r="1903" b="24459"/>
          <a:stretch>
            <a:fillRect/>
          </a:stretch>
        </p:blipFill>
        <p:spPr>
          <a:xfrm>
            <a:off x="9591534" y="2072135"/>
            <a:ext cx="2024669" cy="209240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DE9847-9C90-677B-987F-C5A34C6F7740}"/>
              </a:ext>
            </a:extLst>
          </p:cNvPr>
          <p:cNvSpPr/>
          <p:nvPr/>
        </p:nvSpPr>
        <p:spPr>
          <a:xfrm>
            <a:off x="9525076" y="4785339"/>
            <a:ext cx="2157587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When converges</a:t>
            </a:r>
            <a:endParaRPr lang="es-E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427E38-FAF7-2235-3A91-AE7DE2FDA03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 flipV="1">
            <a:off x="8787860" y="5242539"/>
            <a:ext cx="73721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2FA4C1-5297-2E80-B32F-9E6FD1304FD9}"/>
              </a:ext>
            </a:extLst>
          </p:cNvPr>
          <p:cNvCxnSpPr>
            <a:stCxn id="12" idx="0"/>
            <a:endCxn id="9" idx="2"/>
          </p:cNvCxnSpPr>
          <p:nvPr/>
        </p:nvCxnSpPr>
        <p:spPr>
          <a:xfrm flipH="1" flipV="1">
            <a:off x="10603869" y="4164544"/>
            <a:ext cx="1" cy="620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E635D460-DA97-7CC2-26C2-F8CEE4450A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176" r="66170" b="24459"/>
          <a:stretch>
            <a:fillRect/>
          </a:stretch>
        </p:blipFill>
        <p:spPr>
          <a:xfrm>
            <a:off x="6556326" y="1809480"/>
            <a:ext cx="2112901" cy="183224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116DEF8-4F0D-3A5A-FFA1-ED772128A33B}"/>
              </a:ext>
            </a:extLst>
          </p:cNvPr>
          <p:cNvSpPr txBox="1"/>
          <p:nvPr/>
        </p:nvSpPr>
        <p:spPr>
          <a:xfrm>
            <a:off x="3579153" y="2063883"/>
            <a:ext cx="22636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Initialize: </a:t>
            </a:r>
            <a:r>
              <a:rPr kumimoji="0" lang="ca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guess true mask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 Majority voting)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E03F66-805F-042D-7FBE-D296E3C07073}"/>
              </a:ext>
            </a:extLst>
          </p:cNvPr>
          <p:cNvCxnSpPr>
            <a:stCxn id="27" idx="3"/>
            <a:endCxn id="26" idx="1"/>
          </p:cNvCxnSpPr>
          <p:nvPr/>
        </p:nvCxnSpPr>
        <p:spPr>
          <a:xfrm flipV="1">
            <a:off x="5842773" y="2725602"/>
            <a:ext cx="7135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1">
            <a:extLst>
              <a:ext uri="{FF2B5EF4-FFF2-40B4-BE49-F238E27FC236}">
                <a16:creationId xmlns:a16="http://schemas.microsoft.com/office/drawing/2014/main" id="{26CB2C78-5A49-A415-ABB8-C812225F3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692" y="4580820"/>
            <a:ext cx="235016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M-step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given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current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“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truth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,”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update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spec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rater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11A75C-020D-72AE-7FE5-C215CD3C8F04}"/>
              </a:ext>
            </a:extLst>
          </p:cNvPr>
          <p:cNvSpPr txBox="1"/>
          <p:nvPr/>
        </p:nvSpPr>
        <p:spPr>
          <a:xfrm>
            <a:off x="3438506" y="4580820"/>
            <a:ext cx="27543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E-step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given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spec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compute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probability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voxel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“true” →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probabilistic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map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31" name="Arrow: Curved Up 30">
            <a:extLst>
              <a:ext uri="{FF2B5EF4-FFF2-40B4-BE49-F238E27FC236}">
                <a16:creationId xmlns:a16="http://schemas.microsoft.com/office/drawing/2014/main" id="{96795E9B-6AE3-9BFD-5726-FFDCFA1CC198}"/>
              </a:ext>
            </a:extLst>
          </p:cNvPr>
          <p:cNvSpPr/>
          <p:nvPr/>
        </p:nvSpPr>
        <p:spPr>
          <a:xfrm>
            <a:off x="4860721" y="5967434"/>
            <a:ext cx="2467510" cy="52544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2" name="Arrow: Curved Up 31">
            <a:extLst>
              <a:ext uri="{FF2B5EF4-FFF2-40B4-BE49-F238E27FC236}">
                <a16:creationId xmlns:a16="http://schemas.microsoft.com/office/drawing/2014/main" id="{1BBBC588-2078-EFB1-9416-156329B09FF0}"/>
              </a:ext>
            </a:extLst>
          </p:cNvPr>
          <p:cNvSpPr/>
          <p:nvPr/>
        </p:nvSpPr>
        <p:spPr>
          <a:xfrm rot="10800000">
            <a:off x="4710963" y="3919101"/>
            <a:ext cx="2467510" cy="52544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008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78C32-56D4-397E-104B-98F42493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0ABFE3-4318-B04A-B728-581A33A27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77AC2-B1B6-DCB5-CCB7-339F3048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STAPLE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7D1643-8CF8-E670-05A7-1C6205F02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4D859-1524-DA84-438D-EE1F7F554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4938547" cy="1795581"/>
          </a:xfrm>
        </p:spPr>
        <p:txBody>
          <a:bodyPr>
            <a:normAutofit lnSpcReduction="10000"/>
          </a:bodyPr>
          <a:lstStyle/>
          <a:p>
            <a:r>
              <a:rPr lang="ca-ES" sz="2400" dirty="0"/>
              <a:t>Simultaneous Truth And Performance Level Estimation (STAPLE)</a:t>
            </a:r>
          </a:p>
          <a:p>
            <a:r>
              <a:rPr lang="ca-ES" sz="2400" dirty="0"/>
              <a:t>Learns both a latent “true mask” and rater reliabilities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B78F5-4C60-C3C1-4ED2-84D2771C7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987"/>
          <a:stretch>
            <a:fillRect/>
          </a:stretch>
        </p:blipFill>
        <p:spPr>
          <a:xfrm>
            <a:off x="5860026" y="1924411"/>
            <a:ext cx="6245647" cy="20490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B0B6CB-B898-A997-5B64-4B58FFC0B9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822" t="50000" b="24459"/>
          <a:stretch>
            <a:fillRect/>
          </a:stretch>
        </p:blipFill>
        <p:spPr>
          <a:xfrm>
            <a:off x="6916225" y="3921864"/>
            <a:ext cx="4133248" cy="2092409"/>
          </a:xfrm>
          <a:prstGeom prst="rect">
            <a:avLst/>
          </a:prstGeom>
        </p:spPr>
      </p:pic>
      <p:pic>
        <p:nvPicPr>
          <p:cNvPr id="7" name="Picture 4" descr="28,900+ White Tick Icon Stock Illustrations, Royalty-Free Vector Graphics &amp;  Clip Art - iStock">
            <a:extLst>
              <a:ext uri="{FF2B5EF4-FFF2-40B4-BE49-F238E27FC236}">
                <a16:creationId xmlns:a16="http://schemas.microsoft.com/office/drawing/2014/main" id="{7BC23E0B-4301-5F8C-7873-AE8DCC024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3921864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ross Icon, Cross Symbol ...">
            <a:extLst>
              <a:ext uri="{FF2B5EF4-FFF2-40B4-BE49-F238E27FC236}">
                <a16:creationId xmlns:a16="http://schemas.microsoft.com/office/drawing/2014/main" id="{36205962-C236-9307-9DAF-0611BBF63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4881773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E42F29-5304-D6AA-0C5C-E0AB9A4A74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30" y="5528104"/>
            <a:ext cx="1044742" cy="10447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F41D46-0ACE-636D-C957-37E5EBC35300}"/>
              </a:ext>
            </a:extLst>
          </p:cNvPr>
          <p:cNvSpPr txBox="1"/>
          <p:nvPr/>
        </p:nvSpPr>
        <p:spPr>
          <a:xfrm>
            <a:off x="1315366" y="4594908"/>
            <a:ext cx="45446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a-ES" sz="2200" dirty="0"/>
              <a:t>Assume independence, voxel-wise independence may break for segmentation</a:t>
            </a:r>
            <a:endParaRPr lang="es-ES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4A3F3-F96D-EC9C-E7A1-3DF4B5D3809E}"/>
              </a:ext>
            </a:extLst>
          </p:cNvPr>
          <p:cNvSpPr txBox="1"/>
          <p:nvPr/>
        </p:nvSpPr>
        <p:spPr>
          <a:xfrm>
            <a:off x="1315367" y="5758435"/>
            <a:ext cx="47438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200" dirty="0"/>
              <a:t>Acknowledge raters are noisy observers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7BDF8D-4FB8-A193-2688-E1AE25AD49C8}"/>
              </a:ext>
            </a:extLst>
          </p:cNvPr>
          <p:cNvSpPr txBox="1"/>
          <p:nvPr/>
        </p:nvSpPr>
        <p:spPr>
          <a:xfrm>
            <a:off x="1315367" y="3858831"/>
            <a:ext cx="4544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Accounts for </a:t>
            </a:r>
            <a:r>
              <a:rPr lang="en-US" sz="2200" b="1" dirty="0"/>
              <a:t>individual rater reliability</a:t>
            </a:r>
            <a:r>
              <a:rPr lang="en-US" sz="2200" dirty="0"/>
              <a:t> </a:t>
            </a: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4286482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12674-8848-3272-E0DB-668DCFB7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D6FED2-C661-DCDE-9DF9-59BE3D8EE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D4D80-C720-C12C-15A6-7C81452B8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Label Fusion – Other Methods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2E850A8-92D3-1D19-8B6C-47953D961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C9D99-EF45-E692-2AC1-7C88051D0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2814738"/>
          </a:xfrm>
        </p:spPr>
        <p:txBody>
          <a:bodyPr>
            <a:normAutofit/>
          </a:bodyPr>
          <a:lstStyle/>
          <a:p>
            <a:r>
              <a:rPr lang="es-ES" sz="2200" b="1" dirty="0"/>
              <a:t>DL-</a:t>
            </a:r>
            <a:r>
              <a:rPr lang="es-ES" sz="2200" b="1" dirty="0" err="1"/>
              <a:t>based</a:t>
            </a:r>
            <a:r>
              <a:rPr lang="es-ES" sz="2200" b="1" dirty="0"/>
              <a:t> </a:t>
            </a:r>
            <a:r>
              <a:rPr lang="es-ES" sz="2200" b="1" dirty="0" err="1"/>
              <a:t>label</a:t>
            </a:r>
            <a:r>
              <a:rPr lang="es-ES" sz="2200" b="1" dirty="0"/>
              <a:t> </a:t>
            </a:r>
            <a:r>
              <a:rPr lang="es-ES" sz="2200" b="1" dirty="0" err="1"/>
              <a:t>fusion</a:t>
            </a:r>
            <a:r>
              <a:rPr lang="es-ES" sz="2200" dirty="0"/>
              <a:t>:</a:t>
            </a:r>
            <a:r>
              <a:rPr lang="es-ES" sz="2200" b="1" dirty="0"/>
              <a:t> </a:t>
            </a:r>
            <a:r>
              <a:rPr lang="es-ES" altLang="es-ES" sz="2200" dirty="0" err="1"/>
              <a:t>CNNs</a:t>
            </a:r>
            <a:r>
              <a:rPr lang="es-ES" altLang="es-ES" sz="2200" dirty="0"/>
              <a:t> </a:t>
            </a:r>
            <a:r>
              <a:rPr lang="es-ES" altLang="es-ES" sz="2200" dirty="0" err="1"/>
              <a:t>that</a:t>
            </a:r>
            <a:r>
              <a:rPr lang="es-ES" altLang="es-ES" sz="2200" dirty="0"/>
              <a:t> </a:t>
            </a:r>
            <a:r>
              <a:rPr lang="es-ES" altLang="es-ES" sz="2200" dirty="0" err="1"/>
              <a:t>learn</a:t>
            </a:r>
            <a:r>
              <a:rPr lang="es-ES" altLang="es-ES" sz="2200" dirty="0"/>
              <a:t> </a:t>
            </a:r>
            <a:r>
              <a:rPr lang="es-ES" altLang="es-ES" sz="2200" dirty="0" err="1"/>
              <a:t>to</a:t>
            </a:r>
            <a:r>
              <a:rPr lang="es-ES" altLang="es-ES" sz="2200" dirty="0"/>
              <a:t> combine </a:t>
            </a:r>
            <a:r>
              <a:rPr lang="es-ES" altLang="es-ES" sz="2200" dirty="0" err="1"/>
              <a:t>rater</a:t>
            </a:r>
            <a:r>
              <a:rPr lang="es-ES" altLang="es-ES" sz="2200" dirty="0"/>
              <a:t> </a:t>
            </a:r>
            <a:r>
              <a:rPr lang="es-ES" altLang="es-ES" sz="2200" dirty="0" err="1"/>
              <a:t>maps</a:t>
            </a:r>
            <a:r>
              <a:rPr lang="es-ES" altLang="es-ES" sz="2200" dirty="0"/>
              <a:t> </a:t>
            </a:r>
            <a:r>
              <a:rPr lang="es-ES" altLang="es-ES" sz="2200" dirty="0" err="1"/>
              <a:t>into</a:t>
            </a:r>
            <a:r>
              <a:rPr lang="es-ES" altLang="es-ES" sz="2200" dirty="0"/>
              <a:t> </a:t>
            </a:r>
            <a:r>
              <a:rPr lang="es-ES" altLang="es-ES" sz="2200" dirty="0" err="1"/>
              <a:t>consensus</a:t>
            </a:r>
            <a:endParaRPr lang="es-ES" sz="2200" dirty="0"/>
          </a:p>
          <a:p>
            <a:pPr lvl="1"/>
            <a:r>
              <a:rPr lang="es-ES" sz="2200" dirty="0"/>
              <a:t>Small </a:t>
            </a:r>
            <a:r>
              <a:rPr lang="es-ES" sz="2200" dirty="0" err="1"/>
              <a:t>network</a:t>
            </a:r>
            <a:r>
              <a:rPr lang="es-ES" sz="2200" dirty="0"/>
              <a:t> </a:t>
            </a:r>
            <a:r>
              <a:rPr lang="es-ES" sz="2200" dirty="0" err="1"/>
              <a:t>learns</a:t>
            </a:r>
            <a:r>
              <a:rPr lang="es-ES" sz="2200" dirty="0"/>
              <a:t> </a:t>
            </a:r>
            <a:r>
              <a:rPr lang="es-ES" sz="2200" dirty="0" err="1"/>
              <a:t>to</a:t>
            </a:r>
            <a:r>
              <a:rPr lang="es-ES" sz="2200" dirty="0"/>
              <a:t> fuse </a:t>
            </a:r>
            <a:r>
              <a:rPr lang="es-ES" sz="2200" dirty="0" err="1"/>
              <a:t>multi-rater</a:t>
            </a:r>
            <a:r>
              <a:rPr lang="es-ES" sz="2200" dirty="0"/>
              <a:t> inputs </a:t>
            </a:r>
            <a:r>
              <a:rPr lang="es-ES" sz="2200" dirty="0" err="1"/>
              <a:t>into</a:t>
            </a:r>
            <a:r>
              <a:rPr lang="es-ES" sz="2200" dirty="0"/>
              <a:t> a </a:t>
            </a:r>
            <a:r>
              <a:rPr lang="es-ES" sz="2200" dirty="0" err="1"/>
              <a:t>consensus</a:t>
            </a:r>
            <a:r>
              <a:rPr lang="es-ES" sz="2200" dirty="0"/>
              <a:t> </a:t>
            </a:r>
            <a:r>
              <a:rPr lang="es-ES" sz="2200" dirty="0" err="1"/>
              <a:t>map</a:t>
            </a:r>
            <a:endParaRPr lang="es-ES" sz="2200" dirty="0"/>
          </a:p>
          <a:p>
            <a:r>
              <a:rPr lang="es-ES" altLang="es-ES" sz="2200" b="1" dirty="0"/>
              <a:t>Multi-</a:t>
            </a:r>
            <a:r>
              <a:rPr lang="es-ES" altLang="es-ES" sz="2200" b="1" dirty="0" err="1"/>
              <a:t>Annotator</a:t>
            </a:r>
            <a:r>
              <a:rPr lang="es-ES" altLang="es-ES" sz="2200" b="1" dirty="0"/>
              <a:t> Training </a:t>
            </a:r>
            <a:r>
              <a:rPr lang="es-ES" altLang="es-ES" sz="2200" dirty="0"/>
              <a:t>– </a:t>
            </a:r>
            <a:r>
              <a:rPr lang="es-ES" altLang="es-ES" sz="2200" dirty="0" err="1"/>
              <a:t>e.g</a:t>
            </a:r>
            <a:r>
              <a:rPr lang="es-ES" altLang="es-ES" sz="2200" dirty="0"/>
              <a:t>. </a:t>
            </a:r>
            <a:r>
              <a:rPr lang="es-ES" altLang="es-ES" sz="2200" dirty="0" err="1"/>
              <a:t>loss</a:t>
            </a:r>
            <a:r>
              <a:rPr lang="es-ES" altLang="es-ES" sz="2200" dirty="0"/>
              <a:t> </a:t>
            </a:r>
            <a:r>
              <a:rPr lang="es-ES" altLang="es-ES" sz="2200" dirty="0" err="1"/>
              <a:t>functions</a:t>
            </a:r>
            <a:r>
              <a:rPr lang="es-ES" altLang="es-ES" sz="2200" dirty="0"/>
              <a:t> </a:t>
            </a:r>
            <a:r>
              <a:rPr lang="es-ES" altLang="es-ES" sz="2200" dirty="0" err="1"/>
              <a:t>that</a:t>
            </a:r>
            <a:r>
              <a:rPr lang="es-ES" altLang="es-ES" sz="2200" dirty="0"/>
              <a:t> compare </a:t>
            </a:r>
            <a:r>
              <a:rPr lang="es-ES" altLang="es-ES" sz="2200" dirty="0" err="1"/>
              <a:t>predictions</a:t>
            </a:r>
            <a:r>
              <a:rPr lang="es-ES" altLang="es-ES" sz="2200" dirty="0"/>
              <a:t> </a:t>
            </a:r>
            <a:r>
              <a:rPr lang="es-ES" altLang="es-ES" sz="2200" dirty="0" err="1"/>
              <a:t>to</a:t>
            </a:r>
            <a:r>
              <a:rPr lang="es-ES" altLang="es-ES" sz="2200" dirty="0"/>
              <a:t> </a:t>
            </a:r>
            <a:r>
              <a:rPr lang="es-ES" altLang="es-ES" sz="2200" i="1" dirty="0" err="1"/>
              <a:t>all</a:t>
            </a:r>
            <a:r>
              <a:rPr lang="es-ES" altLang="es-ES" sz="2200" i="1" dirty="0"/>
              <a:t> </a:t>
            </a:r>
            <a:r>
              <a:rPr lang="es-ES" altLang="es-ES" sz="2200" i="1" dirty="0" err="1"/>
              <a:t>raters</a:t>
            </a:r>
            <a:r>
              <a:rPr lang="es-ES" altLang="es-ES" sz="2200" dirty="0"/>
              <a:t> </a:t>
            </a:r>
            <a:r>
              <a:rPr lang="es-ES" altLang="es-ES" sz="2200" dirty="0" err="1"/>
              <a:t>instead</a:t>
            </a:r>
            <a:r>
              <a:rPr lang="es-ES" altLang="es-ES" sz="2200" dirty="0"/>
              <a:t> </a:t>
            </a:r>
            <a:r>
              <a:rPr lang="es-ES" altLang="es-ES" sz="2200" dirty="0" err="1"/>
              <a:t>of</a:t>
            </a:r>
            <a:r>
              <a:rPr lang="es-ES" altLang="es-ES" sz="2200" dirty="0"/>
              <a:t> a </a:t>
            </a:r>
            <a:r>
              <a:rPr lang="es-ES" altLang="es-ES" sz="2200" dirty="0" err="1"/>
              <a:t>fused</a:t>
            </a:r>
            <a:r>
              <a:rPr lang="es-ES" altLang="es-ES" sz="2200" dirty="0"/>
              <a:t> </a:t>
            </a:r>
            <a:r>
              <a:rPr lang="es-ES" altLang="es-ES" sz="2200" dirty="0" err="1"/>
              <a:t>mask</a:t>
            </a:r>
            <a:endParaRPr lang="es-ES" altLang="es-ES" sz="2200" dirty="0"/>
          </a:p>
          <a:p>
            <a:r>
              <a:rPr lang="en-US" sz="2200" b="1" dirty="0"/>
              <a:t>Bayesian / Uncertainty-Aware Networks</a:t>
            </a:r>
            <a:r>
              <a:rPr lang="en-US" sz="2200" dirty="0"/>
              <a:t> – explicitly predict per-voxel uncertainty calibrated to rater disagreement.</a:t>
            </a:r>
            <a:endParaRPr lang="es-E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CAEE20-1F29-6E04-211B-D08B255C39A2}"/>
              </a:ext>
            </a:extLst>
          </p:cNvPr>
          <p:cNvSpPr txBox="1"/>
          <p:nvPr/>
        </p:nvSpPr>
        <p:spPr>
          <a:xfrm>
            <a:off x="1315366" y="5892136"/>
            <a:ext cx="86847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altLang="es-E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These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more flexible </a:t>
            </a:r>
            <a:r>
              <a:rPr kumimoji="0" lang="es-ES" altLang="es-E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less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standardized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ongoing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research</a:t>
            </a:r>
            <a:endParaRPr lang="es-E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F8BCE-3E87-8413-AC4A-A4E0A800C7FB}"/>
              </a:ext>
            </a:extLst>
          </p:cNvPr>
          <p:cNvSpPr txBox="1"/>
          <p:nvPr/>
        </p:nvSpPr>
        <p:spPr>
          <a:xfrm>
            <a:off x="1315366" y="4251532"/>
            <a:ext cx="72738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/>
              <a:t>Can </a:t>
            </a:r>
            <a:r>
              <a:rPr lang="es-ES" sz="2200" dirty="0" err="1"/>
              <a:t>incorporate</a:t>
            </a:r>
            <a:r>
              <a:rPr lang="es-ES" sz="2200" dirty="0"/>
              <a:t> </a:t>
            </a:r>
            <a:r>
              <a:rPr lang="es-ES" sz="2200" dirty="0" err="1"/>
              <a:t>spatial</a:t>
            </a:r>
            <a:r>
              <a:rPr lang="es-ES" sz="2200" dirty="0"/>
              <a:t> </a:t>
            </a:r>
            <a:r>
              <a:rPr lang="es-ES" sz="2200" dirty="0" err="1"/>
              <a:t>context</a:t>
            </a:r>
            <a:r>
              <a:rPr lang="es-ES" sz="2200" dirty="0"/>
              <a:t> &amp; </a:t>
            </a:r>
            <a:r>
              <a:rPr lang="es-ES" sz="2200" dirty="0" err="1"/>
              <a:t>rater-specific</a:t>
            </a:r>
            <a:r>
              <a:rPr lang="es-ES" sz="2200" dirty="0"/>
              <a:t> </a:t>
            </a:r>
            <a:r>
              <a:rPr lang="es-ES" sz="2200" dirty="0" err="1"/>
              <a:t>patterns</a:t>
            </a:r>
            <a:endParaRPr lang="es-ES" sz="2200" dirty="0"/>
          </a:p>
          <a:p>
            <a:r>
              <a:rPr lang="en-US" sz="2200" dirty="0"/>
              <a:t>Directly train model with uncertainty included</a:t>
            </a:r>
            <a:endParaRPr lang="es-ES" sz="2200" dirty="0"/>
          </a:p>
        </p:txBody>
      </p:sp>
      <p:pic>
        <p:nvPicPr>
          <p:cNvPr id="13" name="Picture 4" descr="28,900+ White Tick Icon Stock Illustrations, Royalty-Free Vector Graphics &amp;  Clip Art - iStock">
            <a:extLst>
              <a:ext uri="{FF2B5EF4-FFF2-40B4-BE49-F238E27FC236}">
                <a16:creationId xmlns:a16="http://schemas.microsoft.com/office/drawing/2014/main" id="{F8F234BC-A8EB-B9DD-2F75-5BAC7C14C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5" y="4284577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Cross Icon, Cross Symbol ...">
            <a:extLst>
              <a:ext uri="{FF2B5EF4-FFF2-40B4-BE49-F238E27FC236}">
                <a16:creationId xmlns:a16="http://schemas.microsoft.com/office/drawing/2014/main" id="{DB5998F9-E77C-6F76-FEDC-8C8F52221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36" y="4995983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0C956D-AD8B-C8CC-95D3-CF7582145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30" y="5528104"/>
            <a:ext cx="1044742" cy="10447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7774BF4-F283-04B5-49D4-56E3853109F9}"/>
              </a:ext>
            </a:extLst>
          </p:cNvPr>
          <p:cNvSpPr txBox="1"/>
          <p:nvPr/>
        </p:nvSpPr>
        <p:spPr>
          <a:xfrm>
            <a:off x="1315366" y="4988943"/>
            <a:ext cx="9952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Require more data and careful design </a:t>
            </a:r>
            <a:r>
              <a:rPr lang="en-US" sz="2200" dirty="0">
                <a:sym typeface="Wingdings" panose="05000000000000000000" pitchFamily="2" charset="2"/>
              </a:rPr>
              <a:t> harder to interpret and validate than classical methods</a:t>
            </a: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2680267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079B6-4CC7-2D80-F2A9-9299B1AE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88CDBD4-8521-230F-60E6-24DC8A3E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38E7A-8F26-74F2-B996-7B524AC6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Outline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C989500-18A4-7733-9879-A717AB2C8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9963FCA-258D-8954-DFA9-EBB6B75742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212228"/>
              </p:ext>
            </p:extLst>
          </p:nvPr>
        </p:nvGraphicFramePr>
        <p:xfrm>
          <a:off x="838200" y="1824787"/>
          <a:ext cx="10515600" cy="4668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7514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8A155-CC6F-A512-4626-99B2C855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A1076B-4921-E3B2-74B8-A4F09DC77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1B1A4-4EDD-2707-13CB-03613D28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Method wrt Disagreement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00E4A66-2F4D-2292-2408-E33ADB0C5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901D05-01D6-F0DB-393B-AFA8A6E4B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61947"/>
              </p:ext>
            </p:extLst>
          </p:nvPr>
        </p:nvGraphicFramePr>
        <p:xfrm>
          <a:off x="838200" y="2055813"/>
          <a:ext cx="10515600" cy="2865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61117">
                  <a:extLst>
                    <a:ext uri="{9D8B030D-6E8A-4147-A177-3AD203B41FA5}">
                      <a16:colId xmlns:a16="http://schemas.microsoft.com/office/drawing/2014/main" val="662277974"/>
                    </a:ext>
                  </a:extLst>
                </a:gridCol>
                <a:gridCol w="4282068">
                  <a:extLst>
                    <a:ext uri="{9D8B030D-6E8A-4147-A177-3AD203B41FA5}">
                      <a16:colId xmlns:a16="http://schemas.microsoft.com/office/drawing/2014/main" val="551632973"/>
                    </a:ext>
                  </a:extLst>
                </a:gridCol>
                <a:gridCol w="4172415">
                  <a:extLst>
                    <a:ext uri="{9D8B030D-6E8A-4147-A177-3AD203B41FA5}">
                      <a16:colId xmlns:a16="http://schemas.microsoft.com/office/drawing/2014/main" val="3129029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Method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Low disagreement</a:t>
                      </a:r>
                      <a:r>
                        <a:rPr lang="en-US" dirty="0"/>
                        <a:t> (raters mostly agree)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High </a:t>
                      </a:r>
                      <a:r>
                        <a:rPr lang="es-ES" b="1" dirty="0" err="1"/>
                        <a:t>disagreement</a:t>
                      </a:r>
                      <a:r>
                        <a:rPr lang="es-ES" dirty="0"/>
                        <a:t> (</a:t>
                      </a:r>
                      <a:r>
                        <a:rPr lang="es-ES" dirty="0" err="1"/>
                        <a:t>raters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split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426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Union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≈ </a:t>
                      </a:r>
                      <a:r>
                        <a:rPr lang="es-ES" dirty="0" err="1"/>
                        <a:t>Majority</a:t>
                      </a:r>
                      <a:r>
                        <a:rPr lang="es-ES" dirty="0"/>
                        <a:t>/</a:t>
                      </a:r>
                      <a:r>
                        <a:rPr lang="es-ES" dirty="0" err="1"/>
                        <a:t>Intersection</a:t>
                      </a:r>
                      <a:r>
                        <a:rPr lang="es-ES" dirty="0"/>
                        <a:t> → </a:t>
                      </a:r>
                      <a:r>
                        <a:rPr lang="es-ES" dirty="0" err="1"/>
                        <a:t>stable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Over-segmented</a:t>
                      </a:r>
                      <a:r>
                        <a:rPr lang="es-ES" dirty="0"/>
                        <a:t>, </a:t>
                      </a:r>
                      <a:r>
                        <a:rPr lang="es-ES" dirty="0" err="1"/>
                        <a:t>very</a:t>
                      </a:r>
                      <a:r>
                        <a:rPr lang="es-ES" dirty="0"/>
                        <a:t> 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53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Intersection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≈ </a:t>
                      </a:r>
                      <a:r>
                        <a:rPr lang="es-ES" dirty="0" err="1"/>
                        <a:t>Majority</a:t>
                      </a:r>
                      <a:r>
                        <a:rPr lang="es-ES" dirty="0"/>
                        <a:t> → </a:t>
                      </a:r>
                      <a:r>
                        <a:rPr lang="es-ES" dirty="0" err="1"/>
                        <a:t>stable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Under-segmented</a:t>
                      </a:r>
                      <a:r>
                        <a:rPr lang="es-ES" dirty="0"/>
                        <a:t>, </a:t>
                      </a:r>
                      <a:r>
                        <a:rPr lang="es-ES" dirty="0" err="1"/>
                        <a:t>overly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strict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94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Majority Voting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Stable, near ground truth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Hides minority opinions </a:t>
                      </a:r>
                      <a:r>
                        <a:rPr lang="ca-ES" dirty="0">
                          <a:sym typeface="Wingdings" panose="05000000000000000000" pitchFamily="2" charset="2"/>
                        </a:rPr>
                        <a:t> biased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87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Random Sampling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≈ </a:t>
                      </a:r>
                      <a:r>
                        <a:rPr lang="es-ES" dirty="0" err="1"/>
                        <a:t>Majority</a:t>
                      </a:r>
                      <a:r>
                        <a:rPr lang="es-ES" dirty="0"/>
                        <a:t> → </a:t>
                      </a:r>
                      <a:r>
                        <a:rPr lang="es-ES" dirty="0" err="1"/>
                        <a:t>stable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Preserves diversity, robust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3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STAPLE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Works well </a:t>
                      </a:r>
                      <a:r>
                        <a:rPr lang="ca-ES" dirty="0">
                          <a:sym typeface="Wingdings" panose="05000000000000000000" pitchFamily="2" charset="2"/>
                        </a:rPr>
                        <a:t> estimates reliabilities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Still OK, but limited by independence assumption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Soft Labels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Almost same as hard mask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Best at reflecting real uncertainty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33349"/>
                  </a:ext>
                </a:extLst>
              </a:tr>
            </a:tbl>
          </a:graphicData>
        </a:graphic>
      </p:graphicFrame>
      <p:sp>
        <p:nvSpPr>
          <p:cNvPr id="4" name="TextBox 44">
            <a:extLst>
              <a:ext uri="{FF2B5EF4-FFF2-40B4-BE49-F238E27FC236}">
                <a16:creationId xmlns:a16="http://schemas.microsoft.com/office/drawing/2014/main" id="{CCB509B1-3133-3AC3-2027-6FBAEFC9EEFA}"/>
              </a:ext>
            </a:extLst>
          </p:cNvPr>
          <p:cNvSpPr txBox="1"/>
          <p:nvPr/>
        </p:nvSpPr>
        <p:spPr>
          <a:xfrm rot="16200000">
            <a:off x="5451509" y="119027"/>
            <a:ext cx="1288991" cy="1219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1F2">
              <a:alpha val="54000"/>
            </a:srgbClr>
          </a:solidFill>
        </p:spPr>
        <p:txBody>
          <a:bodyPr wrap="square" lIns="108000" rIns="108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E0F98-5560-33D9-F9F9-CA9908FE1DDB}"/>
              </a:ext>
            </a:extLst>
          </p:cNvPr>
          <p:cNvSpPr txBox="1"/>
          <p:nvPr/>
        </p:nvSpPr>
        <p:spPr>
          <a:xfrm>
            <a:off x="1865376" y="5731129"/>
            <a:ext cx="845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When disagreement is low</a:t>
            </a:r>
            <a:r>
              <a:rPr lang="en-US" dirty="0"/>
              <a:t> → all methods converge, choice doesn’t matter much.</a:t>
            </a:r>
          </a:p>
          <a:p>
            <a:r>
              <a:rPr lang="en-US" b="1" dirty="0"/>
              <a:t>When disagreement is high</a:t>
            </a:r>
            <a:r>
              <a:rPr lang="en-US" dirty="0"/>
              <a:t> → choice of fusion method </a:t>
            </a:r>
            <a:r>
              <a:rPr lang="en-US" b="1" dirty="0"/>
              <a:t>critically changes the “truth”</a:t>
            </a:r>
            <a:r>
              <a:rPr lang="en-US" dirty="0"/>
              <a:t> the model learns.</a:t>
            </a:r>
          </a:p>
        </p:txBody>
      </p:sp>
    </p:spTree>
    <p:extLst>
      <p:ext uri="{BB962C8B-B14F-4D97-AF65-F5344CB8AC3E}">
        <p14:creationId xmlns:p14="http://schemas.microsoft.com/office/powerpoint/2010/main" val="2050500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84F59-51B8-AA96-A628-6F4C153A7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670483-2E16-D7B4-D2C8-95D3AEABA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B9837-60E2-113B-F2B3-5EE7867F3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Outline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3741743-60D9-1683-9376-8FA8D6ECC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279A0B4-19BA-F537-7B21-A1A7227F6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837620"/>
              </p:ext>
            </p:extLst>
          </p:nvPr>
        </p:nvGraphicFramePr>
        <p:xfrm>
          <a:off x="838200" y="1824787"/>
          <a:ext cx="10515600" cy="4668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1215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0842A-9087-B205-C32D-D23966731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A99696-DC70-2660-B35A-1D0E5D7A0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F87CB-645A-CA3E-1F70-89DBD359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Soft vs Hard on Training/Validation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715384A9-A999-9E70-5F1D-2231DCA01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8D0DC6-7D3E-2B01-58E5-3879C68E6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046908"/>
              </p:ext>
            </p:extLst>
          </p:nvPr>
        </p:nvGraphicFramePr>
        <p:xfrm>
          <a:off x="440490" y="1763395"/>
          <a:ext cx="11307972" cy="4729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51726">
                  <a:extLst>
                    <a:ext uri="{9D8B030D-6E8A-4147-A177-3AD203B41FA5}">
                      <a16:colId xmlns:a16="http://schemas.microsoft.com/office/drawing/2014/main" val="4219307937"/>
                    </a:ext>
                  </a:extLst>
                </a:gridCol>
                <a:gridCol w="236713">
                  <a:extLst>
                    <a:ext uri="{9D8B030D-6E8A-4147-A177-3AD203B41FA5}">
                      <a16:colId xmlns:a16="http://schemas.microsoft.com/office/drawing/2014/main" val="3630074617"/>
                    </a:ext>
                  </a:extLst>
                </a:gridCol>
                <a:gridCol w="308442">
                  <a:extLst>
                    <a:ext uri="{9D8B030D-6E8A-4147-A177-3AD203B41FA5}">
                      <a16:colId xmlns:a16="http://schemas.microsoft.com/office/drawing/2014/main" val="3523501310"/>
                    </a:ext>
                  </a:extLst>
                </a:gridCol>
                <a:gridCol w="4773277">
                  <a:extLst>
                    <a:ext uri="{9D8B030D-6E8A-4147-A177-3AD203B41FA5}">
                      <a16:colId xmlns:a16="http://schemas.microsoft.com/office/drawing/2014/main" val="126066186"/>
                    </a:ext>
                  </a:extLst>
                </a:gridCol>
                <a:gridCol w="4837814">
                  <a:extLst>
                    <a:ext uri="{9D8B030D-6E8A-4147-A177-3AD203B41FA5}">
                      <a16:colId xmlns:a16="http://schemas.microsoft.com/office/drawing/2014/main" val="3088628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Hard Labels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Soft Labels</a:t>
                      </a:r>
                      <a:endParaRPr lang="es-E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32865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ca-ES" sz="1600" b="1" dirty="0"/>
                        <a:t>Training</a:t>
                      </a:r>
                      <a:endParaRPr lang="es-ES" sz="1600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endParaRPr lang="es-ES" sz="1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• Faster convergence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Clear GT target</a:t>
                      </a:r>
                    </a:p>
                    <a:p>
                      <a:r>
                        <a:rPr lang="en-US" sz="1600" dirty="0"/>
                        <a:t>• Simple loss functions (cross-entropy, Dice) </a:t>
                      </a:r>
                      <a:endParaRPr lang="es-ES" sz="1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• </a:t>
                      </a:r>
                      <a:r>
                        <a:rPr lang="ca-ES" sz="1600" dirty="0"/>
                        <a:t>Let the model learn uncertainty and variability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Reduces overconfidence 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 lead to better calibration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Can improve generalization in ambiguous regions</a:t>
                      </a:r>
                      <a:endParaRPr lang="es-ES" sz="1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100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• Forces model to treat all disagreements as certain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Overconfidence / poor calibration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Can overfit to arbitrary consensus 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 implicitly assume certainty in one GT</a:t>
                      </a:r>
                      <a:endParaRPr lang="es-E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• Loss functions compatible with continuous labels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Slower convergence if uncertainty high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Choice of smoothing parameters matters</a:t>
                      </a:r>
                      <a:endParaRPr lang="es-E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36613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ca-ES" sz="1600" b="1" dirty="0"/>
                        <a:t>Validation</a:t>
                      </a:r>
                      <a:endParaRPr lang="es-ES" sz="1600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endParaRPr lang="es-ES" sz="1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• Easy evaluation metrics (Dice, </a:t>
                      </a:r>
                      <a:r>
                        <a:rPr lang="en-US" sz="1600" dirty="0" err="1"/>
                        <a:t>IoU</a:t>
                      </a:r>
                      <a:r>
                        <a:rPr lang="en-US" sz="1600" dirty="0"/>
                        <a:t>)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Easier interpretability by clinicians</a:t>
                      </a:r>
                      <a:endParaRPr lang="es-ES" sz="1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• Can compare model probabilities directly to rater agreement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Better reflection of inherent ambiguity</a:t>
                      </a:r>
                      <a:endParaRPr lang="es-ES" sz="1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991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• Metrics hide uncertainty (single number)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Apparent performance depends strongly on fusion method</a:t>
                      </a:r>
                      <a:endParaRPr lang="es-E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• Harder to benchmark with standard metrics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Need thresholding or probabilistic metrics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May show lower peak Dice even if better calibrated</a:t>
                      </a:r>
                      <a:endParaRPr lang="es-E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765087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ca-ES" sz="1600" b="1" dirty="0"/>
                        <a:t>Best Use Case</a:t>
                      </a:r>
                      <a:endParaRPr lang="es-ES" sz="1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E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Low disagreement </a:t>
                      </a:r>
                      <a:r>
                        <a:rPr lang="en-US" sz="1600" dirty="0"/>
                        <a:t>or when </a:t>
                      </a:r>
                      <a:r>
                        <a:rPr lang="en-US" sz="1600" b="1" dirty="0"/>
                        <a:t>binary GT is required</a:t>
                      </a:r>
                      <a:r>
                        <a:rPr lang="en-US" sz="1600" dirty="0"/>
                        <a:t> for deployment.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High disagreement </a:t>
                      </a:r>
                      <a:r>
                        <a:rPr lang="en-US" sz="1600" dirty="0"/>
                        <a:t>or when </a:t>
                      </a:r>
                      <a:r>
                        <a:rPr lang="en-US" sz="1600" b="1" dirty="0"/>
                        <a:t>uncertainty estimation / calibration is critical</a:t>
                      </a:r>
                      <a:r>
                        <a:rPr lang="en-US" sz="1600" b="0" dirty="0"/>
                        <a:t>.</a:t>
                      </a:r>
                      <a:endParaRPr lang="es-E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337261"/>
                  </a:ext>
                </a:extLst>
              </a:tr>
            </a:tbl>
          </a:graphicData>
        </a:graphic>
      </p:graphicFrame>
      <p:pic>
        <p:nvPicPr>
          <p:cNvPr id="3" name="Picture 4" descr="28,900+ White Tick Icon Stock Illustrations, Royalty-Free Vector Graphics &amp;  Clip Art - iStock">
            <a:extLst>
              <a:ext uri="{FF2B5EF4-FFF2-40B4-BE49-F238E27FC236}">
                <a16:creationId xmlns:a16="http://schemas.microsoft.com/office/drawing/2014/main" id="{F8CD7B64-57C3-A204-38D5-6E823002C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78" y="2278535"/>
            <a:ext cx="463522" cy="4635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ross Icon, Cross Symbol ...">
            <a:extLst>
              <a:ext uri="{FF2B5EF4-FFF2-40B4-BE49-F238E27FC236}">
                <a16:creationId xmlns:a16="http://schemas.microsoft.com/office/drawing/2014/main" id="{10814966-A501-39EE-7896-CA683810A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78" y="3368061"/>
            <a:ext cx="463522" cy="4635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28,900+ White Tick Icon Stock Illustrations, Royalty-Free Vector Graphics &amp;  Clip Art - iStock">
            <a:extLst>
              <a:ext uri="{FF2B5EF4-FFF2-40B4-BE49-F238E27FC236}">
                <a16:creationId xmlns:a16="http://schemas.microsoft.com/office/drawing/2014/main" id="{B6C73164-D2D0-CD73-22AA-127EA807F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78" y="4470213"/>
            <a:ext cx="463522" cy="4635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ross Icon, Cross Symbol ...">
            <a:extLst>
              <a:ext uri="{FF2B5EF4-FFF2-40B4-BE49-F238E27FC236}">
                <a16:creationId xmlns:a16="http://schemas.microsoft.com/office/drawing/2014/main" id="{F5EFD4A4-759F-9104-3288-4E8826CE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78" y="5260684"/>
            <a:ext cx="463522" cy="4635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388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26C5F-B474-B41C-01CD-8B51FAFC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CFBBE0-45BC-F904-45E5-28B4843A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C25B8-8283-D124-FB67-E7BF4569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Outline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F32A9F-2563-824A-6E6A-011C50E18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3FFB9D1-430C-C58E-B887-5F6771475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6501843"/>
              </p:ext>
            </p:extLst>
          </p:nvPr>
        </p:nvGraphicFramePr>
        <p:xfrm>
          <a:off x="838200" y="1824787"/>
          <a:ext cx="10515600" cy="4668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5023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234B5-E5F4-7C19-8B80-52BD3D75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F117A-AF67-30FE-2C6A-7C364C4E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Impact on Calibration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5C26700-056C-D554-2F57-02F2B6DFBB72}"/>
              </a:ext>
            </a:extLst>
          </p:cNvPr>
          <p:cNvGrpSpPr/>
          <p:nvPr/>
        </p:nvGrpSpPr>
        <p:grpSpPr>
          <a:xfrm>
            <a:off x="1134176" y="2566764"/>
            <a:ext cx="1335915" cy="1335915"/>
            <a:chOff x="838200" y="2530955"/>
            <a:chExt cx="1335915" cy="133591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3D8DF1-6E25-E412-E55C-98ABBCDBE0EE}"/>
                </a:ext>
              </a:extLst>
            </p:cNvPr>
            <p:cNvSpPr/>
            <p:nvPr/>
          </p:nvSpPr>
          <p:spPr>
            <a:xfrm>
              <a:off x="838200" y="2530955"/>
              <a:ext cx="1335915" cy="1335915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15" name="Rectangle 14" descr="Atom">
              <a:extLst>
                <a:ext uri="{FF2B5EF4-FFF2-40B4-BE49-F238E27FC236}">
                  <a16:creationId xmlns:a16="http://schemas.microsoft.com/office/drawing/2014/main" id="{70AC2A0F-6115-643D-0534-588CD6890767}"/>
                </a:ext>
              </a:extLst>
            </p:cNvPr>
            <p:cNvSpPr/>
            <p:nvPr/>
          </p:nvSpPr>
          <p:spPr>
            <a:xfrm>
              <a:off x="1118742" y="2811497"/>
              <a:ext cx="774830" cy="774830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CAFE95-B48B-4570-32D9-4C2EAE734913}"/>
              </a:ext>
            </a:extLst>
          </p:cNvPr>
          <p:cNvSpPr/>
          <p:nvPr/>
        </p:nvSpPr>
        <p:spPr>
          <a:xfrm>
            <a:off x="707162" y="4095591"/>
            <a:ext cx="2189941" cy="357501"/>
          </a:xfrm>
          <a:custGeom>
            <a:avLst/>
            <a:gdLst>
              <a:gd name="connsiteX0" fmla="*/ 0 w 3148942"/>
              <a:gd name="connsiteY0" fmla="*/ 0 h 1335915"/>
              <a:gd name="connsiteX1" fmla="*/ 3148942 w 3148942"/>
              <a:gd name="connsiteY1" fmla="*/ 0 h 1335915"/>
              <a:gd name="connsiteX2" fmla="*/ 3148942 w 3148942"/>
              <a:gd name="connsiteY2" fmla="*/ 1335915 h 1335915"/>
              <a:gd name="connsiteX3" fmla="*/ 0 w 3148942"/>
              <a:gd name="connsiteY3" fmla="*/ 1335915 h 1335915"/>
              <a:gd name="connsiteX4" fmla="*/ 0 w 3148942"/>
              <a:gd name="connsiteY4" fmla="*/ 0 h 1335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8942" h="1335915">
                <a:moveTo>
                  <a:pt x="0" y="0"/>
                </a:moveTo>
                <a:lnTo>
                  <a:pt x="3148942" y="0"/>
                </a:lnTo>
                <a:lnTo>
                  <a:pt x="3148942" y="1335915"/>
                </a:lnTo>
                <a:lnTo>
                  <a:pt x="0" y="13359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1" kern="1200" dirty="0"/>
              <a:t>Fusion Choice</a:t>
            </a:r>
            <a:endParaRPr lang="en-US" sz="2200" kern="12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3D6502-65A7-4B63-2DDD-091F8A33B678}"/>
              </a:ext>
            </a:extLst>
          </p:cNvPr>
          <p:cNvGrpSpPr/>
          <p:nvPr/>
        </p:nvGrpSpPr>
        <p:grpSpPr>
          <a:xfrm>
            <a:off x="3856934" y="2553460"/>
            <a:ext cx="1335915" cy="1335915"/>
            <a:chOff x="3856934" y="2553460"/>
            <a:chExt cx="1335915" cy="133591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6CF7497-2981-229B-B00E-648532DE03F3}"/>
                </a:ext>
              </a:extLst>
            </p:cNvPr>
            <p:cNvSpPr/>
            <p:nvPr/>
          </p:nvSpPr>
          <p:spPr>
            <a:xfrm>
              <a:off x="3856934" y="2553460"/>
              <a:ext cx="1335915" cy="1335915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20" name="Rectangle 19" descr="Bullseye">
              <a:extLst>
                <a:ext uri="{FF2B5EF4-FFF2-40B4-BE49-F238E27FC236}">
                  <a16:creationId xmlns:a16="http://schemas.microsoft.com/office/drawing/2014/main" id="{B39BC00C-2D6A-093A-E1B3-9A9D15154ACB}"/>
                </a:ext>
              </a:extLst>
            </p:cNvPr>
            <p:cNvSpPr/>
            <p:nvPr/>
          </p:nvSpPr>
          <p:spPr>
            <a:xfrm>
              <a:off x="4145319" y="2869811"/>
              <a:ext cx="774830" cy="774830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7DA702E-4800-65FC-01EB-9BC5ECFE10C0}"/>
              </a:ext>
            </a:extLst>
          </p:cNvPr>
          <p:cNvSpPr/>
          <p:nvPr/>
        </p:nvSpPr>
        <p:spPr>
          <a:xfrm>
            <a:off x="3437763" y="4095591"/>
            <a:ext cx="2189941" cy="357501"/>
          </a:xfrm>
          <a:custGeom>
            <a:avLst/>
            <a:gdLst>
              <a:gd name="connsiteX0" fmla="*/ 0 w 3148942"/>
              <a:gd name="connsiteY0" fmla="*/ 0 h 1335915"/>
              <a:gd name="connsiteX1" fmla="*/ 3148942 w 3148942"/>
              <a:gd name="connsiteY1" fmla="*/ 0 h 1335915"/>
              <a:gd name="connsiteX2" fmla="*/ 3148942 w 3148942"/>
              <a:gd name="connsiteY2" fmla="*/ 1335915 h 1335915"/>
              <a:gd name="connsiteX3" fmla="*/ 0 w 3148942"/>
              <a:gd name="connsiteY3" fmla="*/ 1335915 h 1335915"/>
              <a:gd name="connsiteX4" fmla="*/ 0 w 3148942"/>
              <a:gd name="connsiteY4" fmla="*/ 0 h 1335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8942" h="1335915">
                <a:moveTo>
                  <a:pt x="0" y="0"/>
                </a:moveTo>
                <a:lnTo>
                  <a:pt x="3148942" y="0"/>
                </a:lnTo>
                <a:lnTo>
                  <a:pt x="3148942" y="1335915"/>
                </a:lnTo>
                <a:lnTo>
                  <a:pt x="0" y="13359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1" kern="1200" dirty="0"/>
              <a:t>Training Target</a:t>
            </a:r>
            <a:endParaRPr lang="en-US" sz="2200" kern="12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3B0F80-0B65-E0B9-A64F-61AEDA44CFF0}"/>
              </a:ext>
            </a:extLst>
          </p:cNvPr>
          <p:cNvGrpSpPr/>
          <p:nvPr/>
        </p:nvGrpSpPr>
        <p:grpSpPr>
          <a:xfrm>
            <a:off x="6687028" y="2566764"/>
            <a:ext cx="1335915" cy="1335915"/>
            <a:chOff x="6687028" y="2566764"/>
            <a:chExt cx="1335915" cy="133591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05BD24E-4423-7AA1-209D-C19C5A3DC5A7}"/>
                </a:ext>
              </a:extLst>
            </p:cNvPr>
            <p:cNvSpPr/>
            <p:nvPr/>
          </p:nvSpPr>
          <p:spPr>
            <a:xfrm>
              <a:off x="6687028" y="2566764"/>
              <a:ext cx="1335915" cy="1335915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Rectangle 22" descr="Checkmark">
              <a:extLst>
                <a:ext uri="{FF2B5EF4-FFF2-40B4-BE49-F238E27FC236}">
                  <a16:creationId xmlns:a16="http://schemas.microsoft.com/office/drawing/2014/main" id="{71295B89-EB37-4E95-8B35-A038244D293C}"/>
                </a:ext>
              </a:extLst>
            </p:cNvPr>
            <p:cNvSpPr/>
            <p:nvPr/>
          </p:nvSpPr>
          <p:spPr>
            <a:xfrm>
              <a:off x="6967571" y="2847307"/>
              <a:ext cx="774830" cy="774830"/>
            </a:xfrm>
            <a:prstGeom prst="rect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1D0B355-193F-21C7-5676-759838D8B1DD}"/>
              </a:ext>
            </a:extLst>
          </p:cNvPr>
          <p:cNvSpPr/>
          <p:nvPr/>
        </p:nvSpPr>
        <p:spPr>
          <a:xfrm>
            <a:off x="6069633" y="4095591"/>
            <a:ext cx="2570704" cy="357501"/>
          </a:xfrm>
          <a:custGeom>
            <a:avLst/>
            <a:gdLst>
              <a:gd name="connsiteX0" fmla="*/ 0 w 3148942"/>
              <a:gd name="connsiteY0" fmla="*/ 0 h 1335915"/>
              <a:gd name="connsiteX1" fmla="*/ 3148942 w 3148942"/>
              <a:gd name="connsiteY1" fmla="*/ 0 h 1335915"/>
              <a:gd name="connsiteX2" fmla="*/ 3148942 w 3148942"/>
              <a:gd name="connsiteY2" fmla="*/ 1335915 h 1335915"/>
              <a:gd name="connsiteX3" fmla="*/ 0 w 3148942"/>
              <a:gd name="connsiteY3" fmla="*/ 1335915 h 1335915"/>
              <a:gd name="connsiteX4" fmla="*/ 0 w 3148942"/>
              <a:gd name="connsiteY4" fmla="*/ 0 h 1335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8942" h="1335915">
                <a:moveTo>
                  <a:pt x="0" y="0"/>
                </a:moveTo>
                <a:lnTo>
                  <a:pt x="3148942" y="0"/>
                </a:lnTo>
                <a:lnTo>
                  <a:pt x="3148942" y="1335915"/>
                </a:lnTo>
                <a:lnTo>
                  <a:pt x="0" y="13359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1" kern="1200" dirty="0"/>
              <a:t>Model Confidence</a:t>
            </a:r>
            <a:endParaRPr lang="en-US" sz="2200" kern="12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7C0EF46-AA23-2ABC-677E-78D2FDA08F1F}"/>
              </a:ext>
            </a:extLst>
          </p:cNvPr>
          <p:cNvGrpSpPr/>
          <p:nvPr/>
        </p:nvGrpSpPr>
        <p:grpSpPr>
          <a:xfrm>
            <a:off x="9400490" y="2589268"/>
            <a:ext cx="1335915" cy="1335915"/>
            <a:chOff x="9604081" y="2589267"/>
            <a:chExt cx="1335915" cy="133591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B06BCFC-5CF0-7266-0100-3133E13D2FCE}"/>
                </a:ext>
              </a:extLst>
            </p:cNvPr>
            <p:cNvSpPr/>
            <p:nvPr/>
          </p:nvSpPr>
          <p:spPr>
            <a:xfrm>
              <a:off x="9604081" y="2589267"/>
              <a:ext cx="1335915" cy="1335915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26" name="Rectangle 25" descr="Gears">
              <a:extLst>
                <a:ext uri="{FF2B5EF4-FFF2-40B4-BE49-F238E27FC236}">
                  <a16:creationId xmlns:a16="http://schemas.microsoft.com/office/drawing/2014/main" id="{916829DF-A18E-DEB1-E7E2-2B7335B593BB}"/>
                </a:ext>
              </a:extLst>
            </p:cNvPr>
            <p:cNvSpPr/>
            <p:nvPr/>
          </p:nvSpPr>
          <p:spPr>
            <a:xfrm>
              <a:off x="9884624" y="2831553"/>
              <a:ext cx="774830" cy="774830"/>
            </a:xfrm>
            <a:prstGeom prst="rect">
              <a:avLst/>
            </a:prstGeom>
            <a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B4AF63B-580B-07C1-28D6-F9979B591B07}"/>
              </a:ext>
            </a:extLst>
          </p:cNvPr>
          <p:cNvSpPr/>
          <p:nvPr/>
        </p:nvSpPr>
        <p:spPr>
          <a:xfrm>
            <a:off x="8783097" y="4095591"/>
            <a:ext cx="2570703" cy="357502"/>
          </a:xfrm>
          <a:custGeom>
            <a:avLst/>
            <a:gdLst>
              <a:gd name="connsiteX0" fmla="*/ 0 w 3148942"/>
              <a:gd name="connsiteY0" fmla="*/ 0 h 1335915"/>
              <a:gd name="connsiteX1" fmla="*/ 3148942 w 3148942"/>
              <a:gd name="connsiteY1" fmla="*/ 0 h 1335915"/>
              <a:gd name="connsiteX2" fmla="*/ 3148942 w 3148942"/>
              <a:gd name="connsiteY2" fmla="*/ 1335915 h 1335915"/>
              <a:gd name="connsiteX3" fmla="*/ 0 w 3148942"/>
              <a:gd name="connsiteY3" fmla="*/ 1335915 h 1335915"/>
              <a:gd name="connsiteX4" fmla="*/ 0 w 3148942"/>
              <a:gd name="connsiteY4" fmla="*/ 0 h 1335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8942" h="1335915">
                <a:moveTo>
                  <a:pt x="0" y="0"/>
                </a:moveTo>
                <a:lnTo>
                  <a:pt x="3148942" y="0"/>
                </a:lnTo>
                <a:lnTo>
                  <a:pt x="3148942" y="1335915"/>
                </a:lnTo>
                <a:lnTo>
                  <a:pt x="0" y="13359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1" kern="1200" dirty="0"/>
              <a:t>Calibration Quality</a:t>
            </a:r>
            <a:endParaRPr lang="en-US" sz="2200" kern="1200" dirty="0"/>
          </a:p>
        </p:txBody>
      </p:sp>
    </p:spTree>
    <p:extLst>
      <p:ext uri="{BB962C8B-B14F-4D97-AF65-F5344CB8AC3E}">
        <p14:creationId xmlns:p14="http://schemas.microsoft.com/office/powerpoint/2010/main" val="1216348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A2ED2-46AE-1289-7955-AFAF1810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C4FA48-C8FC-33AD-7FBA-9135900A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4406A-42C6-955E-A103-B3C33E92C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Impact on Calibration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4EF6700-4A5D-4991-10EC-A0634A837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6AF33E9-B0FD-C2CD-987B-FC9A87B5D0E5}"/>
              </a:ext>
            </a:extLst>
          </p:cNvPr>
          <p:cNvGrpSpPr/>
          <p:nvPr/>
        </p:nvGrpSpPr>
        <p:grpSpPr>
          <a:xfrm>
            <a:off x="1134176" y="2566764"/>
            <a:ext cx="1335915" cy="1335915"/>
            <a:chOff x="838200" y="2530955"/>
            <a:chExt cx="1335915" cy="133591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1B77B42-9939-AFC2-ACD1-C7E8A78ADAD0}"/>
                </a:ext>
              </a:extLst>
            </p:cNvPr>
            <p:cNvSpPr/>
            <p:nvPr/>
          </p:nvSpPr>
          <p:spPr>
            <a:xfrm>
              <a:off x="838200" y="2530955"/>
              <a:ext cx="1335915" cy="1335915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 14" descr="Atom">
              <a:extLst>
                <a:ext uri="{FF2B5EF4-FFF2-40B4-BE49-F238E27FC236}">
                  <a16:creationId xmlns:a16="http://schemas.microsoft.com/office/drawing/2014/main" id="{3C1292DE-A2D0-9EA6-7572-E16F80D36DF8}"/>
                </a:ext>
              </a:extLst>
            </p:cNvPr>
            <p:cNvSpPr/>
            <p:nvPr/>
          </p:nvSpPr>
          <p:spPr>
            <a:xfrm>
              <a:off x="1118742" y="2811497"/>
              <a:ext cx="774830" cy="774830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9B75A5-6052-1BB4-52A0-7CE6E49D3A87}"/>
              </a:ext>
            </a:extLst>
          </p:cNvPr>
          <p:cNvSpPr/>
          <p:nvPr/>
        </p:nvSpPr>
        <p:spPr>
          <a:xfrm>
            <a:off x="707162" y="4095591"/>
            <a:ext cx="2189941" cy="357501"/>
          </a:xfrm>
          <a:custGeom>
            <a:avLst/>
            <a:gdLst>
              <a:gd name="connsiteX0" fmla="*/ 0 w 3148942"/>
              <a:gd name="connsiteY0" fmla="*/ 0 h 1335915"/>
              <a:gd name="connsiteX1" fmla="*/ 3148942 w 3148942"/>
              <a:gd name="connsiteY1" fmla="*/ 0 h 1335915"/>
              <a:gd name="connsiteX2" fmla="*/ 3148942 w 3148942"/>
              <a:gd name="connsiteY2" fmla="*/ 1335915 h 1335915"/>
              <a:gd name="connsiteX3" fmla="*/ 0 w 3148942"/>
              <a:gd name="connsiteY3" fmla="*/ 1335915 h 1335915"/>
              <a:gd name="connsiteX4" fmla="*/ 0 w 3148942"/>
              <a:gd name="connsiteY4" fmla="*/ 0 h 1335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8942" h="1335915">
                <a:moveTo>
                  <a:pt x="0" y="0"/>
                </a:moveTo>
                <a:lnTo>
                  <a:pt x="3148942" y="0"/>
                </a:lnTo>
                <a:lnTo>
                  <a:pt x="3148942" y="1335915"/>
                </a:lnTo>
                <a:lnTo>
                  <a:pt x="0" y="13359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1066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Fusion Choice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E14B8-8DAD-E3B4-5563-D866B2711FDB}"/>
              </a:ext>
            </a:extLst>
          </p:cNvPr>
          <p:cNvSpPr txBox="1"/>
          <p:nvPr/>
        </p:nvSpPr>
        <p:spPr>
          <a:xfrm>
            <a:off x="3384188" y="2114992"/>
            <a:ext cx="76736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200" b="1" dirty="0"/>
              <a:t>Hard Labels:</a:t>
            </a:r>
          </a:p>
          <a:p>
            <a:pPr marL="285750" indent="-285750">
              <a:buFontTx/>
              <a:buChar char="-"/>
            </a:pPr>
            <a:r>
              <a:rPr lang="ca-ES" sz="2200" dirty="0"/>
              <a:t>Treat all voxels as certain</a:t>
            </a:r>
          </a:p>
          <a:p>
            <a:pPr marL="285750" indent="-285750">
              <a:buFontTx/>
              <a:buChar char="-"/>
            </a:pPr>
            <a:r>
              <a:rPr lang="ca-ES" sz="2200" dirty="0"/>
              <a:t>Model tens to become </a:t>
            </a:r>
            <a:r>
              <a:rPr lang="ca-ES" sz="2200" b="1" dirty="0"/>
              <a:t>overconfident in ambiguous areas</a:t>
            </a:r>
          </a:p>
          <a:p>
            <a:pPr marL="285750" indent="-285750">
              <a:buFontTx/>
              <a:buChar char="-"/>
            </a:pPr>
            <a:r>
              <a:rPr lang="ca-ES" sz="2200" dirty="0"/>
              <a:t>Calibration curves show underestimation of uncertainty</a:t>
            </a:r>
            <a:endParaRPr lang="es-E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5FE7F-092A-A5AF-A81B-7EABBB41AECF}"/>
              </a:ext>
            </a:extLst>
          </p:cNvPr>
          <p:cNvSpPr txBox="1"/>
          <p:nvPr/>
        </p:nvSpPr>
        <p:spPr>
          <a:xfrm>
            <a:off x="3384188" y="3560443"/>
            <a:ext cx="697831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200" b="1" dirty="0"/>
              <a:t>Soft Labels:</a:t>
            </a:r>
          </a:p>
          <a:p>
            <a:pPr marL="285750" indent="-285750">
              <a:buFontTx/>
              <a:buChar char="-"/>
            </a:pPr>
            <a:r>
              <a:rPr lang="ca-ES" sz="2200" dirty="0"/>
              <a:t>Encode rater disagreement in the target</a:t>
            </a:r>
          </a:p>
          <a:p>
            <a:pPr marL="285750" indent="-285750">
              <a:buFontTx/>
              <a:buChar char="-"/>
            </a:pPr>
            <a:r>
              <a:rPr lang="ca-ES" sz="2200" dirty="0"/>
              <a:t>Encourage model to </a:t>
            </a:r>
            <a:r>
              <a:rPr lang="ca-ES" sz="2200" b="1" dirty="0"/>
              <a:t>predict probabilities matching rater </a:t>
            </a:r>
            <a:r>
              <a:rPr lang="ca-ES" sz="2200" dirty="0"/>
              <a:t>agreement </a:t>
            </a:r>
            <a:r>
              <a:rPr lang="ca-ES" sz="2200" dirty="0">
                <a:sym typeface="Wingdings" panose="05000000000000000000" pitchFamily="2" charset="2"/>
              </a:rPr>
              <a:t> </a:t>
            </a:r>
            <a:r>
              <a:rPr lang="ca-ES" sz="2200" dirty="0"/>
              <a:t>real uncertainty </a:t>
            </a:r>
            <a:endParaRPr lang="ca-ES" sz="2200" b="1" dirty="0"/>
          </a:p>
          <a:p>
            <a:pPr marL="285750" indent="-285750">
              <a:buFontTx/>
              <a:buChar char="-"/>
            </a:pPr>
            <a:r>
              <a:rPr lang="ca-ES" sz="2200" dirty="0"/>
              <a:t>Lead to improved Expected Calibration Error</a:t>
            </a:r>
            <a:endParaRPr lang="es-ES" sz="2200" dirty="0"/>
          </a:p>
        </p:txBody>
      </p:sp>
      <p:sp>
        <p:nvSpPr>
          <p:cNvPr id="10" name="TextBox 44">
            <a:extLst>
              <a:ext uri="{FF2B5EF4-FFF2-40B4-BE49-F238E27FC236}">
                <a16:creationId xmlns:a16="http://schemas.microsoft.com/office/drawing/2014/main" id="{27CFD6FB-2653-0293-581A-72EE30367DCF}"/>
              </a:ext>
            </a:extLst>
          </p:cNvPr>
          <p:cNvSpPr txBox="1"/>
          <p:nvPr/>
        </p:nvSpPr>
        <p:spPr>
          <a:xfrm rot="16200000">
            <a:off x="5451509" y="119027"/>
            <a:ext cx="1288991" cy="1219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1F2">
              <a:alpha val="54000"/>
            </a:srgbClr>
          </a:solidFill>
        </p:spPr>
        <p:txBody>
          <a:bodyPr wrap="square" lIns="108000" rIns="108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3F3B7-0931-6891-8FDD-EEBDDBD538E2}"/>
              </a:ext>
            </a:extLst>
          </p:cNvPr>
          <p:cNvSpPr txBox="1"/>
          <p:nvPr/>
        </p:nvSpPr>
        <p:spPr>
          <a:xfrm>
            <a:off x="2047589" y="5786279"/>
            <a:ext cx="80937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Label fusion isn’t just preprocessing — it defines the </a:t>
            </a:r>
            <a:r>
              <a:rPr lang="en-US" sz="2200" b="1" dirty="0"/>
              <a:t>(probability) target </a:t>
            </a:r>
            <a:r>
              <a:rPr lang="en-US" sz="2200" dirty="0"/>
              <a:t>your model learns, which directly </a:t>
            </a:r>
            <a:r>
              <a:rPr lang="en-US" sz="2200" b="1" dirty="0"/>
              <a:t>shapes calibration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4478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F8F81-238B-8DE3-50CA-0906C07E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8BB607-0E3C-EDEA-A5EE-5F684467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434E7-82FC-923D-EDA3-75B71214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/>
              <a:t>Outline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9751D112-9FCD-E606-6E2D-FBDF9FE6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E87848D-B6DC-FE42-C1CD-789A68309E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6832525"/>
              </p:ext>
            </p:extLst>
          </p:nvPr>
        </p:nvGraphicFramePr>
        <p:xfrm>
          <a:off x="838200" y="1824787"/>
          <a:ext cx="10515600" cy="4668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655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37B42-3F3B-1911-444F-EA314E74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F37A656-F149-F47C-E60D-EF116E4E6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1A7546-B0E0-BE68-2105-891F4358B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 sz="5400" dirty="0"/>
              <a:t>Label Fusion Choice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B77F084-CA83-8EEB-15FB-0F67EE70F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9493C4-AAEB-C76D-98AF-34267636B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56573"/>
              </p:ext>
            </p:extLst>
          </p:nvPr>
        </p:nvGraphicFramePr>
        <p:xfrm>
          <a:off x="838200" y="1963113"/>
          <a:ext cx="10424160" cy="4796269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62150">
                  <a:extLst>
                    <a:ext uri="{9D8B030D-6E8A-4147-A177-3AD203B41FA5}">
                      <a16:colId xmlns:a16="http://schemas.microsoft.com/office/drawing/2014/main" val="322173632"/>
                    </a:ext>
                  </a:extLst>
                </a:gridCol>
                <a:gridCol w="5657850">
                  <a:extLst>
                    <a:ext uri="{9D8B030D-6E8A-4147-A177-3AD203B41FA5}">
                      <a16:colId xmlns:a16="http://schemas.microsoft.com/office/drawing/2014/main" val="3774448287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3610357805"/>
                    </a:ext>
                  </a:extLst>
                </a:gridCol>
              </a:tblGrid>
              <a:tr h="3117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700" dirty="0"/>
                    </a:p>
                  </a:txBody>
                  <a:tcPr marL="53720" marR="53720" marT="26860" marB="268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700" b="1" dirty="0" err="1"/>
                        <a:t>Why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It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Matters</a:t>
                      </a:r>
                      <a:endParaRPr lang="es-ES" sz="1700" dirty="0"/>
                    </a:p>
                  </a:txBody>
                  <a:tcPr marL="53720" marR="53720" marT="26860" marB="268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700" b="1" dirty="0" err="1"/>
                        <a:t>Examples</a:t>
                      </a:r>
                      <a:endParaRPr lang="es-ES" sz="1700" dirty="0"/>
                    </a:p>
                  </a:txBody>
                  <a:tcPr marL="53720" marR="53720" marT="26860" marB="268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887706"/>
                  </a:ext>
                </a:extLst>
              </a:tr>
              <a:tr h="731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 err="1"/>
                        <a:t>Level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of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Disagreement</a:t>
                      </a:r>
                      <a:endParaRPr lang="es-ES" sz="1700" dirty="0"/>
                    </a:p>
                  </a:txBody>
                  <a:tcPr marL="53720" marR="53720" marT="26860" marB="268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High disagreement </a:t>
                      </a:r>
                      <a:r>
                        <a:rPr lang="en-US" sz="1700" dirty="0"/>
                        <a:t>→ need richer models (STAPLE, soft labels)</a:t>
                      </a:r>
                    </a:p>
                    <a:p>
                      <a:pPr>
                        <a:buNone/>
                      </a:pPr>
                      <a:r>
                        <a:rPr lang="en-US" sz="1700" b="1" dirty="0"/>
                        <a:t>Low disagreement </a:t>
                      </a:r>
                      <a:r>
                        <a:rPr lang="en-US" sz="1700" dirty="0"/>
                        <a:t>→ simple consensus often sufficient.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Tumor margins vs. well-defined organs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855572590"/>
                  </a:ext>
                </a:extLst>
              </a:tr>
              <a:tr h="900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 err="1"/>
                        <a:t>Computational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Resources</a:t>
                      </a:r>
                      <a:r>
                        <a:rPr lang="es-ES" sz="1700" b="1" dirty="0"/>
                        <a:t> &amp; Time</a:t>
                      </a:r>
                      <a:endParaRPr lang="es-ES" sz="1700" dirty="0"/>
                    </a:p>
                  </a:txBody>
                  <a:tcPr marL="53720" marR="53720" marT="26860" marB="268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Some methods </a:t>
                      </a:r>
                      <a:r>
                        <a:rPr lang="en-US" sz="1700" dirty="0"/>
                        <a:t>(STAPLE, Bayesian models) require EM iterations or MCMC, </a:t>
                      </a:r>
                      <a:r>
                        <a:rPr lang="en-US" sz="1700" b="1" dirty="0"/>
                        <a:t>can be slow </a:t>
                      </a:r>
                      <a:r>
                        <a:rPr lang="en-US" sz="1700" dirty="0"/>
                        <a:t>for 3D volumes.</a:t>
                      </a:r>
                    </a:p>
                    <a:p>
                      <a:pPr>
                        <a:buNone/>
                      </a:pPr>
                      <a:r>
                        <a:rPr lang="en-US" sz="1700" b="1" dirty="0"/>
                        <a:t>Simple</a:t>
                      </a:r>
                      <a:r>
                        <a:rPr lang="en-US" sz="1700" dirty="0"/>
                        <a:t> majority/union </a:t>
                      </a:r>
                      <a:r>
                        <a:rPr lang="en-US" sz="1700" b="1" dirty="0"/>
                        <a:t>is fast</a:t>
                      </a:r>
                      <a:r>
                        <a:rPr lang="en-US" sz="1700" dirty="0"/>
                        <a:t>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Large CT volumes with many raters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404449533"/>
                  </a:ext>
                </a:extLst>
              </a:tr>
              <a:tr h="106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 err="1"/>
                        <a:t>Goal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of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the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Model</a:t>
                      </a:r>
                      <a:endParaRPr lang="es-ES" sz="1700" dirty="0"/>
                    </a:p>
                  </a:txBody>
                  <a:tcPr marL="53720" marR="53720" marT="26860" marB="268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If the </a:t>
                      </a:r>
                      <a:r>
                        <a:rPr lang="en-US" sz="1700" b="1" dirty="0"/>
                        <a:t>model’s main output is binary masks </a:t>
                      </a:r>
                      <a:r>
                        <a:rPr lang="en-US" sz="1700" dirty="0"/>
                        <a:t>for deployment, </a:t>
                      </a:r>
                      <a:r>
                        <a:rPr lang="en-US" sz="1700" b="1" dirty="0"/>
                        <a:t>simple fusion </a:t>
                      </a:r>
                      <a:r>
                        <a:rPr lang="en-US" sz="1700" dirty="0"/>
                        <a:t>may suffice. If you need </a:t>
                      </a:r>
                      <a:r>
                        <a:rPr lang="en-US" sz="1700" b="1" dirty="0"/>
                        <a:t>calibrated probabilities/uncertainty</a:t>
                      </a:r>
                      <a:r>
                        <a:rPr lang="en-US" sz="1700" dirty="0"/>
                        <a:t>, prefer </a:t>
                      </a:r>
                      <a:r>
                        <a:rPr lang="en-US" sz="1700" b="1" dirty="0"/>
                        <a:t>soft/probabilistic </a:t>
                      </a:r>
                      <a:r>
                        <a:rPr lang="en-US" sz="1700" dirty="0"/>
                        <a:t>methods.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Clinical decision support vs. research prototype or other research fields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707273188"/>
                  </a:ext>
                </a:extLst>
              </a:tr>
              <a:tr h="106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 err="1"/>
                        <a:t>Complexity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of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the</a:t>
                      </a:r>
                      <a:r>
                        <a:rPr lang="es-ES" sz="1700" b="1" dirty="0"/>
                        <a:t> </a:t>
                      </a:r>
                      <a:r>
                        <a:rPr lang="es-ES" sz="1700" b="1" dirty="0" err="1"/>
                        <a:t>Problem</a:t>
                      </a:r>
                      <a:endParaRPr lang="es-ES" sz="1700" dirty="0"/>
                    </a:p>
                  </a:txBody>
                  <a:tcPr marL="53720" marR="53720" marT="26860" marB="268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More complex anatomical regions </a:t>
                      </a:r>
                      <a:r>
                        <a:rPr lang="en-US" sz="1700" dirty="0"/>
                        <a:t>or subtle findings → benefit from </a:t>
                      </a:r>
                      <a:r>
                        <a:rPr lang="en-US" sz="1700" b="1" dirty="0"/>
                        <a:t>probabilistic/soft approaches</a:t>
                      </a:r>
                      <a:r>
                        <a:rPr lang="en-US" sz="1700" dirty="0"/>
                        <a:t>. </a:t>
                      </a:r>
                    </a:p>
                    <a:p>
                      <a:pPr>
                        <a:buNone/>
                      </a:pPr>
                      <a:r>
                        <a:rPr lang="en-US" sz="1700" b="1" dirty="0"/>
                        <a:t>Well-defined</a:t>
                      </a:r>
                      <a:r>
                        <a:rPr lang="en-US" sz="1700" dirty="0"/>
                        <a:t>, high-contrast </a:t>
                      </a:r>
                      <a:r>
                        <a:rPr lang="en-US" sz="1700" b="1" dirty="0"/>
                        <a:t>structures</a:t>
                      </a:r>
                      <a:r>
                        <a:rPr lang="en-US" sz="1700" dirty="0"/>
                        <a:t> → </a:t>
                      </a:r>
                      <a:r>
                        <a:rPr lang="en-US" sz="1700" b="1" dirty="0"/>
                        <a:t>simpler methods</a:t>
                      </a:r>
                      <a:r>
                        <a:rPr lang="en-US" sz="1700" dirty="0"/>
                        <a:t>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Pancreatic tumor vs. lung parenchyma segmentation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876527296"/>
                  </a:ext>
                </a:extLst>
              </a:tr>
              <a:tr h="567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Data Size &amp; Number of Raters</a:t>
                      </a:r>
                      <a:endParaRPr lang="en-US" sz="1700" dirty="0"/>
                    </a:p>
                  </a:txBody>
                  <a:tcPr marL="53720" marR="53720" marT="26860" marB="268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Fewer raters </a:t>
                      </a:r>
                      <a:r>
                        <a:rPr lang="en-US" sz="1700" dirty="0"/>
                        <a:t>→ </a:t>
                      </a:r>
                      <a:r>
                        <a:rPr lang="en-US" sz="1700" b="1" dirty="0"/>
                        <a:t>probabilistic methods </a:t>
                      </a:r>
                      <a:r>
                        <a:rPr lang="en-US" sz="1700" dirty="0"/>
                        <a:t>may be </a:t>
                      </a:r>
                      <a:r>
                        <a:rPr lang="en-US" sz="1700" b="1" dirty="0"/>
                        <a:t>less stable</a:t>
                      </a:r>
                      <a:r>
                        <a:rPr lang="en-US" sz="170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US" sz="1700" b="1" dirty="0"/>
                        <a:t>More raters </a:t>
                      </a:r>
                      <a:r>
                        <a:rPr lang="en-US" sz="1700" dirty="0"/>
                        <a:t>→ </a:t>
                      </a:r>
                      <a:r>
                        <a:rPr lang="en-US" sz="1700" b="1" dirty="0"/>
                        <a:t>benefits grow</a:t>
                      </a:r>
                      <a:r>
                        <a:rPr lang="en-US" sz="1700" dirty="0"/>
                        <a:t>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Small expert panel vs. crowdsourced annotations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86869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456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F124D-9D0F-8107-CF78-AD55E69A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A3AFF9-900D-D08F-0950-663D7C34D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901B2-8257-F940-31A3-283CAEBE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a-ES" sz="5400" dirty="0">
                <a:solidFill>
                  <a:schemeClr val="bg2"/>
                </a:solidFill>
              </a:rPr>
              <a:t>Label Fusion Choice &amp; </a:t>
            </a:r>
            <a:r>
              <a:rPr lang="ca-ES" sz="5400" dirty="0"/>
              <a:t>Takeaways</a:t>
            </a:r>
            <a:endParaRPr lang="es-E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6D33C14-68E3-9DDE-1591-4426CB740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1623AC-4DEA-EDA0-4995-0D06FD965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36" y="1841086"/>
            <a:ext cx="1083945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Interrater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variability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valuable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signal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just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noise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reflects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real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uncertainty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medical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imaging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This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uncertainty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should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reflected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predictions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well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Different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label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fusion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methods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offer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trade-offs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simplicity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computational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cost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ability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uncertainty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sz="2200" b="1" dirty="0" err="1"/>
              <a:t>Fusion</a:t>
            </a:r>
            <a:r>
              <a:rPr lang="es-ES" altLang="es-ES" sz="2200" b="1" dirty="0"/>
              <a:t> </a:t>
            </a:r>
            <a:r>
              <a:rPr lang="es-ES" altLang="es-ES" sz="2200" b="1" dirty="0" err="1"/>
              <a:t>choices</a:t>
            </a:r>
            <a:r>
              <a:rPr lang="es-ES" altLang="es-ES" sz="2200" b="1" dirty="0"/>
              <a:t> </a:t>
            </a:r>
            <a:r>
              <a:rPr lang="es-ES" altLang="es-ES" sz="2200" dirty="0" err="1"/>
              <a:t>directly</a:t>
            </a:r>
            <a:r>
              <a:rPr lang="es-ES" altLang="es-ES" sz="2200" dirty="0"/>
              <a:t> </a:t>
            </a:r>
            <a:r>
              <a:rPr lang="es-ES" altLang="es-ES" sz="2200" b="1" dirty="0" err="1"/>
              <a:t>shape</a:t>
            </a:r>
            <a:r>
              <a:rPr lang="es-ES" altLang="es-ES" sz="2200" b="1" dirty="0"/>
              <a:t> </a:t>
            </a:r>
            <a:r>
              <a:rPr lang="es-ES" altLang="es-ES" sz="2200" dirty="0" err="1"/>
              <a:t>model</a:t>
            </a:r>
            <a:r>
              <a:rPr lang="es-ES" altLang="es-ES" sz="2200" dirty="0"/>
              <a:t> training </a:t>
            </a:r>
            <a:r>
              <a:rPr lang="es-ES" altLang="es-ES" sz="2200" b="1" dirty="0"/>
              <a:t>targets</a:t>
            </a:r>
            <a:r>
              <a:rPr lang="es-ES" altLang="es-ES" sz="2200" dirty="0"/>
              <a:t> and </a:t>
            </a:r>
            <a:r>
              <a:rPr lang="es-ES" altLang="es-ES" sz="2200" dirty="0" err="1"/>
              <a:t>strongly</a:t>
            </a:r>
            <a:r>
              <a:rPr lang="es-ES" altLang="es-ES" sz="2200" dirty="0"/>
              <a:t> </a:t>
            </a:r>
            <a:r>
              <a:rPr lang="es-ES" altLang="es-ES" sz="2200" dirty="0" err="1"/>
              <a:t>influence</a:t>
            </a:r>
            <a:r>
              <a:rPr lang="es-ES" altLang="es-ES" sz="2200" dirty="0"/>
              <a:t> </a:t>
            </a:r>
            <a:r>
              <a:rPr lang="es-ES" altLang="es-ES" sz="2200" dirty="0" err="1"/>
              <a:t>calibration</a:t>
            </a:r>
            <a:r>
              <a:rPr lang="es-ES" altLang="es-ES" sz="2200" dirty="0"/>
              <a:t>, </a:t>
            </a:r>
            <a:r>
              <a:rPr lang="es-ES" altLang="es-ES" sz="2200" dirty="0" err="1"/>
              <a:t>confidence</a:t>
            </a:r>
            <a:r>
              <a:rPr lang="es-ES" altLang="es-ES" sz="2200" dirty="0"/>
              <a:t>, and </a:t>
            </a:r>
            <a:r>
              <a:rPr lang="es-ES" altLang="es-ES" sz="2200" dirty="0" err="1"/>
              <a:t>clinical</a:t>
            </a:r>
            <a:r>
              <a:rPr lang="es-ES" altLang="es-ES" sz="2200" dirty="0"/>
              <a:t> </a:t>
            </a:r>
            <a:r>
              <a:rPr lang="es-ES" altLang="es-ES" sz="2200" dirty="0" err="1"/>
              <a:t>reliability</a:t>
            </a:r>
            <a:r>
              <a:rPr lang="es-ES" altLang="es-ES" sz="2200" dirty="0"/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s-ES" altLang="es-E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Choosing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right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fusion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strategy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depends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disagreement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level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computational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resources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intended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goal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ES" altLang="es-E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</a:t>
            </a:r>
            <a:r>
              <a:rPr lang="es-ES" altLang="es-ES" sz="2200" dirty="0"/>
              <a:t> </a:t>
            </a:r>
            <a:r>
              <a:rPr lang="en-US" sz="2200" dirty="0"/>
              <a:t>— and this variability should be addressed not only during training but </a:t>
            </a:r>
            <a:r>
              <a:rPr lang="en-US" sz="2200" b="1" dirty="0"/>
              <a:t>also in evaluation</a:t>
            </a:r>
            <a:r>
              <a:rPr lang="en-US" sz="2200" dirty="0"/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ca-ES" sz="2200" dirty="0"/>
              <a:t>See spotlight presentation.</a:t>
            </a:r>
            <a:endParaRPr kumimoji="0" lang="es-ES" altLang="es-E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6708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D2F0A-437E-885E-3FEC-E9A99516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BE18-08C1-EB84-188B-36F8763BB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/>
              <a:t>Thank you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50EED-0827-1305-8C62-1694678EA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3374"/>
            <a:ext cx="9144000" cy="1114425"/>
          </a:xfrm>
        </p:spPr>
        <p:txBody>
          <a:bodyPr/>
          <a:lstStyle/>
          <a:p>
            <a:r>
              <a:rPr lang="ca-ES" dirty="0"/>
              <a:t>Meritxell Riera i Marín, PhD candidate</a:t>
            </a:r>
          </a:p>
          <a:p>
            <a:r>
              <a:rPr lang="ca-ES" dirty="0"/>
              <a:t>m.riera@sycaitechnologies.com</a:t>
            </a:r>
            <a:endParaRPr lang="es-E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6EF8E8-265C-DE62-9245-868CDCFC6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249" y="5870945"/>
            <a:ext cx="3923072" cy="63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hallenge CURVAS PDACVI - Sycai Medical">
            <a:extLst>
              <a:ext uri="{FF2B5EF4-FFF2-40B4-BE49-F238E27FC236}">
                <a16:creationId xmlns:a16="http://schemas.microsoft.com/office/drawing/2014/main" id="{06F67630-FC06-5D16-34B7-65712A5F2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600" y="5866139"/>
            <a:ext cx="2396152" cy="63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MICCAI 2025 - 28. International Conference On Medical Image Computing &amp;  Computer Assisted Intervention">
            <a:extLst>
              <a:ext uri="{FF2B5EF4-FFF2-40B4-BE49-F238E27FC236}">
                <a16:creationId xmlns:a16="http://schemas.microsoft.com/office/drawing/2014/main" id="{81D92E49-2039-8EFF-DF66-C841F1397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4919" y="88491"/>
            <a:ext cx="2218805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40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9484</TotalTime>
  <Words>2146</Words>
  <Application>Microsoft Office PowerPoint</Application>
  <PresentationFormat>Widescreen</PresentationFormat>
  <Paragraphs>271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(body)</vt:lpstr>
      <vt:lpstr>Aptos Display</vt:lpstr>
      <vt:lpstr>Arial</vt:lpstr>
      <vt:lpstr>Open Sans</vt:lpstr>
      <vt:lpstr>Wingdings</vt:lpstr>
      <vt:lpstr>Office Theme</vt:lpstr>
      <vt:lpstr>Multi Rater Modelling</vt:lpstr>
      <vt:lpstr>Outline</vt:lpstr>
      <vt:lpstr>Outline</vt:lpstr>
      <vt:lpstr>Motivation</vt:lpstr>
      <vt:lpstr>PowerPoint Presentation</vt:lpstr>
      <vt:lpstr>PowerPoint Presentation</vt:lpstr>
      <vt:lpstr>PowerPoint Presentation</vt:lpstr>
      <vt:lpstr>Motivation</vt:lpstr>
      <vt:lpstr>Motivation</vt:lpstr>
      <vt:lpstr>Outline</vt:lpstr>
      <vt:lpstr>Label Fusion – Overview</vt:lpstr>
      <vt:lpstr>Label Fusion – Naive Extremes</vt:lpstr>
      <vt:lpstr>Label Fusion – Simple Consensus</vt:lpstr>
      <vt:lpstr>Label Fusion – Random Sampling</vt:lpstr>
      <vt:lpstr>Label Fusion – Soft labels</vt:lpstr>
      <vt:lpstr>Label Fusion – STAPLE</vt:lpstr>
      <vt:lpstr>Label Fusion – STAPLE</vt:lpstr>
      <vt:lpstr>Label Fusion – STAPLE</vt:lpstr>
      <vt:lpstr>Label Fusion – STAPLE</vt:lpstr>
      <vt:lpstr>Label Fusion – Other Methods</vt:lpstr>
      <vt:lpstr>Outline</vt:lpstr>
      <vt:lpstr>Method wrt Disagreement</vt:lpstr>
      <vt:lpstr>Outline</vt:lpstr>
      <vt:lpstr>Soft vs Hard on Training/Validation</vt:lpstr>
      <vt:lpstr>Outline</vt:lpstr>
      <vt:lpstr>Impact on Calibration</vt:lpstr>
      <vt:lpstr>Impact on Calibration</vt:lpstr>
      <vt:lpstr>Outline</vt:lpstr>
      <vt:lpstr>Label Fusion Choice</vt:lpstr>
      <vt:lpstr>Label Fusion Choice &amp;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Meritxell Riera i Marín</dc:creator>
  <cp:lastModifiedBy>Meritxell Riera i Marín</cp:lastModifiedBy>
  <cp:revision>40</cp:revision>
  <dcterms:created xsi:type="dcterms:W3CDTF">2025-08-11T08:18:00Z</dcterms:created>
  <dcterms:modified xsi:type="dcterms:W3CDTF">2025-09-29T12:36:43Z</dcterms:modified>
</cp:coreProperties>
</file>